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hurmatli komissiya a’zolari! Mening ismim Sohinazarov Sardorbek. Diplom loyihamning mavzusi — real vaqtda xabar almashish imkonini beruvchi “Milliy” xabarchini ishlab chiqish. Ish doirasida Telegramga o‘xshash, foydalanuvchi ma’lumotlarini o‘z serverida saqlaydigan veb-messenjer loyihalandi va to‘liq ishlaydigan holatga keltirildi. Ekranning o‘ng tomonida dasturning haqiqiy interfeysi ko‘rsatilgan.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Mavzuning dolzarbligi uchta omilga asoslanadi. Birinchidan, “Raqamli O‘zbekiston – 2030” strategiyasi mahalliy dasturiy mahsulotlarni rivojlantirishni ustuvor vazifa qilib belgilagan. Ikkinchidan, “Shaxsga doir ma’lumotlar to‘g‘risida”gi Qonunga ko‘ra fuqarolarimizning ma’lumotlari respublika hududida saqlanishi kerak. Uchinchidan, bugun keng qo‘llanayotgan messenjerlarning barchasi xorijiy kompaniyalarga tegishli va ma’lumotlarni chet elda saqlaydi. “Milliy” xabarchi aynan shu muammoga yechim: ma’lumotlar o‘z serverida, interfeys o‘zbek tilida, kod esa mahalliy nazoratda.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Loyihaning maqsadi — ma’lumotlarni o‘z serverida saqlaydigan va real vaqtda ishlaydigan veb-messenjer yaratish. Bunga erishish uchun oltita vazifa qo‘yildi: mavjud yechimlar va texnologiyalarni tahlil qilish, talablarni aniqlash, tizimni loyihalash, xavfsiz autentifikatsiyani yaratish, server va klient qismlarini ishlab chiqish va nihoyat, dasturni bulutga joylashtirib sinash hamda hayot faoliyati xavfsizligi talablarini ishlab chiqish.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Diplom loyihasining birinchi bobida mashhur messenjerlar besh mezon bo‘yicha taqqoslandi. Jadvaldan ko‘rinib turibdiki, ularning barchasi xorijiy kompaniyalarga tegishli va ma’lumotlarni mamlakatdan tashqarida saqlaydi. “Milliy” xabarchi esa istalgan serverga, jumladan O‘zbekistondagi data-markazga joylashtirilishi mumkin. Ro‘yxatdan o‘tish SMS o‘rniga elektron pochta va Google orqali amalga oshiriladi. Foydalanish qulayligi va funksionallik bo‘yicha eng yaxshi muvozanatga ega bo‘lgani uchun interfeys namunasi sifatida Telegram tanlandi.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Messenjer uchun eng muhim talab — xabarlarni kechikishsiz yetkazish. Shu sababli real vaqtda aloqa texnologiyalari taqqoslandi: short polling, long polling, Server-Sent Events, WebSocket va SignalR. Tanlov SignalR’ga tushdi. U WebSocket tezligini beradi, WebSocket ishlamaydigan tarmoqlarda esa avtomatik ravishda SSE yoki long polling’ga o‘tadi. Bundan tashqari, guruhlar, JWT orqali autentifikatsiya va qayta ulanish kabi messenjerga kerakli imkoniyatlar SignalR’da tayyor holda mavjud.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Tahlil asosida tizimga 19 ta funksional va 4 guruh nofunksional talab qo‘yildi. Funksional talablar — bu foydalanuvchi ko‘radigan imkoniyatlar: kirish, chatlar, xabarlar, media fayllar, real vaqt belgilari va hikoyalar. Nofunksional talablar esa tizim sifatini belgilaydi: masalan, xabar bir soniyadan kam vaqtda yetib borishi, barcha kodlar va tokenlar xesh ko‘rinishida saqlanishi, tizim Docker’da istalgan serverga ko‘chirilishi. Tizimda uchta aktor bor: mehmon, ro‘yxatdan o‘tgan foydalanuvchi va guruh egasi. Ularning to‘liq use-case diagrammasi diplom ishining ikkinchi bobida keltirilgan.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qismi .NET 8 platformasida, ASP.NET Core freymvorkida yozilgan. Real vaqt aloqasi SignalR orqali, ma’lumotlar bazasi bilan ishlash Entity Framework Core orqali amalga oshiriladi. Ma’lumotlar bazasi — PostgreSQL. Klient qismi Angular 22 freymvorkida, holatni boshqarish uchun signals mexanizmidan foydalanilgan. Infratuzilmada Docker, Render bulut platformasi, kodlarni yuborish uchun SMTP, yuklanayotgan fayllarni tekshirish uchun ClamAV antivirusi ishlatilgan. Barcha texnologiyalar ochiq kodli va bepul.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qismi Clean Architecture tamoyillari asosida to‘rtta qatlamga ajratilgan. Markazda Domain qatlami — biznes obyektlari. Uning atrofida Application — biznes-mantiq va servislar. Infrastructure qatlamida ma’lumotlar bazasi, kriptografiya, pochta va antivirus kabi texnik adapterlar joylashgan. Tashqi qatlam — API: controllerlar va SignalR habi. Bog‘liqliklar faqat ichkariga yo‘nalgan, shuning uchun, masalan, ma’lumotlar bazasini almashtirish biznes-mantiqqa ta’sir qilmaydi. O‘ng tomonda joylashtirish diagrammasi: brauzer REST va WebSocket orqali Docker konteyneridagi serverga ulanadi, server esa PostgreSQL, fayl ombori va tashqi xizmatlar bilan ishlaydi.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Ma’lumotlar bazasi PostgreSQL’da 11 ta sxemaga guruhlangan 43 ta jadvaldan iborat. Ekranda forum qismining ER-diagrammasi ko‘rsatilgan: javob, repost va iqtibos bitta posts jadvalida saqlanadi, hisoblagichlar esa postning o‘zida turadi. Barcha vaqt qiymatlari UTC’da saqlanadi. Xabarlar va chatlar ro‘yxati uchun sahifa raqamli emas, kursorli sahifalash qo‘llanilgan: klient oxirgi ko‘rgan xabar identifikatorini yuboradi va server undan oldingi xabarlarni indeks bo‘yicha tez qaytaradi. Bu usul chatga yangi xabarlar qo‘shilayotganda ham xabarlar takrorlanmasligini yoki tushib qolmasligini ta’minlaydi.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Tizimda parolsiz autentifikatsiya qo‘llanilgan. Foydalanuvchi elektron pochtasiga 6 xonali bir martalik kod oladi, bazada esa bu kodning faqat PBKDF2 xeshi saqlanadi. Google hisobi orqali kirish ham mumkin. Kirgandan so‘ng 15 daqiqalik JWT access token va 30 kunlik refresh token beriladi. Refresh token HttpOnly cookie’da saqlanadi, bazada uning HMAC xeshi turadi va har yangilanishda yangisiga almashtiriladi. O‘ng tomondagi diagrammada token muddati tugaganda uni avtomatik yangilash jarayoni ko‘rsatilgan. Bundan tashqari, har bir so‘rovda foydalanuvchining chat a’zosi ekanligi tekshiriladi, yuklangan fayllar esa antivirusdan o‘tkaziladi.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ketma-ketlik diagrammasi xabar qanday yetkazilishini ko‘rsatadi. Qabul qiluvchi brauzer oldindan JWT bilan SignalR habiga ulanib turadi. Jo‘natuvchi xabarni REST so‘rovi orqali yuboradi. Servis uni tekshiradi, foydalanuvchining chat a’zosi ekanini aniqlaydi va bazaga yozadi. So‘ng ChatHub orqali xabar chatning barcha a’zolariga darhol yuboriladi. Qabul qiluvchi xabarni o‘qiganda jo‘natuvchida ikki belgi paydo bo‘ladi, yozish boshlanganda esa “yozmoqda” holati ko‘rinadi. Xabarni saqlash REST orqali bajarilgani uchun ulanish uzilganda ham xabar yo‘qolmaydi.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“Milliy” xabarchini oddiy messenjerdan ajratib turadigan uchta imkoniyat haqida. Birinchisi — lotin va kirill yozuvlari o‘rtasida avtomatik o‘girish: har bir foydalanuvchi xabarlarni o‘zi tanlagan yozuvda ko‘radi. Ikkinchisi — tashkilot rejimi: e-pochta domeni tashkilot sifatida qabul qilinadi va uning xodimlari yopiq guruhga avtomatik qo‘shiladi. Uchinchisi — uchdan-uchgacha shifrlangan maxfiy chatlar, ularning mazmunini serverning o‘zi ham o‘qiy olmaydi. Birinchi ikkisi tahlil qilingan xorijiy messenjerlarning birortasida yo‘q.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Chapda suhbat asl holida: Aziz kirillda, Sardor lotinda yozgan. O‘ngda xuddi shu suhbat “Lotin” sozlamasida — hamma xabar lotinda ko‘rinadi. Xabar bazada asl holida saqlanadi, o‘girish faqat ko‘rsatish paytida bajariladi, shuning uchun har bir foydalanuvchi o‘z yozuvini tanlaydi. Algoritm 1995-yilgi imlo qoidalariga asoslangan va kontekstni hisobga oladi: masalan, so‘z boshidagi “е” harfi “ye” bo‘ladi. Qidiruv uchun esa har bir xabarning lotin, kichik harfli nusxasi saqlanadi — pastdagi rasmda ko‘rinib turibdi. Shuning uchun “rahmat” deb qidirilsa, kirillda yozilgan “Раҳмат” ham topiladi.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Tashkilot rejimi alohida ro‘yxat yoki sozlamani talab qilmaydi: tashkilot — bu e-pochta domenining o‘zi. Kimdir tuit.uz pochtasi bilan birinchi bo‘lib kirsa, u tashkilot admini bo‘ladi va tuit.uz nomli yopiq guruh avtomatik yaratiladi. Keyin kirgan har bir xodim ism yonida “tuit.uz” belgisini oladi va guruhga o‘zi qo‘shiladi. Gmail, mail.ru kabi umumiy pochta foydalanuvchilari esa bu guruhga faqat admin qo‘shganda yoki taklif havolasi orqali kira oladi. Domenlar faqat to‘liq tengligi bo‘yicha solishtiriladi, shuning uchun o‘xshash soxta domen bilan kirib bo‘lmaydi.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Maxfiy chat ikki qurilma o‘rtasida ochiladi. Har bir qurilma X25519 kalit juftini yaratadi va serverga faqat ochiq kalitni yuboradi. Ikkala tomon bir xil umumiy sirni hisoblaydi, undan har bir yo‘nalish uchun kalitlar zanjiri olinadi. Har bir xabar yangi kalit bilan AES-256-GCM orqali shifrlanadi, eski kalit esa unutiladi — bu oldinga maxfiylikni beradi. Server xabarni faqat yetkazib beradi va qabul qilingach o‘chiradi: pastda ma’lumotlar bazasida qolgan yagona yozuv — 183 baytli ma’nosiz blob. O‘rtada begona odam yo‘qligini tekshirish uchun foydalanuvchilar kalit izini — emoji va raqamlarni solishtiradi. Chatda o‘z-o‘zini o‘chirish taymeri va shifrlangan fayllar ham 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dasturning o‘zini ko‘rsataman. Tizimga kirish uch qadamdan iborat. Foydalanuvchi elektron pochtasini kiritadi yoki Google tugmasini bosadi. Pochtaga 6 xonali kod keladi va u kiritiladi. Agar foydalanuvchi yangi bo‘lsa, ism va username kiritib ro‘yxatdan o‘tadi. Parol umuman ishlatilmagani uchun uni o‘g‘irlash yoki bazadan sizdirib olish xavfi yo‘q.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shaxsiy chat oynasi. Chap tomonda chatlar ro‘yxati: oxirgi xabar, vaqt va o‘qilmagan xabarlar soni ko‘rinadi. Tepada lavhalar paneli joylashgan. Suhbatdosh yozayotganda sarlavhada “yozmoqda” yozuvi chiqadi, o‘qilgan xabarlar ikkita belgi bilan ko‘rsatiladi. Xabarga javob berish, o‘z xabarini tahrirlash va o‘chirish, rasm, video va fayl yuborish mumkin. O‘ng tomonda javob berish va rasmni to‘liq ekranda ko‘rish oynalari ko‘rsatilgan.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Guruh chatlarida uchta rol mavjud: egasi, administrator va oddiy a’zo. Har bir amaldan oldin server foydalanuvchining rolini tekshiradi. Masalan, a’zo qo‘shish faqat administrator va egaga ruxsat etilgan, guruhni o‘chirish esa faqat egaga. Ega guruhdan chiqsa, egalik avtomatik ravishda eng oldin tayinlangan administratorga o‘tadi. Guruhdagi o‘zgarishlar, masalan yangi a’zo qo‘shilgani, xizmat xabarlari ko‘rinishida barcha a’zolarga real vaqtda ko‘rsatiladi.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Keyingi bosqichda messenjerga uchta imkoniyat qo‘shildi. Birinchisi — xabarga reaksiya: oltita emojidan birini tanlash mumkin, natija chatning barcha a’zolarida real vaqtda ko‘rinadi. Ikkinchisi — lavhalar, ya’ni stories: ular 24 soat ko‘rinadi va endi faqat foydalanuvchi obuna bo‘lgan odamlarniki chiqadi. Uchinchisi — bloklash: bloklash o‘rnatilgandan keyin ikki tomon ham bir-biriga yoza olmaydi, onlayn holat yashiriladi, forum va lavhalarda ham bir-birini ko‘rmaydi.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Foydalanuvchilar ochiq fikr almashishi uchun forum yaratildi. Unda 280 belgigacha post yozish, rasm yoki video biriktirish, javob berish, repost qilish, iqtibos keltirish va layk bosish mumkin. Kimga obuna bo‘linsa, uning postlari “Obunalar” lentasida chiqadi. “Top” lentada postlar reyting bo‘yicha tartiblanadi: javob va repost laykdan og‘irroq hisoblanadi, vaqt o‘tishi bilan esa reyting pasayadi, shuning uchun lenta doim yangilanib turadi. Hisoblagichlar va bildirishnomalar ForumHub orqali real vaqtda keladi, spamga qarshi esa chastota cheklovlari qo‘yilgan.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Interfeys yorug‘ va qorong‘i mavzularni qo‘llab-quvvatlaydi. Ular o‘z dizayn tizimimizdagi rang o‘zgaruvchilari orqali almashtiriladi. Interfeys moslashuvchan: telefonda chatlar ro‘yxati va suhbat alohida ekranlarda ochiladi. Shunday qilib, bitta veb-ilova kompyuterda ham, telefonda ham qulay ishlaydi.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104 ta REST endpoint va ikkita SignalR habidan iborat. U ko‘p bosqichli Docker obraziga yig‘iladi va Render bulut platformasida ishlaydi. GitHub’ga yangi kod yuborilganda obraz avtomatik qayta yig‘iladi, maxfiy kalitlar esa muhit o‘zgaruvchilarida saqlanadi. Dasturning to‘g‘riligi 720 ta unit test bilan tekshirildi: serverda 425 ta, klientda 295 ta, ularning barchasi muvaffaqiyatli o‘tdi. Eng ko‘p test transliteratsiya, forum va maxfiy chat protokoliga to‘g‘ri keladi. Bundan tashqari, API darajasida 43 ta integratsion tekshiruv va qo‘lda sinov ssenariylari o‘tkazildi.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Hayot faoliyati xavfsizligi bo‘limida ikki masala ko‘rib chiqildi. Birinchisi — dasturchining ergonomik ish joyi. Stol, stul va monitorning to‘g‘ri o‘lchamlari keltirildi va 6 ga 6 metrli xona uchun hisob-kitob qilindi: xonaga 5 ta ish joyi joylashadi, 12 ta LED panel 421 lyuks yoritilganlik beradi, bu me’yordagi 400 lyuksdan yuqori. Havo almashinuvi soatiga 150 kub metr. Ikkinchi masala — evakuatsiya. IT-ofis qavati uchun evakuatsiya reja-sxemasi ishlab chiqildi, hisobiy evakuatsiya vaqti taxminan 50 soniya chiqdi. Yong‘in sodir bo‘lganda xodimlarning harakatlar tartibi ham belgilandi.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qilib aytganda, diplom loyihasida qo‘yilgan barcha vazifalar bajarildi. Mavjud yechimlar tahlil qilindi, tizim loyihalandi, parolsiz autentifikatsiyaga ega, real vaqtda ishlaydigan messenjer yaratildi va bulutga joylashtirildi. “Milliy” xabarchini tashkilotlar, ta’lim muassasalari va davlat idoralari o‘z serverlarida ichki aloqa vositasi sifatida qo‘llashi mumkin. Messenjerning o‘ziga xos uchta imkoniyati — lotin va kirill yozuvlari o‘rtasida o‘girish, tashkilot rejimi va maxfiy chatlar — uni xorijiy analoglardan ajratib turadi. Kelajakda OneID orqali shaxsni davlat darajasida tasdiqlash, ovozli va video qo‘ng‘iroqlar, kanallar va botlar hamda mobil ilovalarni qo‘shish rejalashtirilgan. Ma’lumotlar bazasi sxemasida bu imkoniyatlar uchun joy oldindan ajratilgan.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E’tiboringiz uchun rahmat! Savollaringiz bo‘lsa, javob berishga tayyorman.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4.png"/><Relationship Id="rId7" Type="http://schemas.openxmlformats.org/officeDocument/2006/relationships/image" Target="../media/image-2-4.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jp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image" Target="../media/image-19-3.png"/><Relationship Id="rId4" Type="http://schemas.openxmlformats.org/officeDocument/2006/relationships/image" Target="../media/image-19-4.jpg"/><Relationship Id="rId5" Type="http://schemas.openxmlformats.org/officeDocument/2006/relationships/image" Target="../media/image-19-5.png"/><Relationship Id="rId6" Type="http://schemas.openxmlformats.org/officeDocument/2006/relationships/image" Target="../media/image-19-6.jp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image" Target="../media/image-24-1.png"/><Relationship Id="rId4" Type="http://schemas.openxmlformats.org/officeDocument/2006/relationships/image" Target="../media/image-24-1.png"/><Relationship Id="rId5" Type="http://schemas.openxmlformats.org/officeDocument/2006/relationships/image" Target="../media/image-24-1.png"/><Relationship Id="rId6" Type="http://schemas.openxmlformats.org/officeDocument/2006/relationships/image" Target="../media/image-24-1.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slideLayout" Target="../slideLayouts/slideLayout1.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68680"/>
          </a:xfrm>
          <a:prstGeom prst="rect">
            <a:avLst/>
          </a:prstGeom>
          <a:noFill/>
          <a:ln/>
        </p:spPr>
        <p:txBody>
          <a:bodyPr wrap="square" lIns="0" tIns="0" rIns="0" bIns="0" rtlCol="0" anchor="ctr"/>
          <a:lstStyle/>
          <a:p>
            <a:pPr algn="ctr" indent="0" marL="0">
              <a:lnSpc>
                <a:spcPct val="115000"/>
              </a:lnSpc>
              <a:buNone/>
            </a:pPr>
            <a:r>
              <a:rPr lang="en-US" sz="1300" dirty="0">
                <a:solidFill>
                  <a:srgbClr val="C7D2FE"/>
                </a:solidFill>
                <a:latin typeface="Arial" pitchFamily="34" charset="0"/>
                <a:ea typeface="Arial" pitchFamily="34" charset="-122"/>
                <a:cs typeface="Arial" pitchFamily="34" charset="-120"/>
              </a:rPr>
              <a:t>O‘ZBEKISTON RESPUBLIKASI RAQAMLI TEXNOLOGIYALAR VAZIRLIGI</a:t>
            </a:r>
            <a:endParaRPr lang="en-US" sz="1300" dirty="0"/>
          </a:p>
          <a:p>
            <a:pPr algn="ctr" indent="0" marL="0">
              <a:lnSpc>
                <a:spcPct val="115000"/>
              </a:lnSpc>
              <a:buNone/>
            </a:pPr>
            <a:r>
              <a:rPr lang="en-US" sz="1300" dirty="0">
                <a:solidFill>
                  <a:srgbClr val="C7D2FE"/>
                </a:solidFill>
                <a:latin typeface="Arial" pitchFamily="34" charset="0"/>
                <a:ea typeface="Arial" pitchFamily="34" charset="-122"/>
                <a:cs typeface="Arial" pitchFamily="34" charset="-120"/>
              </a:rPr>
              <a:t>MUHAMMAD AL-XORAZMIY NOMIDAGI TOSHKENT AXBOROT TEXNOLOGIYALARI UNIVERSITETI</a:t>
            </a:r>
            <a:endParaRPr lang="en-US" sz="1300" dirty="0"/>
          </a:p>
          <a:p>
            <a:pPr algn="ctr" indent="0" marL="0">
              <a:lnSpc>
                <a:spcPct val="115000"/>
              </a:lnSpc>
              <a:buNone/>
            </a:pPr>
            <a:r>
              <a:rPr lang="en-US" sz="1300" dirty="0">
                <a:solidFill>
                  <a:srgbClr val="C7D2FE"/>
                </a:solidFill>
                <a:latin typeface="Arial" pitchFamily="34" charset="0"/>
                <a:ea typeface="Arial" pitchFamily="34" charset="-122"/>
                <a:cs typeface="Arial" pitchFamily="34" charset="-120"/>
              </a:rPr>
              <a:t>“Axborot texnologiyalarining dasturiy ta’minoti” kafedrasi</a:t>
            </a:r>
            <a:endParaRPr lang="en-US" sz="1300" dirty="0"/>
          </a:p>
        </p:txBody>
      </p:sp>
      <p:sp>
        <p:nvSpPr>
          <p:cNvPr id="3" name="Text 1"/>
          <p:cNvSpPr txBox="1"/>
          <p:nvPr/>
        </p:nvSpPr>
        <p:spPr>
          <a:xfrm>
            <a:off x="548640" y="1783080"/>
            <a:ext cx="6035040" cy="365760"/>
          </a:xfrm>
          <a:prstGeom prst="rect">
            <a:avLst/>
          </a:prstGeom>
          <a:noFill/>
          <a:ln/>
        </p:spPr>
        <p:txBody>
          <a:bodyPr wrap="square" lIns="0" tIns="0" rIns="0" bIns="0" rtlCol="0" anchor="ctr"/>
          <a:lstStyle/>
          <a:p>
            <a:pPr indent="0" marL="0">
              <a:buNone/>
            </a:pPr>
            <a:r>
              <a:rPr lang="en-US" sz="1600" b="1" spc="300" kern="0" dirty="0">
                <a:solidFill>
                  <a:srgbClr val="A5B4FC"/>
                </a:solidFill>
                <a:latin typeface="Arial" pitchFamily="34" charset="0"/>
                <a:ea typeface="Arial" pitchFamily="34" charset="-122"/>
                <a:cs typeface="Arial" pitchFamily="34" charset="-120"/>
              </a:rPr>
              <a:t>BITIRUV MALAKAVIY ISHI</a:t>
            </a:r>
            <a:endParaRPr lang="en-US" sz="1600" dirty="0"/>
          </a:p>
        </p:txBody>
      </p:sp>
      <p:sp>
        <p:nvSpPr>
          <p:cNvPr id="4" name="Text 2"/>
          <p:cNvSpPr txBox="1"/>
          <p:nvPr/>
        </p:nvSpPr>
        <p:spPr>
          <a:xfrm>
            <a:off x="548640" y="2194560"/>
            <a:ext cx="6035040" cy="155448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Real vaqtda xabar almashish imkonini beruvchi “Milliy” xabarchi ishlab chiqish</a:t>
            </a:r>
            <a:endParaRPr lang="en-US" sz="2600" dirty="0"/>
          </a:p>
        </p:txBody>
      </p:sp>
      <p:sp>
        <p:nvSpPr>
          <p:cNvPr id="5" name="Text 3"/>
          <p:cNvSpPr txBox="1"/>
          <p:nvPr/>
        </p:nvSpPr>
        <p:spPr>
          <a:xfrm>
            <a:off x="548640" y="3794760"/>
            <a:ext cx="6035040" cy="411480"/>
          </a:xfrm>
          <a:prstGeom prst="rect">
            <a:avLst/>
          </a:prstGeom>
          <a:noFill/>
          <a:ln/>
        </p:spPr>
        <p:txBody>
          <a:bodyPr wrap="square" lIns="0" tIns="0" rIns="0" bIns="0" rtlCol="0" anchor="ctr"/>
          <a:lstStyle/>
          <a:p>
            <a:pPr indent="0" marL="0">
              <a:buNone/>
            </a:pPr>
            <a:r>
              <a:rPr lang="en-US" sz="2000" dirty="0">
                <a:solidFill>
                  <a:srgbClr val="C7D2FE"/>
                </a:solidFill>
                <a:latin typeface="Arial" pitchFamily="34" charset="0"/>
                <a:ea typeface="Arial" pitchFamily="34" charset="-122"/>
                <a:cs typeface="Arial" pitchFamily="34" charset="-120"/>
              </a:rPr>
              <a:t>Telegramga o‘xshash milliy veb-messenjer</a:t>
            </a:r>
            <a:endParaRPr lang="en-US" sz="2000" dirty="0"/>
          </a:p>
        </p:txBody>
      </p:sp>
      <p:sp>
        <p:nvSpPr>
          <p:cNvPr id="6" name="Text 4"/>
          <p:cNvSpPr txBox="1"/>
          <p:nvPr/>
        </p:nvSpPr>
        <p:spPr>
          <a:xfrm>
            <a:off x="548640" y="4617720"/>
            <a:ext cx="6035040" cy="822960"/>
          </a:xfrm>
          <a:prstGeom prst="rect">
            <a:avLst/>
          </a:prstGeom>
          <a:noFill/>
          <a:ln/>
        </p:spPr>
        <p:txBody>
          <a:bodyPr wrap="square" lIns="0" tIns="0" rIns="0" bIns="0" rtlCol="0" anchor="ctr"/>
          <a:lstStyle/>
          <a:p>
            <a:pPr indent="0" marL="0">
              <a:lnSpc>
                <a:spcPct val="140000"/>
              </a:lnSpc>
              <a:buNone/>
            </a:pPr>
            <a:r>
              <a:rPr lang="en-US" sz="1600" dirty="0">
                <a:solidFill>
                  <a:srgbClr val="A5B4FC"/>
                </a:solidFill>
                <a:latin typeface="Arial" pitchFamily="34" charset="0"/>
                <a:ea typeface="Arial" pitchFamily="34" charset="-122"/>
                <a:cs typeface="Arial" pitchFamily="34" charset="-120"/>
              </a:rPr>
              <a:t>Bajardi:  </a:t>
            </a:r>
            <a:pPr indent="0" marL="0">
              <a:lnSpc>
                <a:spcPct val="140000"/>
              </a:lnSpc>
              <a:buNone/>
            </a:pPr>
            <a:r>
              <a:rPr lang="en-US" sz="1600" b="1" dirty="0">
                <a:solidFill>
                  <a:srgbClr val="FFFFFF"/>
                </a:solidFill>
                <a:latin typeface="Arial" pitchFamily="34" charset="0"/>
                <a:ea typeface="Arial" pitchFamily="34" charset="-122"/>
                <a:cs typeface="Arial" pitchFamily="34" charset="-120"/>
              </a:rPr>
              <a:t>S.O. Sohinazarov</a:t>
            </a:r>
            <a:endParaRPr lang="en-US" sz="1600" dirty="0"/>
          </a:p>
          <a:p>
            <a:pPr indent="0" marL="0">
              <a:lnSpc>
                <a:spcPct val="140000"/>
              </a:lnSpc>
              <a:buNone/>
            </a:pPr>
            <a:r>
              <a:rPr lang="en-US" sz="1600" dirty="0">
                <a:solidFill>
                  <a:srgbClr val="A5B4FC"/>
                </a:solidFill>
                <a:latin typeface="Arial" pitchFamily="34" charset="0"/>
                <a:ea typeface="Arial" pitchFamily="34" charset="-122"/>
                <a:cs typeface="Arial" pitchFamily="34" charset="-120"/>
              </a:rPr>
              <a:t>Ilmiy rahbar:  </a:t>
            </a:r>
            <a:pPr indent="0" marL="0">
              <a:lnSpc>
                <a:spcPct val="140000"/>
              </a:lnSpc>
              <a:buNone/>
            </a:pPr>
            <a:r>
              <a:rPr lang="en-US" sz="1600" b="1" dirty="0">
                <a:solidFill>
                  <a:srgbClr val="FFFFFF"/>
                </a:solidFill>
                <a:latin typeface="Arial" pitchFamily="34" charset="0"/>
                <a:ea typeface="Arial" pitchFamily="34" charset="-122"/>
                <a:cs typeface="Arial" pitchFamily="34" charset="-120"/>
              </a:rPr>
              <a:t>dots. Y.Sh. Yuldoshev</a:t>
            </a:r>
            <a:endParaRPr lang="en-US" sz="1600" dirty="0"/>
          </a:p>
        </p:txBody>
      </p:sp>
      <p:pic>
        <p:nvPicPr>
          <p:cNvPr id="7" name="Image 0" descr="C:\Users\Sardor\Desktop\diplom ish\diplom\generator\rasmlar\3-05-private-chat.jpg">    </p:cNvPr>
          <p:cNvPicPr>
            <a:picLocks noChangeAspect="1"/>
          </p:cNvPicPr>
          <p:nvPr/>
        </p:nvPicPr>
        <p:blipFill>
          <a:blip r:embed="rId1"/>
          <a:stretch>
            <a:fillRect/>
          </a:stretch>
        </p:blipFill>
        <p:spPr>
          <a:xfrm>
            <a:off x="6796735" y="1783080"/>
            <a:ext cx="4846320" cy="3028950"/>
          </a:xfrm>
          <a:prstGeom prst="rect">
            <a:avLst/>
          </a:prstGeom>
          <a:effectLst>
            <a:outerShdw sx="100000" sy="100000" kx="0" ky="0" algn="bl" rotWithShape="0" blurRad="177800" dist="50800" dir="5400000">
              <a:srgbClr val="000000">
                <a:alpha val="35000"/>
              </a:srgbClr>
            </a:outerShdw>
          </a:effectLst>
        </p:spPr>
      </p:pic>
      <p:sp>
        <p:nvSpPr>
          <p:cNvPr id="8" name="Text 5"/>
          <p:cNvSpPr txBox="1"/>
          <p:nvPr/>
        </p:nvSpPr>
        <p:spPr>
          <a:xfrm>
            <a:off x="548640" y="6172200"/>
            <a:ext cx="11094415" cy="365760"/>
          </a:xfrm>
          <a:prstGeom prst="rect">
            <a:avLst/>
          </a:prstGeom>
          <a:noFill/>
          <a:ln/>
        </p:spPr>
        <p:txBody>
          <a:bodyPr wrap="square" lIns="0" tIns="0" rIns="0" bIns="0" rtlCol="0" anchor="ctr"/>
          <a:lstStyle/>
          <a:p>
            <a:pPr algn="ctr" indent="0" marL="0">
              <a:buNone/>
            </a:pPr>
            <a:r>
              <a:rPr lang="en-US" sz="1400" b="1" dirty="0">
                <a:solidFill>
                  <a:srgbClr val="C7D2FE"/>
                </a:solidFill>
                <a:latin typeface="Arial" pitchFamily="34" charset="0"/>
                <a:ea typeface="Arial" pitchFamily="34" charset="-122"/>
                <a:cs typeface="Arial" pitchFamily="34" charset="-120"/>
              </a:rPr>
              <a:t>Toshkent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Mavzuning dolzarbligi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 / 25</a:t>
            </a:r>
            <a:endParaRPr lang="en-US" sz="1000" dirty="0"/>
          </a:p>
        </p:txBody>
      </p:sp>
      <p:sp>
        <p:nvSpPr>
          <p:cNvPr id="5" name="Shape 3"/>
          <p:cNvSpPr/>
          <p:nvPr/>
        </p:nvSpPr>
        <p:spPr>
          <a:xfrm>
            <a:off x="548640" y="1508760"/>
            <a:ext cx="640080" cy="640080"/>
          </a:xfrm>
          <a:prstGeom prst="ellipse">
            <a:avLst/>
          </a:prstGeom>
          <a:solidFill>
            <a:srgbClr val="4F46E5"/>
          </a:solidFill>
          <a:ln/>
        </p:spPr>
      </p:sp>
      <p:pic>
        <p:nvPicPr>
          <p:cNvPr id="6" name="Image 0" descr="C:\Users\Sardor\Desktop\diplom ish\diplom\generator\slides-cache\icons\landmark-FFFFFF.png">    </p:cNvPr>
          <p:cNvPicPr>
            <a:picLocks noChangeAspect="1"/>
          </p:cNvPicPr>
          <p:nvPr/>
        </p:nvPicPr>
        <p:blipFill>
          <a:blip r:embed="rId1"/>
          <a:stretch>
            <a:fillRect/>
          </a:stretch>
        </p:blipFill>
        <p:spPr>
          <a:xfrm>
            <a:off x="708660" y="1668780"/>
            <a:ext cx="320040" cy="320040"/>
          </a:xfrm>
          <a:prstGeom prst="rect">
            <a:avLst/>
          </a:prstGeom>
        </p:spPr>
      </p:pic>
      <p:sp>
        <p:nvSpPr>
          <p:cNvPr id="7" name="Text 4"/>
          <p:cNvSpPr txBox="1"/>
          <p:nvPr/>
        </p:nvSpPr>
        <p:spPr>
          <a:xfrm>
            <a:off x="1417320" y="1490472"/>
            <a:ext cx="5532120" cy="329184"/>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“Raqamli O‘zbekiston – 2030” strategiyasi</a:t>
            </a:r>
            <a:endParaRPr lang="en-US" sz="1700" dirty="0"/>
          </a:p>
        </p:txBody>
      </p:sp>
      <p:sp>
        <p:nvSpPr>
          <p:cNvPr id="8" name="Text 5"/>
          <p:cNvSpPr txBox="1"/>
          <p:nvPr/>
        </p:nvSpPr>
        <p:spPr>
          <a:xfrm>
            <a:off x="1417320" y="1837944"/>
            <a:ext cx="5532120" cy="566928"/>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PF-6079-son Farmon: mahalliy dasturiy mahsulotlar va axborot xavfsizligi ustuvor vazifa</a:t>
            </a:r>
            <a:endParaRPr lang="en-US" sz="1400" dirty="0"/>
          </a:p>
        </p:txBody>
      </p:sp>
      <p:sp>
        <p:nvSpPr>
          <p:cNvPr id="9" name="Shape 6"/>
          <p:cNvSpPr/>
          <p:nvPr/>
        </p:nvSpPr>
        <p:spPr>
          <a:xfrm>
            <a:off x="548640" y="2971800"/>
            <a:ext cx="640080" cy="640080"/>
          </a:xfrm>
          <a:prstGeom prst="ellipse">
            <a:avLst/>
          </a:prstGeom>
          <a:solidFill>
            <a:srgbClr val="4F46E5"/>
          </a:solidFill>
          <a:ln/>
        </p:spPr>
      </p:sp>
      <p:pic>
        <p:nvPicPr>
          <p:cNvPr id="10" name="Image 1" descr="C:\Users\Sardor\Desktop\diplom ish\diplom\generator\slides-cache\icons\database-FFFFFF.png">    </p:cNvPr>
          <p:cNvPicPr>
            <a:picLocks noChangeAspect="1"/>
          </p:cNvPicPr>
          <p:nvPr/>
        </p:nvPicPr>
        <p:blipFill>
          <a:blip r:embed="rId2"/>
          <a:stretch>
            <a:fillRect/>
          </a:stretch>
        </p:blipFill>
        <p:spPr>
          <a:xfrm>
            <a:off x="708660" y="3131820"/>
            <a:ext cx="320040" cy="320040"/>
          </a:xfrm>
          <a:prstGeom prst="rect">
            <a:avLst/>
          </a:prstGeom>
        </p:spPr>
      </p:pic>
      <p:sp>
        <p:nvSpPr>
          <p:cNvPr id="11" name="Text 7"/>
          <p:cNvSpPr txBox="1"/>
          <p:nvPr/>
        </p:nvSpPr>
        <p:spPr>
          <a:xfrm>
            <a:off x="1417320" y="2953512"/>
            <a:ext cx="5532120" cy="329184"/>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Ma’lumotlarni lokalizatsiya qilish talabi</a:t>
            </a:r>
            <a:endParaRPr lang="en-US" sz="1700" dirty="0"/>
          </a:p>
        </p:txBody>
      </p:sp>
      <p:sp>
        <p:nvSpPr>
          <p:cNvPr id="12" name="Text 8"/>
          <p:cNvSpPr txBox="1"/>
          <p:nvPr/>
        </p:nvSpPr>
        <p:spPr>
          <a:xfrm>
            <a:off x="1417320" y="3300984"/>
            <a:ext cx="5532120" cy="566928"/>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“Shaxsga doir ma’lumotlar to‘g‘risida”gi Qonun: fuqarolar ma’lumotlari respublika hududida saqlanishi kerak</a:t>
            </a:r>
            <a:endParaRPr lang="en-US" sz="1400" dirty="0"/>
          </a:p>
        </p:txBody>
      </p:sp>
      <p:sp>
        <p:nvSpPr>
          <p:cNvPr id="13" name="Shape 9"/>
          <p:cNvSpPr/>
          <p:nvPr/>
        </p:nvSpPr>
        <p:spPr>
          <a:xfrm>
            <a:off x="548640" y="4434840"/>
            <a:ext cx="640080" cy="640080"/>
          </a:xfrm>
          <a:prstGeom prst="ellipse">
            <a:avLst/>
          </a:prstGeom>
          <a:solidFill>
            <a:srgbClr val="4F46E5"/>
          </a:solidFill>
          <a:ln/>
        </p:spPr>
      </p:sp>
      <p:pic>
        <p:nvPicPr>
          <p:cNvPr id="14" name="Image 2" descr="C:\Users\Sardor\Desktop\diplom ish\diplom\generator\slides-cache\icons\globe-FFFFFF.png">    </p:cNvPr>
          <p:cNvPicPr>
            <a:picLocks noChangeAspect="1"/>
          </p:cNvPicPr>
          <p:nvPr/>
        </p:nvPicPr>
        <p:blipFill>
          <a:blip r:embed="rId3"/>
          <a:stretch>
            <a:fillRect/>
          </a:stretch>
        </p:blipFill>
        <p:spPr>
          <a:xfrm>
            <a:off x="708660" y="4594860"/>
            <a:ext cx="320040" cy="320040"/>
          </a:xfrm>
          <a:prstGeom prst="rect">
            <a:avLst/>
          </a:prstGeom>
        </p:spPr>
      </p:pic>
      <p:sp>
        <p:nvSpPr>
          <p:cNvPr id="15" name="Text 10"/>
          <p:cNvSpPr txBox="1"/>
          <p:nvPr/>
        </p:nvSpPr>
        <p:spPr>
          <a:xfrm>
            <a:off x="1417320" y="4416552"/>
            <a:ext cx="5532120" cy="329184"/>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Xorijiy messenjerlarga bog‘liqlik</a:t>
            </a:r>
            <a:endParaRPr lang="en-US" sz="1700" dirty="0"/>
          </a:p>
        </p:txBody>
      </p:sp>
      <p:sp>
        <p:nvSpPr>
          <p:cNvPr id="16" name="Text 11"/>
          <p:cNvSpPr txBox="1"/>
          <p:nvPr/>
        </p:nvSpPr>
        <p:spPr>
          <a:xfrm>
            <a:off x="1417320" y="4764024"/>
            <a:ext cx="5532120" cy="566928"/>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Telegram, WhatsApp, Signal, WeChat — barchasi xorijiy yurisdiksiyada, ma’lumotlar mamlakatdan tashqarida</a:t>
            </a:r>
            <a:endParaRPr lang="en-US" sz="1400" dirty="0"/>
          </a:p>
        </p:txBody>
      </p:sp>
      <p:sp>
        <p:nvSpPr>
          <p:cNvPr id="17" name="Shape 12"/>
          <p:cNvSpPr/>
          <p:nvPr/>
        </p:nvSpPr>
        <p:spPr>
          <a:xfrm>
            <a:off x="7498080" y="1417320"/>
            <a:ext cx="4144975" cy="4526280"/>
          </a:xfrm>
          <a:prstGeom prst="roundRect">
            <a:avLst>
              <a:gd name="adj" fmla="val 2647"/>
            </a:avLst>
          </a:prstGeom>
          <a:solidFill>
            <a:srgbClr val="EEF2FF"/>
          </a:solidFill>
          <a:ln/>
        </p:spPr>
      </p:sp>
      <p:sp>
        <p:nvSpPr>
          <p:cNvPr id="18" name="Text 13"/>
          <p:cNvSpPr txBox="1"/>
          <p:nvPr/>
        </p:nvSpPr>
        <p:spPr>
          <a:xfrm>
            <a:off x="7818120" y="1691640"/>
            <a:ext cx="3657600" cy="41148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Yechim — “Milliy” xabarchi</a:t>
            </a:r>
            <a:endParaRPr lang="en-US" sz="2000" dirty="0"/>
          </a:p>
        </p:txBody>
      </p:sp>
      <p:pic>
        <p:nvPicPr>
          <p:cNvPr id="19" name="Image 3" descr="C:\Users\Sardor\Desktop\diplom ish\diplom\generator\slides-cache\icons\check-059669.png">    </p:cNvPr>
          <p:cNvPicPr>
            <a:picLocks noChangeAspect="1"/>
          </p:cNvPicPr>
          <p:nvPr/>
        </p:nvPicPr>
        <p:blipFill>
          <a:blip r:embed="rId4"/>
          <a:stretch>
            <a:fillRect/>
          </a:stretch>
        </p:blipFill>
        <p:spPr>
          <a:xfrm>
            <a:off x="7818120" y="2487168"/>
            <a:ext cx="310896" cy="310896"/>
          </a:xfrm>
          <a:prstGeom prst="rect">
            <a:avLst/>
          </a:prstGeom>
        </p:spPr>
      </p:pic>
      <p:sp>
        <p:nvSpPr>
          <p:cNvPr id="20" name="Text 14"/>
          <p:cNvSpPr txBox="1"/>
          <p:nvPr/>
        </p:nvSpPr>
        <p:spPr>
          <a:xfrm>
            <a:off x="8275320" y="2423160"/>
            <a:ext cx="3200400" cy="6400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Ma’lumotlar O‘zbekistondagi serverda saqlanadi</a:t>
            </a:r>
            <a:endParaRPr lang="en-US" sz="1500" dirty="0"/>
          </a:p>
        </p:txBody>
      </p:sp>
      <p:pic>
        <p:nvPicPr>
          <p:cNvPr id="21" name="Image 4" descr="C:\Users\Sardor\Desktop\diplom ish\diplom\generator\slides-cache\icons\check-059669.png">    </p:cNvPr>
          <p:cNvPicPr>
            <a:picLocks noChangeAspect="1"/>
          </p:cNvPicPr>
          <p:nvPr/>
        </p:nvPicPr>
        <p:blipFill>
          <a:blip r:embed="rId5"/>
          <a:stretch>
            <a:fillRect/>
          </a:stretch>
        </p:blipFill>
        <p:spPr>
          <a:xfrm>
            <a:off x="7818120" y="3310128"/>
            <a:ext cx="310896" cy="310896"/>
          </a:xfrm>
          <a:prstGeom prst="rect">
            <a:avLst/>
          </a:prstGeom>
        </p:spPr>
      </p:pic>
      <p:sp>
        <p:nvSpPr>
          <p:cNvPr id="22" name="Text 15"/>
          <p:cNvSpPr txBox="1"/>
          <p:nvPr/>
        </p:nvSpPr>
        <p:spPr>
          <a:xfrm>
            <a:off x="8275320" y="3246120"/>
            <a:ext cx="3200400" cy="6400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O‘zbek tilidagi tanish interfeys</a:t>
            </a:r>
            <a:endParaRPr lang="en-US" sz="1500" dirty="0"/>
          </a:p>
        </p:txBody>
      </p:sp>
      <p:pic>
        <p:nvPicPr>
          <p:cNvPr id="23" name="Image 5" descr="C:\Users\Sardor\Desktop\diplom ish\diplom\generator\slides-cache\icons\check-059669.png">    </p:cNvPr>
          <p:cNvPicPr>
            <a:picLocks noChangeAspect="1"/>
          </p:cNvPicPr>
          <p:nvPr/>
        </p:nvPicPr>
        <p:blipFill>
          <a:blip r:embed="rId6"/>
          <a:stretch>
            <a:fillRect/>
          </a:stretch>
        </p:blipFill>
        <p:spPr>
          <a:xfrm>
            <a:off x="7818120" y="4133088"/>
            <a:ext cx="310896" cy="310896"/>
          </a:xfrm>
          <a:prstGeom prst="rect">
            <a:avLst/>
          </a:prstGeom>
        </p:spPr>
      </p:pic>
      <p:sp>
        <p:nvSpPr>
          <p:cNvPr id="24" name="Text 16"/>
          <p:cNvSpPr txBox="1"/>
          <p:nvPr/>
        </p:nvSpPr>
        <p:spPr>
          <a:xfrm>
            <a:off x="8275320" y="4069080"/>
            <a:ext cx="3200400" cy="6400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Kod va arxitektura mahalliy nazoratda</a:t>
            </a:r>
            <a:endParaRPr lang="en-US" sz="1500" dirty="0"/>
          </a:p>
        </p:txBody>
      </p:sp>
      <p:pic>
        <p:nvPicPr>
          <p:cNvPr id="25" name="Image 6" descr="C:\Users\Sardor\Desktop\diplom ish\diplom\generator\slides-cache\icons\check-059669.png">    </p:cNvPr>
          <p:cNvPicPr>
            <a:picLocks noChangeAspect="1"/>
          </p:cNvPicPr>
          <p:nvPr/>
        </p:nvPicPr>
        <p:blipFill>
          <a:blip r:embed="rId7"/>
          <a:stretch>
            <a:fillRect/>
          </a:stretch>
        </p:blipFill>
        <p:spPr>
          <a:xfrm>
            <a:off x="7818120" y="4956048"/>
            <a:ext cx="310896" cy="310896"/>
          </a:xfrm>
          <a:prstGeom prst="rect">
            <a:avLst/>
          </a:prstGeom>
        </p:spPr>
      </p:pic>
      <p:sp>
        <p:nvSpPr>
          <p:cNvPr id="26" name="Text 17"/>
          <p:cNvSpPr txBox="1"/>
          <p:nvPr/>
        </p:nvSpPr>
        <p:spPr>
          <a:xfrm>
            <a:off x="8275320" y="4892040"/>
            <a:ext cx="3200400" cy="6400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Tashkilotlar uchun ichki aloqa vositasi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Loyihaning maqsadi va vazifalari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3 / 25</a:t>
            </a:r>
            <a:endParaRPr lang="en-US" sz="1000" dirty="0"/>
          </a:p>
        </p:txBody>
      </p:sp>
      <p:sp>
        <p:nvSpPr>
          <p:cNvPr id="5" name="Shape 3"/>
          <p:cNvSpPr/>
          <p:nvPr/>
        </p:nvSpPr>
        <p:spPr>
          <a:xfrm>
            <a:off x="548640" y="1325880"/>
            <a:ext cx="11094415" cy="1005840"/>
          </a:xfrm>
          <a:prstGeom prst="roundRect">
            <a:avLst>
              <a:gd name="adj" fmla="val 10909"/>
            </a:avLst>
          </a:prstGeom>
          <a:solidFill>
            <a:srgbClr val="1E1B4B"/>
          </a:solidFill>
          <a:ln/>
        </p:spPr>
      </p:sp>
      <p:sp>
        <p:nvSpPr>
          <p:cNvPr id="6" name="Shape 4"/>
          <p:cNvSpPr/>
          <p:nvPr/>
        </p:nvSpPr>
        <p:spPr>
          <a:xfrm>
            <a:off x="822960" y="1554480"/>
            <a:ext cx="548640" cy="548640"/>
          </a:xfrm>
          <a:prstGeom prst="ellipse">
            <a:avLst/>
          </a:prstGeom>
          <a:solidFill>
            <a:srgbClr val="4F46E5"/>
          </a:solidFill>
          <a:ln/>
        </p:spPr>
      </p:sp>
      <p:pic>
        <p:nvPicPr>
          <p:cNvPr id="7" name="Image 0" descr="C:\Users\Sardor\Desktop\diplom ish\diplom\generator\slides-cache\icons\target-FFFFFF.png">    </p:cNvPr>
          <p:cNvPicPr>
            <a:picLocks noChangeAspect="1"/>
          </p:cNvPicPr>
          <p:nvPr/>
        </p:nvPicPr>
        <p:blipFill>
          <a:blip r:embed="rId1"/>
          <a:stretch>
            <a:fillRect/>
          </a:stretch>
        </p:blipFill>
        <p:spPr>
          <a:xfrm>
            <a:off x="960120" y="1691640"/>
            <a:ext cx="274320" cy="274320"/>
          </a:xfrm>
          <a:prstGeom prst="rect">
            <a:avLst/>
          </a:prstGeom>
        </p:spPr>
      </p:pic>
      <p:sp>
        <p:nvSpPr>
          <p:cNvPr id="8" name="Text 5"/>
          <p:cNvSpPr txBox="1"/>
          <p:nvPr/>
        </p:nvSpPr>
        <p:spPr>
          <a:xfrm>
            <a:off x="1600200" y="1371600"/>
            <a:ext cx="9814255"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Maqsad: foydalanuvchi ma’lumotlarini o‘z serverida saqlaydigan, shaxsiy va guruh yozishmalarini real vaqtda ta’minlaydigan “Milliy” xabarchi veb-messenjerini loyihalash va ishlab chiqish.</a:t>
            </a:r>
            <a:endParaRPr lang="en-US" sz="1600" dirty="0"/>
          </a:p>
        </p:txBody>
      </p:sp>
      <p:sp>
        <p:nvSpPr>
          <p:cNvPr id="9" name="Shape 6"/>
          <p:cNvSpPr/>
          <p:nvPr/>
        </p:nvSpPr>
        <p:spPr>
          <a:xfrm>
            <a:off x="548640" y="2606040"/>
            <a:ext cx="3515258" cy="1554480"/>
          </a:xfrm>
          <a:prstGeom prst="roundRect">
            <a:avLst>
              <a:gd name="adj" fmla="val 7059"/>
            </a:avLst>
          </a:prstGeom>
          <a:solidFill>
            <a:srgbClr val="EEF2FF"/>
          </a:solidFill>
          <a:ln/>
        </p:spPr>
      </p:sp>
      <p:sp>
        <p:nvSpPr>
          <p:cNvPr id="10" name="Text 7"/>
          <p:cNvSpPr txBox="1"/>
          <p:nvPr/>
        </p:nvSpPr>
        <p:spPr>
          <a:xfrm>
            <a:off x="822960" y="278892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01</a:t>
            </a:r>
            <a:endParaRPr lang="en-US" sz="2600" dirty="0"/>
          </a:p>
        </p:txBody>
      </p:sp>
      <p:sp>
        <p:nvSpPr>
          <p:cNvPr id="11" name="Text 8"/>
          <p:cNvSpPr txBox="1"/>
          <p:nvPr/>
        </p:nvSpPr>
        <p:spPr>
          <a:xfrm>
            <a:off x="822960" y="329184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Mavjud messenjerlar va real vaqt texnologiyalarini tahlil qilish</a:t>
            </a:r>
            <a:endParaRPr lang="en-US" sz="1500" dirty="0"/>
          </a:p>
        </p:txBody>
      </p:sp>
      <p:sp>
        <p:nvSpPr>
          <p:cNvPr id="12" name="Shape 9"/>
          <p:cNvSpPr/>
          <p:nvPr/>
        </p:nvSpPr>
        <p:spPr>
          <a:xfrm>
            <a:off x="4338218" y="2606040"/>
            <a:ext cx="3515258" cy="1554480"/>
          </a:xfrm>
          <a:prstGeom prst="roundRect">
            <a:avLst>
              <a:gd name="adj" fmla="val 7059"/>
            </a:avLst>
          </a:prstGeom>
          <a:solidFill>
            <a:srgbClr val="EEF2FF"/>
          </a:solidFill>
          <a:ln/>
        </p:spPr>
      </p:sp>
      <p:sp>
        <p:nvSpPr>
          <p:cNvPr id="13" name="Text 10"/>
          <p:cNvSpPr txBox="1"/>
          <p:nvPr/>
        </p:nvSpPr>
        <p:spPr>
          <a:xfrm>
            <a:off x="4612538" y="278892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02</a:t>
            </a:r>
            <a:endParaRPr lang="en-US" sz="2600" dirty="0"/>
          </a:p>
        </p:txBody>
      </p:sp>
      <p:sp>
        <p:nvSpPr>
          <p:cNvPr id="14" name="Text 11"/>
          <p:cNvSpPr txBox="1"/>
          <p:nvPr/>
        </p:nvSpPr>
        <p:spPr>
          <a:xfrm>
            <a:off x="4612538" y="329184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Tizimga funksional va nofunksional talablarni aniqlash</a:t>
            </a:r>
            <a:endParaRPr lang="en-US" sz="1500" dirty="0"/>
          </a:p>
        </p:txBody>
      </p:sp>
      <p:sp>
        <p:nvSpPr>
          <p:cNvPr id="15" name="Shape 12"/>
          <p:cNvSpPr/>
          <p:nvPr/>
        </p:nvSpPr>
        <p:spPr>
          <a:xfrm>
            <a:off x="8127797" y="2606040"/>
            <a:ext cx="3515258" cy="1554480"/>
          </a:xfrm>
          <a:prstGeom prst="roundRect">
            <a:avLst>
              <a:gd name="adj" fmla="val 7059"/>
            </a:avLst>
          </a:prstGeom>
          <a:solidFill>
            <a:srgbClr val="EEF2FF"/>
          </a:solidFill>
          <a:ln/>
        </p:spPr>
      </p:sp>
      <p:sp>
        <p:nvSpPr>
          <p:cNvPr id="16" name="Text 13"/>
          <p:cNvSpPr txBox="1"/>
          <p:nvPr/>
        </p:nvSpPr>
        <p:spPr>
          <a:xfrm>
            <a:off x="8402117" y="278892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03</a:t>
            </a:r>
            <a:endParaRPr lang="en-US" sz="2600" dirty="0"/>
          </a:p>
        </p:txBody>
      </p:sp>
      <p:sp>
        <p:nvSpPr>
          <p:cNvPr id="17" name="Text 14"/>
          <p:cNvSpPr txBox="1"/>
          <p:nvPr/>
        </p:nvSpPr>
        <p:spPr>
          <a:xfrm>
            <a:off x="8402117" y="329184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Arxitektura, ma’lumotlar bazasi va UML modellarini loyihalash</a:t>
            </a:r>
            <a:endParaRPr lang="en-US" sz="1500" dirty="0"/>
          </a:p>
        </p:txBody>
      </p:sp>
      <p:sp>
        <p:nvSpPr>
          <p:cNvPr id="18" name="Shape 15"/>
          <p:cNvSpPr/>
          <p:nvPr/>
        </p:nvSpPr>
        <p:spPr>
          <a:xfrm>
            <a:off x="548640" y="4389120"/>
            <a:ext cx="3515258" cy="1554480"/>
          </a:xfrm>
          <a:prstGeom prst="roundRect">
            <a:avLst>
              <a:gd name="adj" fmla="val 7059"/>
            </a:avLst>
          </a:prstGeom>
          <a:solidFill>
            <a:srgbClr val="EEF2FF"/>
          </a:solidFill>
          <a:ln/>
        </p:spPr>
      </p:sp>
      <p:sp>
        <p:nvSpPr>
          <p:cNvPr id="19" name="Text 16"/>
          <p:cNvSpPr txBox="1"/>
          <p:nvPr/>
        </p:nvSpPr>
        <p:spPr>
          <a:xfrm>
            <a:off x="822960" y="457200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04</a:t>
            </a:r>
            <a:endParaRPr lang="en-US" sz="2600" dirty="0"/>
          </a:p>
        </p:txBody>
      </p:sp>
      <p:sp>
        <p:nvSpPr>
          <p:cNvPr id="20" name="Text 17"/>
          <p:cNvSpPr txBox="1"/>
          <p:nvPr/>
        </p:nvSpPr>
        <p:spPr>
          <a:xfrm>
            <a:off x="822960" y="507492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Xavfsiz autentifikatsiya va E2E shifrlangan maxfiy chatlar</a:t>
            </a:r>
            <a:endParaRPr lang="en-US" sz="1500" dirty="0"/>
          </a:p>
        </p:txBody>
      </p:sp>
      <p:sp>
        <p:nvSpPr>
          <p:cNvPr id="21" name="Shape 18"/>
          <p:cNvSpPr/>
          <p:nvPr/>
        </p:nvSpPr>
        <p:spPr>
          <a:xfrm>
            <a:off x="4338218" y="4389120"/>
            <a:ext cx="3515258" cy="1554480"/>
          </a:xfrm>
          <a:prstGeom prst="roundRect">
            <a:avLst>
              <a:gd name="adj" fmla="val 7059"/>
            </a:avLst>
          </a:prstGeom>
          <a:solidFill>
            <a:srgbClr val="EEF2FF"/>
          </a:solidFill>
          <a:ln/>
        </p:spPr>
      </p:sp>
      <p:sp>
        <p:nvSpPr>
          <p:cNvPr id="22" name="Text 19"/>
          <p:cNvSpPr txBox="1"/>
          <p:nvPr/>
        </p:nvSpPr>
        <p:spPr>
          <a:xfrm>
            <a:off x="4612538" y="457200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05</a:t>
            </a:r>
            <a:endParaRPr lang="en-US" sz="2600" dirty="0"/>
          </a:p>
        </p:txBody>
      </p:sp>
      <p:sp>
        <p:nvSpPr>
          <p:cNvPr id="23" name="Text 20"/>
          <p:cNvSpPr txBox="1"/>
          <p:nvPr/>
        </p:nvSpPr>
        <p:spPr>
          <a:xfrm>
            <a:off x="4612538" y="507492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Server, klient, lotin↔kirill va tashkilot rejimini ishlab chiqish</a:t>
            </a:r>
            <a:endParaRPr lang="en-US" sz="1500" dirty="0"/>
          </a:p>
        </p:txBody>
      </p:sp>
      <p:sp>
        <p:nvSpPr>
          <p:cNvPr id="24" name="Shape 21"/>
          <p:cNvSpPr/>
          <p:nvPr/>
        </p:nvSpPr>
        <p:spPr>
          <a:xfrm>
            <a:off x="8127797" y="4389120"/>
            <a:ext cx="3515258" cy="1554480"/>
          </a:xfrm>
          <a:prstGeom prst="roundRect">
            <a:avLst>
              <a:gd name="adj" fmla="val 7059"/>
            </a:avLst>
          </a:prstGeom>
          <a:solidFill>
            <a:srgbClr val="EEF2FF"/>
          </a:solidFill>
          <a:ln/>
        </p:spPr>
      </p:sp>
      <p:sp>
        <p:nvSpPr>
          <p:cNvPr id="25" name="Text 22"/>
          <p:cNvSpPr txBox="1"/>
          <p:nvPr/>
        </p:nvSpPr>
        <p:spPr>
          <a:xfrm>
            <a:off x="8402117" y="4572000"/>
            <a:ext cx="914400" cy="457200"/>
          </a:xfrm>
          <a:prstGeom prst="rect">
            <a:avLst/>
          </a:prstGeom>
          <a:noFill/>
          <a:ln/>
        </p:spPr>
        <p:txBody>
          <a:bodyPr wrap="square" lIns="0" tIns="0" rIns="0" bIns="0" rtlCol="0" anchor="ctr"/>
          <a:lstStyle/>
          <a:p>
            <a:pPr indent="0" marL="0">
              <a:buNone/>
            </a:pPr>
            <a:r>
              <a:rPr lang="en-US" sz="2600" b="1" dirty="0">
                <a:solidFill>
                  <a:srgbClr val="4F46E5"/>
                </a:solidFill>
                <a:latin typeface="Arial" pitchFamily="34" charset="0"/>
                <a:ea typeface="Arial" pitchFamily="34" charset="-122"/>
                <a:cs typeface="Arial" pitchFamily="34" charset="-120"/>
              </a:rPr>
              <a:t>06</a:t>
            </a:r>
            <a:endParaRPr lang="en-US" sz="2600" dirty="0"/>
          </a:p>
        </p:txBody>
      </p:sp>
      <p:sp>
        <p:nvSpPr>
          <p:cNvPr id="26" name="Text 23"/>
          <p:cNvSpPr txBox="1"/>
          <p:nvPr/>
        </p:nvSpPr>
        <p:spPr>
          <a:xfrm>
            <a:off x="8402117" y="5074920"/>
            <a:ext cx="2966618" cy="73152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Bulutga joylashtirish, sinash va HFX talablarini ishlab chiqish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Mavjud messenjerlar tahlili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4 / 25</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11680"/>
                <a:gridCol w="1737360"/>
                <a:gridCol w="1737360"/>
                <a:gridCol w="1737360"/>
                <a:gridCol w="1737360"/>
                <a:gridCol w="2130552"/>
              </a:tblGrid>
              <a:tr h="45720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Mezon</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Telegram</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WhatsApp</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Signal</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WeChat</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“Milliy” xabarchi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4F46E5"/>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Egasi (davlat)</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BAA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Meta (AQSh)</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AQSh</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Tencent (Xitoy)</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Mahalliy</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Ro‘yxatdan o‘tish</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Telefon raqami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Telefon raqami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Telefon raqami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Telefon raqami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E-pochta kodi, Google</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E2E shifrlash</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Faqat maxfiy chatlarda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Sukut bo‘yicha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Sukut bo‘yicha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Maxfiy chatlarda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Yozishmalar</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Bulutda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Qurilmada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Qurilmada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Serverda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O‘z serverida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Ma’lumotlar joyi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Xorijda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Xorijda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Xorijda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Xitoyda</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O‘zbekistonda ham mumkin</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Lotin ↔ kirill</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Bor (qidiruv ham)</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r h="457200">
                <a:tc>
                  <a:txBody>
                    <a:bodyPr/>
                    <a:lstStyle/>
                    <a:p>
                      <a:pPr algn="l" indent="0" marL="0">
                        <a:buNone/>
                      </a:pPr>
                      <a:r>
                        <a:rPr lang="en-US" sz="1300" b="1" dirty="0">
                          <a:solidFill>
                            <a:srgbClr val="1F2937"/>
                          </a:solidFill>
                          <a:latin typeface="Arial" pitchFamily="34" charset="0"/>
                          <a:ea typeface="Arial" pitchFamily="34" charset="-122"/>
                          <a:cs typeface="Arial" pitchFamily="34" charset="-120"/>
                        </a:rPr>
                        <a:t>Tashkilot tasdig‘i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Yo‘q</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1B4B"/>
                          </a:solidFill>
                          <a:latin typeface="Arial" pitchFamily="34" charset="0"/>
                          <a:ea typeface="Arial" pitchFamily="34" charset="-122"/>
                          <a:cs typeface="Arial" pitchFamily="34" charset="-120"/>
                        </a:rPr>
                        <a:t>E-pochta domeni</a:t>
                      </a:r>
                      <a:endParaRPr lang="en-US" sz="13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bl>
          </a:graphicData>
        </a:graphic>
      </p:graphicFrame>
      <p:sp>
        <p:nvSpPr>
          <p:cNvPr id="6" name="Shape 3"/>
          <p:cNvSpPr/>
          <p:nvPr/>
        </p:nvSpPr>
        <p:spPr>
          <a:xfrm>
            <a:off x="548640" y="5212080"/>
            <a:ext cx="11094415" cy="868680"/>
          </a:xfrm>
          <a:prstGeom prst="roundRect">
            <a:avLst>
              <a:gd name="adj" fmla="val 12632"/>
            </a:avLst>
          </a:prstGeom>
          <a:solidFill>
            <a:srgbClr val="EEF2FF"/>
          </a:solidFill>
          <a:ln/>
        </p:spPr>
      </p:sp>
      <p:sp>
        <p:nvSpPr>
          <p:cNvPr id="7" name="Shape 4"/>
          <p:cNvSpPr/>
          <p:nvPr/>
        </p:nvSpPr>
        <p:spPr>
          <a:xfrm>
            <a:off x="777240" y="5367528"/>
            <a:ext cx="548640" cy="548640"/>
          </a:xfrm>
          <a:prstGeom prst="ellipse">
            <a:avLst/>
          </a:prstGeom>
          <a:solidFill>
            <a:srgbClr val="4F46E5"/>
          </a:solidFill>
          <a:ln/>
        </p:spPr>
      </p:sp>
      <p:pic>
        <p:nvPicPr>
          <p:cNvPr id="8" name="Image 0" descr="C:\Users\Sardor\Desktop\diplom ish\diplom\generator\slides-cache\icons\globe-FFFFFF.png">    </p:cNvPr>
          <p:cNvPicPr>
            <a:picLocks noChangeAspect="1"/>
          </p:cNvPicPr>
          <p:nvPr/>
        </p:nvPicPr>
        <p:blipFill>
          <a:blip r:embed="rId1"/>
          <a:stretch>
            <a:fillRect/>
          </a:stretch>
        </p:blipFill>
        <p:spPr>
          <a:xfrm>
            <a:off x="914400" y="5504688"/>
            <a:ext cx="274320" cy="274320"/>
          </a:xfrm>
          <a:prstGeom prst="rect">
            <a:avLst/>
          </a:prstGeom>
        </p:spPr>
      </p:pic>
      <p:sp>
        <p:nvSpPr>
          <p:cNvPr id="9" name="Text 5"/>
          <p:cNvSpPr txBox="1"/>
          <p:nvPr/>
        </p:nvSpPr>
        <p:spPr>
          <a:xfrm>
            <a:off x="1554480" y="5230368"/>
            <a:ext cx="9859975" cy="822960"/>
          </a:xfrm>
          <a:prstGeom prst="rect">
            <a:avLst/>
          </a:prstGeom>
          <a:noFill/>
          <a:ln/>
        </p:spPr>
        <p:txBody>
          <a:bodyPr wrap="square" lIns="0" tIns="0" rIns="0" bIns="0" rtlCol="0" anchor="ctr"/>
          <a:lstStyle/>
          <a:p>
            <a:pPr indent="0" marL="0">
              <a:buNone/>
            </a:pPr>
            <a:r>
              <a:rPr lang="en-US" sz="1500" dirty="0">
                <a:solidFill>
                  <a:srgbClr val="1E1B4B"/>
                </a:solidFill>
                <a:latin typeface="Arial" pitchFamily="34" charset="0"/>
                <a:ea typeface="Arial" pitchFamily="34" charset="-122"/>
                <a:cs typeface="Arial" pitchFamily="34" charset="-120"/>
              </a:rPr>
              <a:t>Barcha mashhur messenjerlar ma’lumotlarni xorijda saqlaydi. Foydalanish qulayligi bo‘yicha namuna sifatida Telegram tanlandi.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Real vaqtda aloqa texnologiyalari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5 / 25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2011680"/>
                <a:gridCol w="1828800"/>
                <a:gridCol w="1280160"/>
                <a:gridCol w="1645920"/>
              </a:tblGrid>
              <a:tr h="73152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Texnologiya</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Yo‘nalish</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Kechikish</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Brauzerlar</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E1B4B"/>
                    </a:solidFill>
                  </a:tcPr>
                </a:tc>
              </a:tr>
              <a:tr h="731520">
                <a:tc>
                  <a:txBody>
                    <a:bodyPr/>
                    <a:lstStyle/>
                    <a:p>
                      <a:pPr algn="l" indent="0" marL="0">
                        <a:buNone/>
                      </a:pPr>
                      <a:r>
                        <a:rPr lang="en-US" sz="1400" dirty="0">
                          <a:solidFill>
                            <a:srgbClr val="1F2937"/>
                          </a:solidFill>
                          <a:latin typeface="Arial" pitchFamily="34" charset="0"/>
                          <a:ea typeface="Arial" pitchFamily="34" charset="-122"/>
                          <a:cs typeface="Arial" pitchFamily="34" charset="-120"/>
                        </a:rPr>
                        <a:t>Short polling</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Mijoz → server</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Yuqori</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Barchasi</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731520">
                <a:tc>
                  <a:txBody>
                    <a:bodyPr/>
                    <a:lstStyle/>
                    <a:p>
                      <a:pPr algn="l" indent="0" marL="0">
                        <a:buNone/>
                      </a:pPr>
                      <a:r>
                        <a:rPr lang="en-US" sz="1400" dirty="0">
                          <a:solidFill>
                            <a:srgbClr val="1F2937"/>
                          </a:solidFill>
                          <a:latin typeface="Arial" pitchFamily="34" charset="0"/>
                          <a:ea typeface="Arial" pitchFamily="34" charset="-122"/>
                          <a:cs typeface="Arial" pitchFamily="34" charset="-120"/>
                        </a:rPr>
                        <a:t>Long polling</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Mijoz → server</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O‘rtacha</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Barchasi</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731520">
                <a:tc>
                  <a:txBody>
                    <a:bodyPr/>
                    <a:lstStyle/>
                    <a:p>
                      <a:pPr algn="l" indent="0" marL="0">
                        <a:buNone/>
                      </a:pPr>
                      <a:r>
                        <a:rPr lang="en-US" sz="1400" dirty="0">
                          <a:solidFill>
                            <a:srgbClr val="1F2937"/>
                          </a:solidFill>
                          <a:latin typeface="Arial" pitchFamily="34" charset="0"/>
                          <a:ea typeface="Arial" pitchFamily="34" charset="-122"/>
                          <a:cs typeface="Arial" pitchFamily="34" charset="-120"/>
                        </a:rPr>
                        <a:t>Server-Sent Events</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Server → mijoz</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Past</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Zamonaviy</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731520">
                <a:tc>
                  <a:txBody>
                    <a:bodyPr/>
                    <a:lstStyle/>
                    <a:p>
                      <a:pPr algn="l" indent="0" marL="0">
                        <a:buNone/>
                      </a:pPr>
                      <a:r>
                        <a:rPr lang="en-US" sz="1400" dirty="0">
                          <a:solidFill>
                            <a:srgbClr val="1F2937"/>
                          </a:solidFill>
                          <a:latin typeface="Arial" pitchFamily="34" charset="0"/>
                          <a:ea typeface="Arial" pitchFamily="34" charset="-122"/>
                          <a:cs typeface="Arial" pitchFamily="34" charset="-120"/>
                        </a:rPr>
                        <a:t>WebSocket</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Ikki tomonlama</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Juda past</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c>
                  <a:txBody>
                    <a:bodyPr/>
                    <a:lstStyle/>
                    <a:p>
                      <a:pPr algn="ctr" indent="0" marL="0">
                        <a:buNone/>
                      </a:pPr>
                      <a:r>
                        <a:rPr lang="en-US" sz="1400" dirty="0">
                          <a:solidFill>
                            <a:srgbClr val="1F2937"/>
                          </a:solidFill>
                          <a:latin typeface="Arial" pitchFamily="34" charset="0"/>
                          <a:ea typeface="Arial" pitchFamily="34" charset="-122"/>
                          <a:cs typeface="Arial" pitchFamily="34" charset="-120"/>
                        </a:rPr>
                        <a:t>Zamonaviy</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9FAFB"/>
                    </a:solidFill>
                  </a:tcPr>
                </a:tc>
              </a:tr>
              <a:tr h="731520">
                <a:tc>
                  <a:txBody>
                    <a:bodyPr/>
                    <a:lstStyle/>
                    <a:p>
                      <a:pPr algn="l" indent="0" marL="0">
                        <a:buNone/>
                      </a:pPr>
                      <a:r>
                        <a:rPr lang="en-US" sz="1400" b="1" dirty="0">
                          <a:solidFill>
                            <a:srgbClr val="1E1B4B"/>
                          </a:solidFill>
                          <a:latin typeface="Arial" pitchFamily="34" charset="0"/>
                          <a:ea typeface="Arial" pitchFamily="34" charset="-122"/>
                          <a:cs typeface="Arial" pitchFamily="34" charset="-120"/>
                        </a:rPr>
                        <a:t>SignalR</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c>
                  <a:txBody>
                    <a:bodyPr/>
                    <a:lstStyle/>
                    <a:p>
                      <a:pPr algn="ctr" indent="0" marL="0">
                        <a:buNone/>
                      </a:pPr>
                      <a:r>
                        <a:rPr lang="en-US" sz="1400" b="1" dirty="0">
                          <a:solidFill>
                            <a:srgbClr val="1E1B4B"/>
                          </a:solidFill>
                          <a:latin typeface="Arial" pitchFamily="34" charset="0"/>
                          <a:ea typeface="Arial" pitchFamily="34" charset="-122"/>
                          <a:cs typeface="Arial" pitchFamily="34" charset="-120"/>
                        </a:rPr>
                        <a:t>Ikki tomonlama</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c>
                  <a:txBody>
                    <a:bodyPr/>
                    <a:lstStyle/>
                    <a:p>
                      <a:pPr algn="ctr" indent="0" marL="0">
                        <a:buNone/>
                      </a:pPr>
                      <a:r>
                        <a:rPr lang="en-US" sz="1400" b="1" dirty="0">
                          <a:solidFill>
                            <a:srgbClr val="1E1B4B"/>
                          </a:solidFill>
                          <a:latin typeface="Arial" pitchFamily="34" charset="0"/>
                          <a:ea typeface="Arial" pitchFamily="34" charset="-122"/>
                          <a:cs typeface="Arial" pitchFamily="34" charset="-120"/>
                        </a:rPr>
                        <a:t>Juda past</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c>
                  <a:txBody>
                    <a:bodyPr/>
                    <a:lstStyle/>
                    <a:p>
                      <a:pPr algn="ctr" indent="0" marL="0">
                        <a:buNone/>
                      </a:pPr>
                      <a:r>
                        <a:rPr lang="en-US" sz="1400" b="1" dirty="0">
                          <a:solidFill>
                            <a:srgbClr val="1E1B4B"/>
                          </a:solidFill>
                          <a:latin typeface="Arial" pitchFamily="34" charset="0"/>
                          <a:ea typeface="Arial" pitchFamily="34" charset="-122"/>
                          <a:cs typeface="Arial" pitchFamily="34" charset="-120"/>
                        </a:rPr>
                        <a:t>Barchasi (fallback)</a:t>
                      </a:r>
                      <a:endParaRPr lang="en-US" sz="1400" dirty="0">
                        <a:latin typeface="Arial" charset="0"/>
                        <a:ea typeface="Arial" charset="0"/>
                        <a:cs typeface="Arial" charset="0"/>
                      </a:endParaRPr>
                    </a:p>
                  </a:txBody>
                  <a:tcPr marL="73152" marR="73152" marT="36576" marB="36576"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0E7FF"/>
                    </a:solidFill>
                  </a:tcPr>
                </a:tc>
              </a:tr>
            </a:tbl>
          </a:graphicData>
        </a:graphic>
      </p:graphicFrame>
      <p:sp>
        <p:nvSpPr>
          <p:cNvPr id="6" name="Shape 3"/>
          <p:cNvSpPr/>
          <p:nvPr/>
        </p:nvSpPr>
        <p:spPr>
          <a:xfrm>
            <a:off x="7680960" y="1417320"/>
            <a:ext cx="3962095" cy="4389120"/>
          </a:xfrm>
          <a:prstGeom prst="roundRect">
            <a:avLst>
              <a:gd name="adj" fmla="val 2769"/>
            </a:avLst>
          </a:prstGeom>
          <a:solidFill>
            <a:srgbClr val="EEF2FF"/>
          </a:solidFill>
          <a:ln/>
        </p:spPr>
      </p:sp>
      <p:sp>
        <p:nvSpPr>
          <p:cNvPr id="7" name="Shape 4"/>
          <p:cNvSpPr/>
          <p:nvPr/>
        </p:nvSpPr>
        <p:spPr>
          <a:xfrm>
            <a:off x="7955280" y="1645920"/>
            <a:ext cx="548640" cy="548640"/>
          </a:xfrm>
          <a:prstGeom prst="ellipse">
            <a:avLst/>
          </a:prstGeom>
          <a:solidFill>
            <a:srgbClr val="4F46E5"/>
          </a:solidFill>
          <a:ln/>
        </p:spPr>
      </p:sp>
      <p:pic>
        <p:nvPicPr>
          <p:cNvPr id="8" name="Image 0" descr="C:\Users\Sardor\Desktop\diplom ish\diplom\generator\slides-cache\icons\zap-FFFFFF.png">    </p:cNvPr>
          <p:cNvPicPr>
            <a:picLocks noChangeAspect="1"/>
          </p:cNvPicPr>
          <p:nvPr/>
        </p:nvPicPr>
        <p:blipFill>
          <a:blip r:embed="rId1"/>
          <a:stretch>
            <a:fillRect/>
          </a:stretch>
        </p:blipFill>
        <p:spPr>
          <a:xfrm>
            <a:off x="8092440" y="1783080"/>
            <a:ext cx="274320" cy="274320"/>
          </a:xfrm>
          <a:prstGeom prst="rect">
            <a:avLst/>
          </a:prstGeom>
        </p:spPr>
      </p:pic>
      <p:sp>
        <p:nvSpPr>
          <p:cNvPr id="9" name="Text 5"/>
          <p:cNvSpPr txBox="1"/>
          <p:nvPr/>
        </p:nvSpPr>
        <p:spPr>
          <a:xfrm>
            <a:off x="8686800" y="1691640"/>
            <a:ext cx="2773375" cy="45720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Nega SignalR?</a:t>
            </a:r>
            <a:endParaRPr lang="en-US" sz="2000" dirty="0"/>
          </a:p>
        </p:txBody>
      </p:sp>
      <p:sp>
        <p:nvSpPr>
          <p:cNvPr id="10" name="Shape 6"/>
          <p:cNvSpPr/>
          <p:nvPr/>
        </p:nvSpPr>
        <p:spPr>
          <a:xfrm>
            <a:off x="7955280" y="2514600"/>
            <a:ext cx="1051560" cy="384048"/>
          </a:xfrm>
          <a:prstGeom prst="roundRect">
            <a:avLst>
              <a:gd name="adj" fmla="val 50000"/>
            </a:avLst>
          </a:prstGeom>
          <a:solidFill>
            <a:srgbClr val="FFFFFF"/>
          </a:solidFill>
          <a:ln w="12700">
            <a:solidFill>
              <a:srgbClr val="4F46E5"/>
            </a:solidFill>
            <a:prstDash val="solid"/>
          </a:ln>
        </p:spPr>
      </p:sp>
      <p:sp>
        <p:nvSpPr>
          <p:cNvPr id="11" name="Text 7"/>
          <p:cNvSpPr txBox="1"/>
          <p:nvPr/>
        </p:nvSpPr>
        <p:spPr>
          <a:xfrm>
            <a:off x="7955280" y="2514600"/>
            <a:ext cx="1051560" cy="384048"/>
          </a:xfrm>
          <a:prstGeom prst="rect">
            <a:avLst/>
          </a:prstGeom>
          <a:noFill/>
          <a:ln/>
        </p:spPr>
        <p:txBody>
          <a:bodyPr wrap="square" lIns="0" tIns="0" rIns="0" bIns="0" rtlCol="0" anchor="ctr"/>
          <a:lstStyle/>
          <a:p>
            <a:pPr algn="ctr" indent="0" marL="0">
              <a:buNone/>
            </a:pPr>
            <a:r>
              <a:rPr lang="en-US" sz="1100" b="1" dirty="0">
                <a:solidFill>
                  <a:srgbClr val="4F46E5"/>
                </a:solidFill>
                <a:latin typeface="Arial" pitchFamily="34" charset="0"/>
                <a:ea typeface="Arial" pitchFamily="34" charset="-122"/>
                <a:cs typeface="Arial" pitchFamily="34" charset="-120"/>
              </a:rPr>
              <a:t>WebSocket</a:t>
            </a:r>
            <a:endParaRPr lang="en-US" sz="1100" dirty="0"/>
          </a:p>
        </p:txBody>
      </p:sp>
      <p:pic>
        <p:nvPicPr>
          <p:cNvPr id="12" name="Image 1" descr="C:\Users\Sardor\Desktop\diplom ish\diplom\generator\slides-cache\icons\arrow-right-4F46E5.png">    </p:cNvPr>
          <p:cNvPicPr>
            <a:picLocks noChangeAspect="1"/>
          </p:cNvPicPr>
          <p:nvPr/>
        </p:nvPicPr>
        <p:blipFill>
          <a:blip r:embed="rId2"/>
          <a:stretch>
            <a:fillRect/>
          </a:stretch>
        </p:blipFill>
        <p:spPr>
          <a:xfrm>
            <a:off x="9052560" y="2606040"/>
            <a:ext cx="201168" cy="201168"/>
          </a:xfrm>
          <a:prstGeom prst="rect">
            <a:avLst/>
          </a:prstGeom>
        </p:spPr>
      </p:pic>
      <p:sp>
        <p:nvSpPr>
          <p:cNvPr id="13" name="Shape 8"/>
          <p:cNvSpPr/>
          <p:nvPr/>
        </p:nvSpPr>
        <p:spPr>
          <a:xfrm>
            <a:off x="9299448" y="2514600"/>
            <a:ext cx="566928" cy="384048"/>
          </a:xfrm>
          <a:prstGeom prst="roundRect">
            <a:avLst>
              <a:gd name="adj" fmla="val 50000"/>
            </a:avLst>
          </a:prstGeom>
          <a:solidFill>
            <a:srgbClr val="FFFFFF"/>
          </a:solidFill>
          <a:ln w="12700">
            <a:solidFill>
              <a:srgbClr val="4F46E5"/>
            </a:solidFill>
            <a:prstDash val="solid"/>
          </a:ln>
        </p:spPr>
      </p:sp>
      <p:sp>
        <p:nvSpPr>
          <p:cNvPr id="14" name="Text 9"/>
          <p:cNvSpPr txBox="1"/>
          <p:nvPr/>
        </p:nvSpPr>
        <p:spPr>
          <a:xfrm>
            <a:off x="9299448" y="2514600"/>
            <a:ext cx="566928" cy="384048"/>
          </a:xfrm>
          <a:prstGeom prst="rect">
            <a:avLst/>
          </a:prstGeom>
          <a:noFill/>
          <a:ln/>
        </p:spPr>
        <p:txBody>
          <a:bodyPr wrap="square" lIns="0" tIns="0" rIns="0" bIns="0" rtlCol="0" anchor="ctr"/>
          <a:lstStyle/>
          <a:p>
            <a:pPr algn="ctr" indent="0" marL="0">
              <a:buNone/>
            </a:pPr>
            <a:r>
              <a:rPr lang="en-US" sz="1100" b="1" dirty="0">
                <a:solidFill>
                  <a:srgbClr val="4F46E5"/>
                </a:solidFill>
                <a:latin typeface="Arial" pitchFamily="34" charset="0"/>
                <a:ea typeface="Arial" pitchFamily="34" charset="-122"/>
                <a:cs typeface="Arial" pitchFamily="34" charset="-120"/>
              </a:rPr>
              <a:t>SSE</a:t>
            </a:r>
            <a:endParaRPr lang="en-US" sz="1100" dirty="0"/>
          </a:p>
        </p:txBody>
      </p:sp>
      <p:pic>
        <p:nvPicPr>
          <p:cNvPr id="15" name="Image 2" descr="C:\Users\Sardor\Desktop\diplom ish\diplom\generator\slides-cache\icons\arrow-right-4F46E5.png">    </p:cNvPr>
          <p:cNvPicPr>
            <a:picLocks noChangeAspect="1"/>
          </p:cNvPicPr>
          <p:nvPr/>
        </p:nvPicPr>
        <p:blipFill>
          <a:blip r:embed="rId3"/>
          <a:stretch>
            <a:fillRect/>
          </a:stretch>
        </p:blipFill>
        <p:spPr>
          <a:xfrm>
            <a:off x="9912096" y="2606040"/>
            <a:ext cx="201168" cy="201168"/>
          </a:xfrm>
          <a:prstGeom prst="rect">
            <a:avLst/>
          </a:prstGeom>
        </p:spPr>
      </p:pic>
      <p:sp>
        <p:nvSpPr>
          <p:cNvPr id="16" name="Shape 10"/>
          <p:cNvSpPr/>
          <p:nvPr/>
        </p:nvSpPr>
        <p:spPr>
          <a:xfrm>
            <a:off x="10158984" y="2514600"/>
            <a:ext cx="1143000" cy="384048"/>
          </a:xfrm>
          <a:prstGeom prst="roundRect">
            <a:avLst>
              <a:gd name="adj" fmla="val 50000"/>
            </a:avLst>
          </a:prstGeom>
          <a:solidFill>
            <a:srgbClr val="FFFFFF"/>
          </a:solidFill>
          <a:ln w="12700">
            <a:solidFill>
              <a:srgbClr val="4F46E5"/>
            </a:solidFill>
            <a:prstDash val="solid"/>
          </a:ln>
        </p:spPr>
      </p:sp>
      <p:sp>
        <p:nvSpPr>
          <p:cNvPr id="17" name="Text 11"/>
          <p:cNvSpPr txBox="1"/>
          <p:nvPr/>
        </p:nvSpPr>
        <p:spPr>
          <a:xfrm>
            <a:off x="10158984" y="2514600"/>
            <a:ext cx="1143000" cy="384048"/>
          </a:xfrm>
          <a:prstGeom prst="rect">
            <a:avLst/>
          </a:prstGeom>
          <a:noFill/>
          <a:ln/>
        </p:spPr>
        <p:txBody>
          <a:bodyPr wrap="square" lIns="0" tIns="0" rIns="0" bIns="0" rtlCol="0" anchor="ctr"/>
          <a:lstStyle/>
          <a:p>
            <a:pPr algn="ctr" indent="0" marL="0">
              <a:buNone/>
            </a:pPr>
            <a:r>
              <a:rPr lang="en-US" sz="1100" b="1" dirty="0">
                <a:solidFill>
                  <a:srgbClr val="4F46E5"/>
                </a:solidFill>
                <a:latin typeface="Arial" pitchFamily="34" charset="0"/>
                <a:ea typeface="Arial" pitchFamily="34" charset="-122"/>
                <a:cs typeface="Arial" pitchFamily="34" charset="-120"/>
              </a:rPr>
              <a:t>Long polling</a:t>
            </a:r>
            <a:endParaRPr lang="en-US" sz="1100" dirty="0"/>
          </a:p>
        </p:txBody>
      </p:sp>
      <p:sp>
        <p:nvSpPr>
          <p:cNvPr id="18" name="Text 12"/>
          <p:cNvSpPr txBox="1"/>
          <p:nvPr/>
        </p:nvSpPr>
        <p:spPr>
          <a:xfrm>
            <a:off x="7955280" y="2971800"/>
            <a:ext cx="3413455"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transport avtomatik tanlanadi</a:t>
            </a:r>
            <a:endParaRPr lang="en-US" sz="1200" dirty="0"/>
          </a:p>
        </p:txBody>
      </p:sp>
      <p:sp>
        <p:nvSpPr>
          <p:cNvPr id="19" name="Text 13"/>
          <p:cNvSpPr txBox="1"/>
          <p:nvPr/>
        </p:nvSpPr>
        <p:spPr>
          <a:xfrm>
            <a:off x="7955280" y="3429000"/>
            <a:ext cx="3413455"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2937"/>
                </a:solidFill>
                <a:latin typeface="Arial" pitchFamily="34" charset="0"/>
                <a:ea typeface="Arial" pitchFamily="34" charset="-122"/>
                <a:cs typeface="Arial" pitchFamily="34" charset="-120"/>
              </a:rPr>
              <a:t>Hab (Hub) abstraksiyasi: server va mijoz bir-birining metodlarini chaqiradi</a:t>
            </a:r>
            <a:endParaRPr lang="en-US" sz="1400" dirty="0"/>
          </a:p>
          <a:p>
            <a:pPr marL="342900" indent="-342900">
              <a:spcAft>
                <a:spcPts val="1000"/>
              </a:spcAft>
              <a:buSzPct val="100000"/>
              <a:buChar char="•"/>
            </a:pPr>
            <a:r>
              <a:rPr lang="en-US" sz="1400" dirty="0">
                <a:solidFill>
                  <a:srgbClr val="1F2937"/>
                </a:solidFill>
                <a:latin typeface="Arial" pitchFamily="34" charset="0"/>
                <a:ea typeface="Arial" pitchFamily="34" charset="-122"/>
                <a:cs typeface="Arial" pitchFamily="34" charset="-120"/>
              </a:rPr>
              <a:t>Guruhlar, JWT autentifikatsiyasi va qayta ulanish tayyor holda</a:t>
            </a:r>
            <a:endParaRPr lang="en-US" sz="1400" dirty="0"/>
          </a:p>
          <a:p>
            <a:pPr marL="342900" indent="-342900">
              <a:spcAft>
                <a:spcPts val="1000"/>
              </a:spcAft>
              <a:buSzPct val="100000"/>
              <a:buChar char="•"/>
            </a:pPr>
            <a:r>
              <a:rPr lang="en-US" sz="1400" dirty="0">
                <a:solidFill>
                  <a:srgbClr val="1F2937"/>
                </a:solidFill>
                <a:latin typeface="Arial" pitchFamily="34" charset="0"/>
                <a:ea typeface="Arial" pitchFamily="34" charset="-122"/>
                <a:cs typeface="Arial" pitchFamily="34" charset="-120"/>
              </a:rPr>
              <a:t>.NET tarkibiy qismi; brauzer uchun rasmiy @microsoft/signalr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Tizimga qo‘yilgan talablar</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6 / 25</a:t>
            </a:r>
            <a:endParaRPr lang="en-US" sz="1000" dirty="0"/>
          </a:p>
        </p:txBody>
      </p:sp>
      <p:sp>
        <p:nvSpPr>
          <p:cNvPr id="5" name="Text 3"/>
          <p:cNvSpPr txBox="1"/>
          <p:nvPr/>
        </p:nvSpPr>
        <p:spPr>
          <a:xfrm>
            <a:off x="548640" y="1325880"/>
            <a:ext cx="1316736" cy="868680"/>
          </a:xfrm>
          <a:prstGeom prst="rect">
            <a:avLst/>
          </a:prstGeom>
          <a:noFill/>
          <a:ln/>
        </p:spPr>
        <p:txBody>
          <a:bodyPr wrap="square" lIns="0" tIns="0" rIns="0" bIns="0" rtlCol="0" anchor="ctr"/>
          <a:lstStyle/>
          <a:p>
            <a:pPr indent="0" marL="0">
              <a:buNone/>
            </a:pPr>
            <a:r>
              <a:rPr lang="en-US" sz="5400" b="1" dirty="0">
                <a:solidFill>
                  <a:srgbClr val="4F46E5"/>
                </a:solidFill>
                <a:latin typeface="Arial" pitchFamily="34" charset="0"/>
                <a:ea typeface="Arial" pitchFamily="34" charset="-122"/>
                <a:cs typeface="Arial" pitchFamily="34" charset="-120"/>
              </a:rPr>
              <a:t>19</a:t>
            </a:r>
            <a:endParaRPr lang="en-US" sz="5400" dirty="0"/>
          </a:p>
        </p:txBody>
      </p:sp>
      <p:sp>
        <p:nvSpPr>
          <p:cNvPr id="6" name="Text 4"/>
          <p:cNvSpPr txBox="1"/>
          <p:nvPr/>
        </p:nvSpPr>
        <p:spPr>
          <a:xfrm>
            <a:off x="1865376" y="1417320"/>
            <a:ext cx="2615184" cy="73152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funksional talab</a:t>
            </a:r>
            <a:endParaRPr lang="en-US" sz="1800" dirty="0"/>
          </a:p>
        </p:txBody>
      </p:sp>
      <p:sp>
        <p:nvSpPr>
          <p:cNvPr id="7" name="Text 5"/>
          <p:cNvSpPr txBox="1"/>
          <p:nvPr/>
        </p:nvSpPr>
        <p:spPr>
          <a:xfrm>
            <a:off x="548640" y="2377440"/>
            <a:ext cx="3931920" cy="3657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Kirish: e-pochta kodi yoki Google</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Profil va faol sessiyalar</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Shaxsiy va guruh chatlari</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Javob, tahrirlash, o‘chirish, qidiruv</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Rasm, video va fayllar</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“Yozmoqda”, o‘qildi, onlayn holat</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Reaksiyalar, bloklash, 24 soatlik lavhalar</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Forum: postlar, obunalar, top lenta</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Desktop bildirishnomalar</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Yorug‘ / qorong‘i mavzu, mobil ko‘rinish</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Lotin↔kirill, tashkilot, maxfiy chat</a:t>
            </a:r>
            <a:endParaRPr lang="en-US" sz="1400" dirty="0"/>
          </a:p>
        </p:txBody>
      </p:sp>
      <p:sp>
        <p:nvSpPr>
          <p:cNvPr id="8" name="Text 6"/>
          <p:cNvSpPr txBox="1"/>
          <p:nvPr/>
        </p:nvSpPr>
        <p:spPr>
          <a:xfrm>
            <a:off x="4754880" y="1325880"/>
            <a:ext cx="749808" cy="868680"/>
          </a:xfrm>
          <a:prstGeom prst="rect">
            <a:avLst/>
          </a:prstGeom>
          <a:noFill/>
          <a:ln/>
        </p:spPr>
        <p:txBody>
          <a:bodyPr wrap="square" lIns="0" tIns="0" rIns="0" bIns="0" rtlCol="0" anchor="ctr"/>
          <a:lstStyle/>
          <a:p>
            <a:pPr indent="0" marL="0">
              <a:buNone/>
            </a:pPr>
            <a:r>
              <a:rPr lang="en-US" sz="5400" b="1" dirty="0">
                <a:solidFill>
                  <a:srgbClr val="4F46E5"/>
                </a:solidFill>
                <a:latin typeface="Arial" pitchFamily="34" charset="0"/>
                <a:ea typeface="Arial" pitchFamily="34" charset="-122"/>
                <a:cs typeface="Arial" pitchFamily="34" charset="-120"/>
              </a:rPr>
              <a:t>4</a:t>
            </a:r>
            <a:endParaRPr lang="en-US" sz="5400" dirty="0"/>
          </a:p>
        </p:txBody>
      </p:sp>
      <p:sp>
        <p:nvSpPr>
          <p:cNvPr id="9" name="Text 7"/>
          <p:cNvSpPr txBox="1"/>
          <p:nvPr/>
        </p:nvSpPr>
        <p:spPr>
          <a:xfrm>
            <a:off x="5504688" y="1417320"/>
            <a:ext cx="2999232" cy="73152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nofunksional talab</a:t>
            </a:r>
            <a:endParaRPr lang="en-US" sz="1800" dirty="0"/>
          </a:p>
        </p:txBody>
      </p:sp>
      <p:sp>
        <p:nvSpPr>
          <p:cNvPr id="10" name="Text 8"/>
          <p:cNvSpPr txBox="1"/>
          <p:nvPr/>
        </p:nvSpPr>
        <p:spPr>
          <a:xfrm>
            <a:off x="4754880" y="2377440"/>
            <a:ext cx="3749040" cy="3657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Unumdorlik: xabar &lt; 1 soniyada</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Xavfsizlik: HTTPS, xeshlar, chastota cheklovi</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Ishonchlilik va kengaytiriluvchanlik</a:t>
            </a:r>
            <a:endParaRPr lang="en-US" sz="1400" dirty="0"/>
          </a:p>
          <a:p>
            <a:pPr marL="342900" indent="-342900">
              <a:spcAft>
                <a:spcPts val="700"/>
              </a:spcAft>
              <a:buSzPct val="100000"/>
              <a:buChar char="•"/>
            </a:pPr>
            <a:r>
              <a:rPr lang="en-US" sz="1400" dirty="0">
                <a:solidFill>
                  <a:srgbClr val="1F2937"/>
                </a:solidFill>
                <a:latin typeface="Arial" pitchFamily="34" charset="0"/>
                <a:ea typeface="Arial" pitchFamily="34" charset="-122"/>
                <a:cs typeface="Arial" pitchFamily="34" charset="-120"/>
              </a:rPr>
              <a:t>Ko‘chiriluvchanlik: Docker</a:t>
            </a:r>
            <a:endParaRPr lang="en-US" sz="1400" dirty="0"/>
          </a:p>
        </p:txBody>
      </p:sp>
      <p:sp>
        <p:nvSpPr>
          <p:cNvPr id="11" name="Shape 9"/>
          <p:cNvSpPr/>
          <p:nvPr/>
        </p:nvSpPr>
        <p:spPr>
          <a:xfrm>
            <a:off x="8686800" y="1371600"/>
            <a:ext cx="2956255" cy="4663440"/>
          </a:xfrm>
          <a:prstGeom prst="roundRect">
            <a:avLst>
              <a:gd name="adj" fmla="val 3712"/>
            </a:avLst>
          </a:prstGeom>
          <a:solidFill>
            <a:srgbClr val="1E1B4B"/>
          </a:solidFill>
          <a:ln/>
        </p:spPr>
      </p:sp>
      <p:sp>
        <p:nvSpPr>
          <p:cNvPr id="12" name="Text 10"/>
          <p:cNvSpPr txBox="1"/>
          <p:nvPr/>
        </p:nvSpPr>
        <p:spPr>
          <a:xfrm>
            <a:off x="8961120" y="1600200"/>
            <a:ext cx="2407615"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Tizim aktorlari</a:t>
            </a:r>
            <a:endParaRPr lang="en-US" sz="1800" dirty="0"/>
          </a:p>
        </p:txBody>
      </p:sp>
      <p:sp>
        <p:nvSpPr>
          <p:cNvPr id="13" name="Shape 11"/>
          <p:cNvSpPr/>
          <p:nvPr/>
        </p:nvSpPr>
        <p:spPr>
          <a:xfrm>
            <a:off x="8961120" y="2286000"/>
            <a:ext cx="548640" cy="548640"/>
          </a:xfrm>
          <a:prstGeom prst="ellipse">
            <a:avLst/>
          </a:prstGeom>
          <a:solidFill>
            <a:srgbClr val="4F46E5"/>
          </a:solidFill>
          <a:ln/>
        </p:spPr>
      </p:sp>
      <p:pic>
        <p:nvPicPr>
          <p:cNvPr id="14" name="Image 0" descr="C:\Users\Sardor\Desktop\diplom ish\diplom\generator\slides-cache\icons\user-FFFFFF.png">    </p:cNvPr>
          <p:cNvPicPr>
            <a:picLocks noChangeAspect="1"/>
          </p:cNvPicPr>
          <p:nvPr/>
        </p:nvPicPr>
        <p:blipFill>
          <a:blip r:embed="rId1"/>
          <a:stretch>
            <a:fillRect/>
          </a:stretch>
        </p:blipFill>
        <p:spPr>
          <a:xfrm>
            <a:off x="9098280" y="2423160"/>
            <a:ext cx="274320" cy="274320"/>
          </a:xfrm>
          <a:prstGeom prst="rect">
            <a:avLst/>
          </a:prstGeom>
        </p:spPr>
      </p:pic>
      <p:sp>
        <p:nvSpPr>
          <p:cNvPr id="15" name="Text 12"/>
          <p:cNvSpPr txBox="1"/>
          <p:nvPr/>
        </p:nvSpPr>
        <p:spPr>
          <a:xfrm>
            <a:off x="9692640" y="2249424"/>
            <a:ext cx="1767535"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Mehmon</a:t>
            </a:r>
            <a:endParaRPr lang="en-US" sz="1600" dirty="0"/>
          </a:p>
        </p:txBody>
      </p:sp>
      <p:sp>
        <p:nvSpPr>
          <p:cNvPr id="16" name="Text 13"/>
          <p:cNvSpPr txBox="1"/>
          <p:nvPr/>
        </p:nvSpPr>
        <p:spPr>
          <a:xfrm>
            <a:off x="9692640" y="2578608"/>
            <a:ext cx="1767535" cy="548640"/>
          </a:xfrm>
          <a:prstGeom prst="rect">
            <a:avLst/>
          </a:prstGeom>
          <a:noFill/>
          <a:ln/>
        </p:spPr>
        <p:txBody>
          <a:bodyPr wrap="square" lIns="0" tIns="0" rIns="0" bIns="0" rtlCol="0" anchor="t"/>
          <a:lstStyle/>
          <a:p>
            <a:pPr indent="0" marL="0">
              <a:buNone/>
            </a:pPr>
            <a:r>
              <a:rPr lang="en-US" sz="1300" dirty="0">
                <a:solidFill>
                  <a:srgbClr val="C7D2FE"/>
                </a:solidFill>
                <a:latin typeface="Arial" pitchFamily="34" charset="0"/>
                <a:ea typeface="Arial" pitchFamily="34" charset="-122"/>
                <a:cs typeface="Arial" pitchFamily="34" charset="-120"/>
              </a:rPr>
              <a:t>kirish, ro‘yxatdan o‘tish</a:t>
            </a:r>
            <a:endParaRPr lang="en-US" sz="1300" dirty="0"/>
          </a:p>
        </p:txBody>
      </p:sp>
      <p:sp>
        <p:nvSpPr>
          <p:cNvPr id="17" name="Shape 14"/>
          <p:cNvSpPr/>
          <p:nvPr/>
        </p:nvSpPr>
        <p:spPr>
          <a:xfrm>
            <a:off x="8961120" y="3474720"/>
            <a:ext cx="548640" cy="548640"/>
          </a:xfrm>
          <a:prstGeom prst="ellipse">
            <a:avLst/>
          </a:prstGeom>
          <a:solidFill>
            <a:srgbClr val="4F46E5"/>
          </a:solidFill>
          <a:ln/>
        </p:spPr>
      </p:sp>
      <p:pic>
        <p:nvPicPr>
          <p:cNvPr id="18" name="Image 1" descr="C:\Users\Sardor\Desktop\diplom ish\diplom\generator\slides-cache\icons\users-FFFFFF.png">    </p:cNvPr>
          <p:cNvPicPr>
            <a:picLocks noChangeAspect="1"/>
          </p:cNvPicPr>
          <p:nvPr/>
        </p:nvPicPr>
        <p:blipFill>
          <a:blip r:embed="rId2"/>
          <a:stretch>
            <a:fillRect/>
          </a:stretch>
        </p:blipFill>
        <p:spPr>
          <a:xfrm>
            <a:off x="9098280" y="3611880"/>
            <a:ext cx="274320" cy="274320"/>
          </a:xfrm>
          <a:prstGeom prst="rect">
            <a:avLst/>
          </a:prstGeom>
        </p:spPr>
      </p:pic>
      <p:sp>
        <p:nvSpPr>
          <p:cNvPr id="19" name="Text 15"/>
          <p:cNvSpPr txBox="1"/>
          <p:nvPr/>
        </p:nvSpPr>
        <p:spPr>
          <a:xfrm>
            <a:off x="9692640" y="3438144"/>
            <a:ext cx="1767535"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Foydalanuvchi</a:t>
            </a:r>
            <a:endParaRPr lang="en-US" sz="1600" dirty="0"/>
          </a:p>
        </p:txBody>
      </p:sp>
      <p:sp>
        <p:nvSpPr>
          <p:cNvPr id="20" name="Text 16"/>
          <p:cNvSpPr txBox="1"/>
          <p:nvPr/>
        </p:nvSpPr>
        <p:spPr>
          <a:xfrm>
            <a:off x="9692640" y="3767328"/>
            <a:ext cx="1767535" cy="548640"/>
          </a:xfrm>
          <a:prstGeom prst="rect">
            <a:avLst/>
          </a:prstGeom>
          <a:noFill/>
          <a:ln/>
        </p:spPr>
        <p:txBody>
          <a:bodyPr wrap="square" lIns="0" tIns="0" rIns="0" bIns="0" rtlCol="0" anchor="t"/>
          <a:lstStyle/>
          <a:p>
            <a:pPr indent="0" marL="0">
              <a:buNone/>
            </a:pPr>
            <a:r>
              <a:rPr lang="en-US" sz="1300" dirty="0">
                <a:solidFill>
                  <a:srgbClr val="C7D2FE"/>
                </a:solidFill>
                <a:latin typeface="Arial" pitchFamily="34" charset="0"/>
                <a:ea typeface="Arial" pitchFamily="34" charset="-122"/>
                <a:cs typeface="Arial" pitchFamily="34" charset="-120"/>
              </a:rPr>
              <a:t>chatlar, forum, lavhalar, reaksiyalar</a:t>
            </a:r>
            <a:endParaRPr lang="en-US" sz="1300" dirty="0"/>
          </a:p>
        </p:txBody>
      </p:sp>
      <p:sp>
        <p:nvSpPr>
          <p:cNvPr id="21" name="Shape 17"/>
          <p:cNvSpPr/>
          <p:nvPr/>
        </p:nvSpPr>
        <p:spPr>
          <a:xfrm>
            <a:off x="8961120" y="4663440"/>
            <a:ext cx="548640" cy="548640"/>
          </a:xfrm>
          <a:prstGeom prst="ellipse">
            <a:avLst/>
          </a:prstGeom>
          <a:solidFill>
            <a:srgbClr val="4F46E5"/>
          </a:solidFill>
          <a:ln/>
        </p:spPr>
      </p:sp>
      <p:pic>
        <p:nvPicPr>
          <p:cNvPr id="22" name="Image 2" descr="C:\Users\Sardor\Desktop\diplom ish\diplom\generator\slides-cache\icons\crown-FFFFFF.png">    </p:cNvPr>
          <p:cNvPicPr>
            <a:picLocks noChangeAspect="1"/>
          </p:cNvPicPr>
          <p:nvPr/>
        </p:nvPicPr>
        <p:blipFill>
          <a:blip r:embed="rId3"/>
          <a:stretch>
            <a:fillRect/>
          </a:stretch>
        </p:blipFill>
        <p:spPr>
          <a:xfrm>
            <a:off x="9098280" y="4800600"/>
            <a:ext cx="274320" cy="274320"/>
          </a:xfrm>
          <a:prstGeom prst="rect">
            <a:avLst/>
          </a:prstGeom>
        </p:spPr>
      </p:pic>
      <p:sp>
        <p:nvSpPr>
          <p:cNvPr id="23" name="Text 18"/>
          <p:cNvSpPr txBox="1"/>
          <p:nvPr/>
        </p:nvSpPr>
        <p:spPr>
          <a:xfrm>
            <a:off x="9692640" y="4626864"/>
            <a:ext cx="1767535"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Guruh egasi</a:t>
            </a:r>
            <a:endParaRPr lang="en-US" sz="1600" dirty="0"/>
          </a:p>
        </p:txBody>
      </p:sp>
      <p:sp>
        <p:nvSpPr>
          <p:cNvPr id="24" name="Text 19"/>
          <p:cNvSpPr txBox="1"/>
          <p:nvPr/>
        </p:nvSpPr>
        <p:spPr>
          <a:xfrm>
            <a:off x="9692640" y="4956048"/>
            <a:ext cx="1767535" cy="548640"/>
          </a:xfrm>
          <a:prstGeom prst="rect">
            <a:avLst/>
          </a:prstGeom>
          <a:noFill/>
          <a:ln/>
        </p:spPr>
        <p:txBody>
          <a:bodyPr wrap="square" lIns="0" tIns="0" rIns="0" bIns="0" rtlCol="0" anchor="t"/>
          <a:lstStyle/>
          <a:p>
            <a:pPr indent="0" marL="0">
              <a:buNone/>
            </a:pPr>
            <a:r>
              <a:rPr lang="en-US" sz="1300" dirty="0">
                <a:solidFill>
                  <a:srgbClr val="C7D2FE"/>
                </a:solidFill>
                <a:latin typeface="Arial" pitchFamily="34" charset="0"/>
                <a:ea typeface="Arial" pitchFamily="34" charset="-122"/>
                <a:cs typeface="Arial" pitchFamily="34" charset="-120"/>
              </a:rPr>
              <a:t>a’zolar va rollarni boshqarish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Texnologiyalar steki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7 / 25</a:t>
            </a:r>
            <a:endParaRPr lang="en-US" sz="1000" dirty="0"/>
          </a:p>
        </p:txBody>
      </p:sp>
      <p:sp>
        <p:nvSpPr>
          <p:cNvPr id="5" name="Shape 3"/>
          <p:cNvSpPr/>
          <p:nvPr/>
        </p:nvSpPr>
        <p:spPr>
          <a:xfrm>
            <a:off x="548640" y="1371600"/>
            <a:ext cx="3484778" cy="4069080"/>
          </a:xfrm>
          <a:prstGeom prst="roundRect">
            <a:avLst>
              <a:gd name="adj" fmla="val 3149"/>
            </a:avLst>
          </a:prstGeom>
          <a:solidFill>
            <a:srgbClr val="1E1B4B"/>
          </a:solidFill>
          <a:ln/>
        </p:spPr>
      </p:sp>
      <p:sp>
        <p:nvSpPr>
          <p:cNvPr id="6" name="Shape 4"/>
          <p:cNvSpPr/>
          <p:nvPr/>
        </p:nvSpPr>
        <p:spPr>
          <a:xfrm>
            <a:off x="868680" y="1645920"/>
            <a:ext cx="640080" cy="640080"/>
          </a:xfrm>
          <a:prstGeom prst="ellipse">
            <a:avLst/>
          </a:prstGeom>
          <a:solidFill>
            <a:srgbClr val="4F46E5"/>
          </a:solidFill>
          <a:ln/>
        </p:spPr>
      </p:sp>
      <p:pic>
        <p:nvPicPr>
          <p:cNvPr id="7" name="Image 0" descr="C:\Users\Sardor\Desktop\diplom ish\diplom\generator\slides-cache\icons\server-FFFFFF.png">    </p:cNvPr>
          <p:cNvPicPr>
            <a:picLocks noChangeAspect="1"/>
          </p:cNvPicPr>
          <p:nvPr/>
        </p:nvPicPr>
        <p:blipFill>
          <a:blip r:embed="rId1"/>
          <a:stretch>
            <a:fillRect/>
          </a:stretch>
        </p:blipFill>
        <p:spPr>
          <a:xfrm>
            <a:off x="1028700" y="1805940"/>
            <a:ext cx="320040" cy="320040"/>
          </a:xfrm>
          <a:prstGeom prst="rect">
            <a:avLst/>
          </a:prstGeom>
        </p:spPr>
      </p:pic>
      <p:sp>
        <p:nvSpPr>
          <p:cNvPr id="8" name="Text 5"/>
          <p:cNvSpPr txBox="1"/>
          <p:nvPr/>
        </p:nvSpPr>
        <p:spPr>
          <a:xfrm>
            <a:off x="1691640" y="1691640"/>
            <a:ext cx="2204618" cy="54864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Server qismi</a:t>
            </a:r>
            <a:endParaRPr lang="en-US" sz="2000" dirty="0"/>
          </a:p>
        </p:txBody>
      </p:sp>
      <p:sp>
        <p:nvSpPr>
          <p:cNvPr id="9" name="Text 6"/>
          <p:cNvSpPr txBox="1"/>
          <p:nvPr/>
        </p:nvSpPr>
        <p:spPr>
          <a:xfrm>
            <a:off x="868680" y="2514600"/>
            <a:ext cx="293613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.NET 8, ASP.NET Core</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SignalR — real vaqt</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Entity Framework Core 8</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PostgreSQL 16</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FluentValidation, JWT</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Redis — onlayn holat</a:t>
            </a:r>
            <a:endParaRPr lang="en-US" sz="1500" dirty="0"/>
          </a:p>
        </p:txBody>
      </p:sp>
      <p:sp>
        <p:nvSpPr>
          <p:cNvPr id="10" name="Shape 7"/>
          <p:cNvSpPr/>
          <p:nvPr/>
        </p:nvSpPr>
        <p:spPr>
          <a:xfrm>
            <a:off x="4353458" y="1371600"/>
            <a:ext cx="3484778" cy="4069080"/>
          </a:xfrm>
          <a:prstGeom prst="roundRect">
            <a:avLst>
              <a:gd name="adj" fmla="val 3149"/>
            </a:avLst>
          </a:prstGeom>
          <a:solidFill>
            <a:srgbClr val="EEF2FF"/>
          </a:solidFill>
          <a:ln/>
        </p:spPr>
      </p:sp>
      <p:sp>
        <p:nvSpPr>
          <p:cNvPr id="11" name="Shape 8"/>
          <p:cNvSpPr/>
          <p:nvPr/>
        </p:nvSpPr>
        <p:spPr>
          <a:xfrm>
            <a:off x="4673498" y="1645920"/>
            <a:ext cx="640080" cy="640080"/>
          </a:xfrm>
          <a:prstGeom prst="ellipse">
            <a:avLst/>
          </a:prstGeom>
          <a:solidFill>
            <a:srgbClr val="4F46E5"/>
          </a:solidFill>
          <a:ln/>
        </p:spPr>
      </p:sp>
      <p:pic>
        <p:nvPicPr>
          <p:cNvPr id="12" name="Image 1" descr="C:\Users\Sardor\Desktop\diplom ish\diplom\generator\slides-cache\icons\monitor-FFFFFF.png">    </p:cNvPr>
          <p:cNvPicPr>
            <a:picLocks noChangeAspect="1"/>
          </p:cNvPicPr>
          <p:nvPr/>
        </p:nvPicPr>
        <p:blipFill>
          <a:blip r:embed="rId2"/>
          <a:stretch>
            <a:fillRect/>
          </a:stretch>
        </p:blipFill>
        <p:spPr>
          <a:xfrm>
            <a:off x="4833518" y="1805940"/>
            <a:ext cx="320040" cy="320040"/>
          </a:xfrm>
          <a:prstGeom prst="rect">
            <a:avLst/>
          </a:prstGeom>
        </p:spPr>
      </p:pic>
      <p:sp>
        <p:nvSpPr>
          <p:cNvPr id="13" name="Text 9"/>
          <p:cNvSpPr txBox="1"/>
          <p:nvPr/>
        </p:nvSpPr>
        <p:spPr>
          <a:xfrm>
            <a:off x="5496458" y="1691640"/>
            <a:ext cx="2204618" cy="54864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Klient qismi</a:t>
            </a:r>
            <a:endParaRPr lang="en-US" sz="2000" dirty="0"/>
          </a:p>
        </p:txBody>
      </p:sp>
      <p:sp>
        <p:nvSpPr>
          <p:cNvPr id="14" name="Text 10"/>
          <p:cNvSpPr txBox="1"/>
          <p:nvPr/>
        </p:nvSpPr>
        <p:spPr>
          <a:xfrm>
            <a:off x="4673498" y="2514600"/>
            <a:ext cx="293613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Angular 22 (standalone, signals)</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TypeScript, RxJS</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@microsoft/signalr</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Google Identity Services</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O‘z dizayn tizimi (SCSS)</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Web Crypto API — E2E</a:t>
            </a:r>
            <a:endParaRPr lang="en-US" sz="1500" dirty="0"/>
          </a:p>
        </p:txBody>
      </p:sp>
      <p:sp>
        <p:nvSpPr>
          <p:cNvPr id="15" name="Shape 11"/>
          <p:cNvSpPr/>
          <p:nvPr/>
        </p:nvSpPr>
        <p:spPr>
          <a:xfrm>
            <a:off x="8158277" y="1371600"/>
            <a:ext cx="3484778" cy="4069080"/>
          </a:xfrm>
          <a:prstGeom prst="roundRect">
            <a:avLst>
              <a:gd name="adj" fmla="val 3149"/>
            </a:avLst>
          </a:prstGeom>
          <a:solidFill>
            <a:srgbClr val="EEF2FF"/>
          </a:solidFill>
          <a:ln/>
        </p:spPr>
      </p:sp>
      <p:sp>
        <p:nvSpPr>
          <p:cNvPr id="16" name="Shape 12"/>
          <p:cNvSpPr/>
          <p:nvPr/>
        </p:nvSpPr>
        <p:spPr>
          <a:xfrm>
            <a:off x="8478317" y="1645920"/>
            <a:ext cx="640080" cy="640080"/>
          </a:xfrm>
          <a:prstGeom prst="ellipse">
            <a:avLst/>
          </a:prstGeom>
          <a:solidFill>
            <a:srgbClr val="4F46E5"/>
          </a:solidFill>
          <a:ln/>
        </p:spPr>
      </p:sp>
      <p:pic>
        <p:nvPicPr>
          <p:cNvPr id="17" name="Image 2" descr="C:\Users\Sardor\Desktop\diplom ish\diplom\generator\slides-cache\icons\container-FFFFFF.png">    </p:cNvPr>
          <p:cNvPicPr>
            <a:picLocks noChangeAspect="1"/>
          </p:cNvPicPr>
          <p:nvPr/>
        </p:nvPicPr>
        <p:blipFill>
          <a:blip r:embed="rId3"/>
          <a:stretch>
            <a:fillRect/>
          </a:stretch>
        </p:blipFill>
        <p:spPr>
          <a:xfrm>
            <a:off x="8638337" y="1805940"/>
            <a:ext cx="320040" cy="320040"/>
          </a:xfrm>
          <a:prstGeom prst="rect">
            <a:avLst/>
          </a:prstGeom>
        </p:spPr>
      </p:pic>
      <p:sp>
        <p:nvSpPr>
          <p:cNvPr id="18" name="Text 13"/>
          <p:cNvSpPr txBox="1"/>
          <p:nvPr/>
        </p:nvSpPr>
        <p:spPr>
          <a:xfrm>
            <a:off x="9301277" y="1691640"/>
            <a:ext cx="2204618" cy="54864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Infratuzilma</a:t>
            </a:r>
            <a:endParaRPr lang="en-US" sz="2000" dirty="0"/>
          </a:p>
        </p:txBody>
      </p:sp>
      <p:sp>
        <p:nvSpPr>
          <p:cNvPr id="19" name="Text 14"/>
          <p:cNvSpPr txBox="1"/>
          <p:nvPr/>
        </p:nvSpPr>
        <p:spPr>
          <a:xfrm>
            <a:off x="8478317" y="2514600"/>
            <a:ext cx="293613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Docker (multi-stage)</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Render bulut platformasi</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SMTP — kodlar yuborish</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ClamAV — antivirus</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ImageSharp, FFmpeg — media</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Git va GitHub</a:t>
            </a:r>
            <a:endParaRPr lang="en-US" sz="1500" dirty="0"/>
          </a:p>
        </p:txBody>
      </p:sp>
      <p:pic>
        <p:nvPicPr>
          <p:cNvPr id="20" name="Image 3" descr="C:\Users\Sardor\Desktop\diplom ish\diplom\generator\slides-cache\icons\check-059669.png">    </p:cNvPr>
          <p:cNvPicPr>
            <a:picLocks noChangeAspect="1"/>
          </p:cNvPicPr>
          <p:nvPr/>
        </p:nvPicPr>
        <p:blipFill>
          <a:blip r:embed="rId4"/>
          <a:stretch>
            <a:fillRect/>
          </a:stretch>
        </p:blipFill>
        <p:spPr>
          <a:xfrm>
            <a:off x="548640" y="5696712"/>
            <a:ext cx="310896" cy="310896"/>
          </a:xfrm>
          <a:prstGeom prst="rect">
            <a:avLst/>
          </a:prstGeom>
        </p:spPr>
      </p:pic>
      <p:sp>
        <p:nvSpPr>
          <p:cNvPr id="21" name="Text 15"/>
          <p:cNvSpPr txBox="1"/>
          <p:nvPr/>
        </p:nvSpPr>
        <p:spPr>
          <a:xfrm>
            <a:off x="1005840" y="5623560"/>
            <a:ext cx="10637215" cy="457200"/>
          </a:xfrm>
          <a:prstGeom prst="rect">
            <a:avLst/>
          </a:prstGeom>
          <a:noFill/>
          <a:ln/>
        </p:spPr>
        <p:txBody>
          <a:bodyPr wrap="square" lIns="0" tIns="0" rIns="0" bIns="0" rtlCol="0" anchor="ctr"/>
          <a:lstStyle/>
          <a:p>
            <a:pPr indent="0" marL="0">
              <a:buNone/>
            </a:pPr>
            <a:r>
              <a:rPr lang="en-US" sz="1500" dirty="0">
                <a:solidFill>
                  <a:srgbClr val="1E1B4B"/>
                </a:solidFill>
                <a:latin typeface="Arial" pitchFamily="34" charset="0"/>
                <a:ea typeface="Arial" pitchFamily="34" charset="-122"/>
                <a:cs typeface="Arial" pitchFamily="34" charset="-120"/>
              </a:rPr>
              <a:t>Barcha texnologiyalar ochiq kodli va bepul — litsenziya xarajati yo‘q.</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Tizim arxitekturasi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8 / 25</a:t>
            </a:r>
            <a:endParaRPr lang="en-US" sz="1000" dirty="0"/>
          </a:p>
        </p:txBody>
      </p:sp>
      <p:sp>
        <p:nvSpPr>
          <p:cNvPr id="5" name="Text 3"/>
          <p:cNvSpPr txBox="1"/>
          <p:nvPr/>
        </p:nvSpPr>
        <p:spPr>
          <a:xfrm>
            <a:off x="548640" y="1325880"/>
            <a:ext cx="5486400" cy="365760"/>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Clean Architecture — server qatlamlari</a:t>
            </a:r>
            <a:endParaRPr lang="en-US" sz="1500" dirty="0"/>
          </a:p>
        </p:txBody>
      </p:sp>
      <p:sp>
        <p:nvSpPr>
          <p:cNvPr id="6" name="Shape 4"/>
          <p:cNvSpPr/>
          <p:nvPr/>
        </p:nvSpPr>
        <p:spPr>
          <a:xfrm>
            <a:off x="1188720" y="1783080"/>
            <a:ext cx="4846320" cy="914400"/>
          </a:xfrm>
          <a:prstGeom prst="roundRect">
            <a:avLst>
              <a:gd name="adj" fmla="val 10000"/>
            </a:avLst>
          </a:prstGeom>
          <a:solidFill>
            <a:srgbClr val="E0E7FF"/>
          </a:solidFill>
          <a:ln/>
        </p:spPr>
      </p:sp>
      <p:sp>
        <p:nvSpPr>
          <p:cNvPr id="7" name="Text 5"/>
          <p:cNvSpPr txBox="1"/>
          <p:nvPr/>
        </p:nvSpPr>
        <p:spPr>
          <a:xfrm>
            <a:off x="1417320" y="1783080"/>
            <a:ext cx="4480560" cy="9144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API</a:t>
            </a:r>
            <a:endParaRPr lang="en-US" sz="1700" dirty="0"/>
          </a:p>
          <a:p>
            <a:pPr indent="0" marL="0">
              <a:buNone/>
            </a:pPr>
            <a:r>
              <a:rPr lang="en-US" sz="1300" dirty="0">
                <a:solidFill>
                  <a:srgbClr val="1E1B4B"/>
                </a:solidFill>
                <a:latin typeface="Arial" pitchFamily="34" charset="0"/>
                <a:ea typeface="Arial" pitchFamily="34" charset="-122"/>
                <a:cs typeface="Arial" pitchFamily="34" charset="-120"/>
              </a:rPr>
              <a:t>Controllerlar, ChatHub (SignalR), middleware</a:t>
            </a:r>
            <a:endParaRPr lang="en-US" sz="1700" dirty="0"/>
          </a:p>
        </p:txBody>
      </p:sp>
      <p:sp>
        <p:nvSpPr>
          <p:cNvPr id="8" name="Shape 6"/>
          <p:cNvSpPr/>
          <p:nvPr/>
        </p:nvSpPr>
        <p:spPr>
          <a:xfrm>
            <a:off x="1188720" y="2862072"/>
            <a:ext cx="4846320" cy="914400"/>
          </a:xfrm>
          <a:prstGeom prst="roundRect">
            <a:avLst>
              <a:gd name="adj" fmla="val 10000"/>
            </a:avLst>
          </a:prstGeom>
          <a:solidFill>
            <a:srgbClr val="C7D2FE"/>
          </a:solidFill>
          <a:ln/>
        </p:spPr>
      </p:sp>
      <p:sp>
        <p:nvSpPr>
          <p:cNvPr id="9" name="Text 7"/>
          <p:cNvSpPr txBox="1"/>
          <p:nvPr/>
        </p:nvSpPr>
        <p:spPr>
          <a:xfrm>
            <a:off x="1417320" y="2862072"/>
            <a:ext cx="4480560" cy="9144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Infrastructure</a:t>
            </a:r>
            <a:endParaRPr lang="en-US" sz="1700" dirty="0"/>
          </a:p>
          <a:p>
            <a:pPr indent="0" marL="0">
              <a:buNone/>
            </a:pPr>
            <a:r>
              <a:rPr lang="en-US" sz="1300" dirty="0">
                <a:solidFill>
                  <a:srgbClr val="1E1B4B"/>
                </a:solidFill>
                <a:latin typeface="Arial" pitchFamily="34" charset="0"/>
                <a:ea typeface="Arial" pitchFamily="34" charset="-122"/>
                <a:cs typeface="Arial" pitchFamily="34" charset="-120"/>
              </a:rPr>
              <a:t>EF Core, JWT, PBKDF2 / HMAC, SMTP, ClamAV, Redis</a:t>
            </a:r>
            <a:endParaRPr lang="en-US" sz="1700" dirty="0"/>
          </a:p>
        </p:txBody>
      </p:sp>
      <p:sp>
        <p:nvSpPr>
          <p:cNvPr id="10" name="Shape 8"/>
          <p:cNvSpPr/>
          <p:nvPr/>
        </p:nvSpPr>
        <p:spPr>
          <a:xfrm>
            <a:off x="1188720" y="3941064"/>
            <a:ext cx="4846320" cy="914400"/>
          </a:xfrm>
          <a:prstGeom prst="roundRect">
            <a:avLst>
              <a:gd name="adj" fmla="val 10000"/>
            </a:avLst>
          </a:prstGeom>
          <a:solidFill>
            <a:srgbClr val="A5B4FC"/>
          </a:solidFill>
          <a:ln/>
        </p:spPr>
      </p:sp>
      <p:sp>
        <p:nvSpPr>
          <p:cNvPr id="11" name="Text 9"/>
          <p:cNvSpPr txBox="1"/>
          <p:nvPr/>
        </p:nvSpPr>
        <p:spPr>
          <a:xfrm>
            <a:off x="1417320" y="3941064"/>
            <a:ext cx="4480560" cy="9144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Application</a:t>
            </a:r>
            <a:endParaRPr lang="en-US" sz="1700" dirty="0"/>
          </a:p>
          <a:p>
            <a:pPr indent="0" marL="0">
              <a:buNone/>
            </a:pPr>
            <a:r>
              <a:rPr lang="en-US" sz="1300" dirty="0">
                <a:solidFill>
                  <a:srgbClr val="1E1B4B"/>
                </a:solidFill>
                <a:latin typeface="Arial" pitchFamily="34" charset="0"/>
                <a:ea typeface="Arial" pitchFamily="34" charset="-122"/>
                <a:cs typeface="Arial" pitchFamily="34" charset="-120"/>
              </a:rPr>
              <a:t>Servislar, DTO, FluentValidation, portlar</a:t>
            </a:r>
            <a:endParaRPr lang="en-US" sz="1700" dirty="0"/>
          </a:p>
        </p:txBody>
      </p:sp>
      <p:sp>
        <p:nvSpPr>
          <p:cNvPr id="12" name="Shape 10"/>
          <p:cNvSpPr/>
          <p:nvPr/>
        </p:nvSpPr>
        <p:spPr>
          <a:xfrm>
            <a:off x="1188720" y="5020056"/>
            <a:ext cx="4846320" cy="914400"/>
          </a:xfrm>
          <a:prstGeom prst="roundRect">
            <a:avLst>
              <a:gd name="adj" fmla="val 10000"/>
            </a:avLst>
          </a:prstGeom>
          <a:solidFill>
            <a:srgbClr val="4F46E5"/>
          </a:solidFill>
          <a:ln/>
        </p:spPr>
      </p:sp>
      <p:sp>
        <p:nvSpPr>
          <p:cNvPr id="13" name="Text 11"/>
          <p:cNvSpPr txBox="1"/>
          <p:nvPr/>
        </p:nvSpPr>
        <p:spPr>
          <a:xfrm>
            <a:off x="1417320" y="5020056"/>
            <a:ext cx="4480560" cy="9144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Domain</a:t>
            </a:r>
            <a:endParaRPr lang="en-US" sz="1700" dirty="0"/>
          </a:p>
          <a:p>
            <a:pPr indent="0" marL="0">
              <a:buNone/>
            </a:pPr>
            <a:r>
              <a:rPr lang="en-US" sz="1300" dirty="0">
                <a:solidFill>
                  <a:srgbClr val="FFFFFF"/>
                </a:solidFill>
                <a:latin typeface="Arial" pitchFamily="34" charset="0"/>
                <a:ea typeface="Arial" pitchFamily="34" charset="-122"/>
                <a:cs typeface="Arial" pitchFamily="34" charset="-120"/>
              </a:rPr>
              <a:t>User, Chat, Message, Group, Story …</a:t>
            </a:r>
            <a:endParaRPr lang="en-US" sz="1700" dirty="0"/>
          </a:p>
        </p:txBody>
      </p:sp>
      <p:sp>
        <p:nvSpPr>
          <p:cNvPr id="14" name="Shape 12"/>
          <p:cNvSpPr/>
          <p:nvPr/>
        </p:nvSpPr>
        <p:spPr>
          <a:xfrm>
            <a:off x="548640" y="1828800"/>
            <a:ext cx="411480" cy="4114800"/>
          </a:xfrm>
          <a:prstGeom prst="downArrow">
            <a:avLst/>
          </a:prstGeom>
          <a:solidFill>
            <a:srgbClr val="E0E7FF"/>
          </a:solidFill>
          <a:ln/>
        </p:spPr>
      </p:sp>
      <p:sp>
        <p:nvSpPr>
          <p:cNvPr id="15" name="Text 13"/>
          <p:cNvSpPr txBox="1"/>
          <p:nvPr/>
        </p:nvSpPr>
        <p:spPr>
          <a:xfrm rot="16200000">
            <a:off x="-1234440" y="3703320"/>
            <a:ext cx="3977640" cy="320040"/>
          </a:xfrm>
          <a:prstGeom prst="rect">
            <a:avLst/>
          </a:prstGeom>
          <a:noFill/>
          <a:ln/>
        </p:spPr>
        <p:txBody>
          <a:bodyPr wrap="square" lIns="0" tIns="0" rIns="0" bIns="0" rtlCol="0" anchor="ctr"/>
          <a:lstStyle/>
          <a:p>
            <a:pPr algn="ctr" indent="0" marL="0">
              <a:buNone/>
            </a:pPr>
            <a:r>
              <a:rPr lang="en-US" sz="1100" dirty="0">
                <a:solidFill>
                  <a:srgbClr val="1E1B4B"/>
                </a:solidFill>
                <a:latin typeface="Arial" pitchFamily="34" charset="0"/>
                <a:ea typeface="Arial" pitchFamily="34" charset="-122"/>
                <a:cs typeface="Arial" pitchFamily="34" charset="-120"/>
              </a:rPr>
              <a:t>bog‘liqlik ichkariga</a:t>
            </a:r>
            <a:endParaRPr lang="en-US" sz="1100" dirty="0"/>
          </a:p>
        </p:txBody>
      </p:sp>
      <p:sp>
        <p:nvSpPr>
          <p:cNvPr id="16" name="Text 14"/>
          <p:cNvSpPr txBox="1"/>
          <p:nvPr/>
        </p:nvSpPr>
        <p:spPr>
          <a:xfrm>
            <a:off x="6492240" y="1325880"/>
            <a:ext cx="5150815" cy="365760"/>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Joylashtirish diagrammasi</a:t>
            </a:r>
            <a:endParaRPr lang="en-US" sz="1500" dirty="0"/>
          </a:p>
        </p:txBody>
      </p:sp>
      <p:sp>
        <p:nvSpPr>
          <p:cNvPr id="17" name="Shape 15"/>
          <p:cNvSpPr/>
          <p:nvPr/>
        </p:nvSpPr>
        <p:spPr>
          <a:xfrm>
            <a:off x="6492240" y="1783080"/>
            <a:ext cx="5150815" cy="2280514"/>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8" name="Image 0" descr="C:\Users\Sardor\Desktop\diplom ish\diplom\generator\rasmlar\2-2-deployment.png">    </p:cNvPr>
          <p:cNvPicPr>
            <a:picLocks noChangeAspect="1"/>
          </p:cNvPicPr>
          <p:nvPr/>
        </p:nvPicPr>
        <p:blipFill>
          <a:blip r:embed="rId1"/>
          <a:stretch>
            <a:fillRect/>
          </a:stretch>
        </p:blipFill>
        <p:spPr>
          <a:xfrm>
            <a:off x="6492240" y="1783080"/>
            <a:ext cx="5150815" cy="2280514"/>
          </a:xfrm>
          <a:prstGeom prst="rect">
            <a:avLst/>
          </a:prstGeom>
        </p:spPr>
      </p:pic>
      <p:sp>
        <p:nvSpPr>
          <p:cNvPr id="19" name="Text 16"/>
          <p:cNvSpPr txBox="1"/>
          <p:nvPr/>
        </p:nvSpPr>
        <p:spPr>
          <a:xfrm>
            <a:off x="6492240" y="4434840"/>
            <a:ext cx="5150815" cy="365760"/>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Klient (Angular) tuzilmasi</a:t>
            </a:r>
            <a:endParaRPr lang="en-US" sz="1500" dirty="0"/>
          </a:p>
        </p:txBody>
      </p:sp>
      <p:sp>
        <p:nvSpPr>
          <p:cNvPr id="20" name="Text 17"/>
          <p:cNvSpPr txBox="1"/>
          <p:nvPr/>
        </p:nvSpPr>
        <p:spPr>
          <a:xfrm>
            <a:off x="6492240" y="4846320"/>
            <a:ext cx="5150815"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features/* — har bir bo‘lim alohida: auth, chat, groups, stories</a:t>
            </a:r>
            <a:endParaRPr lang="en-US" sz="1400" dirty="0"/>
          </a:p>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data-access — HTTP va SignalR servislari</a:t>
            </a:r>
            <a:endParaRPr lang="en-US" sz="1400" dirty="0"/>
          </a:p>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signals asosida holat, SSR bilan tez ochilish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Ma’lumotlar bazasini loyihalash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9 / 25</a:t>
            </a:r>
            <a:endParaRPr lang="en-US" sz="1000" dirty="0"/>
          </a:p>
        </p:txBody>
      </p:sp>
      <p:sp>
        <p:nvSpPr>
          <p:cNvPr id="5" name="Shape 3"/>
          <p:cNvSpPr/>
          <p:nvPr/>
        </p:nvSpPr>
        <p:spPr>
          <a:xfrm>
            <a:off x="548640" y="1371600"/>
            <a:ext cx="7772400" cy="4550282"/>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2-15-er-forum.png">    </p:cNvPr>
          <p:cNvPicPr>
            <a:picLocks noChangeAspect="1"/>
          </p:cNvPicPr>
          <p:nvPr/>
        </p:nvPicPr>
        <p:blipFill>
          <a:blip r:embed="rId1"/>
          <a:stretch>
            <a:fillRect/>
          </a:stretch>
        </p:blipFill>
        <p:spPr>
          <a:xfrm>
            <a:off x="548640" y="1371600"/>
            <a:ext cx="7772400" cy="4550282"/>
          </a:xfrm>
          <a:prstGeom prst="rect">
            <a:avLst/>
          </a:prstGeom>
        </p:spPr>
      </p:pic>
      <p:sp>
        <p:nvSpPr>
          <p:cNvPr id="7" name="Shape 4"/>
          <p:cNvSpPr/>
          <p:nvPr/>
        </p:nvSpPr>
        <p:spPr>
          <a:xfrm>
            <a:off x="8686800" y="1371600"/>
            <a:ext cx="2956255" cy="1417320"/>
          </a:xfrm>
          <a:prstGeom prst="roundRect">
            <a:avLst>
              <a:gd name="adj" fmla="val 7742"/>
            </a:avLst>
          </a:prstGeom>
          <a:solidFill>
            <a:srgbClr val="EEF2FF"/>
          </a:solidFill>
          <a:ln/>
        </p:spPr>
      </p:sp>
      <p:sp>
        <p:nvSpPr>
          <p:cNvPr id="8" name="Text 5"/>
          <p:cNvSpPr txBox="1"/>
          <p:nvPr/>
        </p:nvSpPr>
        <p:spPr>
          <a:xfrm>
            <a:off x="8915400" y="1508760"/>
            <a:ext cx="2499055" cy="594360"/>
          </a:xfrm>
          <a:prstGeom prst="rect">
            <a:avLst/>
          </a:prstGeom>
          <a:noFill/>
          <a:ln/>
        </p:spPr>
        <p:txBody>
          <a:bodyPr wrap="square" lIns="0" tIns="0" rIns="0" bIns="0" rtlCol="0" anchor="ctr"/>
          <a:lstStyle/>
          <a:p>
            <a:pPr indent="0" marL="0">
              <a:buNone/>
            </a:pPr>
            <a:r>
              <a:rPr lang="en-US" sz="3200" b="1" dirty="0">
                <a:solidFill>
                  <a:srgbClr val="4F46E5"/>
                </a:solidFill>
                <a:latin typeface="Arial" pitchFamily="34" charset="0"/>
                <a:ea typeface="Arial" pitchFamily="34" charset="-122"/>
                <a:cs typeface="Arial" pitchFamily="34" charset="-120"/>
              </a:rPr>
              <a:t>11</a:t>
            </a:r>
            <a:endParaRPr lang="en-US" sz="3200" dirty="0"/>
          </a:p>
        </p:txBody>
      </p:sp>
      <p:sp>
        <p:nvSpPr>
          <p:cNvPr id="9" name="Text 6"/>
          <p:cNvSpPr txBox="1"/>
          <p:nvPr/>
        </p:nvSpPr>
        <p:spPr>
          <a:xfrm>
            <a:off x="8915400" y="2084832"/>
            <a:ext cx="2499055" cy="274320"/>
          </a:xfrm>
          <a:prstGeom prst="rect">
            <a:avLst/>
          </a:prstGeom>
          <a:noFill/>
          <a:ln/>
        </p:spPr>
        <p:txBody>
          <a:bodyPr wrap="square" lIns="0" tIns="0" rIns="0" bIns="0" rtlCol="0" anchor="ctr"/>
          <a:lstStyle/>
          <a:p>
            <a:pPr indent="0" marL="0">
              <a:buNone/>
            </a:pPr>
            <a:r>
              <a:rPr lang="en-US" sz="1400" b="1" dirty="0">
                <a:solidFill>
                  <a:srgbClr val="1E1B4B"/>
                </a:solidFill>
                <a:latin typeface="Arial" pitchFamily="34" charset="0"/>
                <a:ea typeface="Arial" pitchFamily="34" charset="-122"/>
                <a:cs typeface="Arial" pitchFamily="34" charset="-120"/>
              </a:rPr>
              <a:t>sxema</a:t>
            </a:r>
            <a:endParaRPr lang="en-US" sz="1400" dirty="0"/>
          </a:p>
        </p:txBody>
      </p:sp>
      <p:sp>
        <p:nvSpPr>
          <p:cNvPr id="10" name="Text 7"/>
          <p:cNvSpPr txBox="1"/>
          <p:nvPr/>
        </p:nvSpPr>
        <p:spPr>
          <a:xfrm>
            <a:off x="8915400" y="2359152"/>
            <a:ext cx="2499055" cy="32004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identity, messaging, forum, organizations …</a:t>
            </a:r>
            <a:endParaRPr lang="en-US" sz="1100" dirty="0"/>
          </a:p>
        </p:txBody>
      </p:sp>
      <p:sp>
        <p:nvSpPr>
          <p:cNvPr id="11" name="Shape 8"/>
          <p:cNvSpPr/>
          <p:nvPr/>
        </p:nvSpPr>
        <p:spPr>
          <a:xfrm>
            <a:off x="8686800" y="2971800"/>
            <a:ext cx="2956255" cy="1417320"/>
          </a:xfrm>
          <a:prstGeom prst="roundRect">
            <a:avLst>
              <a:gd name="adj" fmla="val 7742"/>
            </a:avLst>
          </a:prstGeom>
          <a:solidFill>
            <a:srgbClr val="EEF2FF"/>
          </a:solidFill>
          <a:ln/>
        </p:spPr>
      </p:sp>
      <p:sp>
        <p:nvSpPr>
          <p:cNvPr id="12" name="Text 9"/>
          <p:cNvSpPr txBox="1"/>
          <p:nvPr/>
        </p:nvSpPr>
        <p:spPr>
          <a:xfrm>
            <a:off x="8915400" y="3108960"/>
            <a:ext cx="2499055" cy="594360"/>
          </a:xfrm>
          <a:prstGeom prst="rect">
            <a:avLst/>
          </a:prstGeom>
          <a:noFill/>
          <a:ln/>
        </p:spPr>
        <p:txBody>
          <a:bodyPr wrap="square" lIns="0" tIns="0" rIns="0" bIns="0" rtlCol="0" anchor="ctr"/>
          <a:lstStyle/>
          <a:p>
            <a:pPr indent="0" marL="0">
              <a:buNone/>
            </a:pPr>
            <a:r>
              <a:rPr lang="en-US" sz="3200" b="1" dirty="0">
                <a:solidFill>
                  <a:srgbClr val="4F46E5"/>
                </a:solidFill>
                <a:latin typeface="Arial" pitchFamily="34" charset="0"/>
                <a:ea typeface="Arial" pitchFamily="34" charset="-122"/>
                <a:cs typeface="Arial" pitchFamily="34" charset="-120"/>
              </a:rPr>
              <a:t>43</a:t>
            </a:r>
            <a:endParaRPr lang="en-US" sz="3200" dirty="0"/>
          </a:p>
        </p:txBody>
      </p:sp>
      <p:sp>
        <p:nvSpPr>
          <p:cNvPr id="13" name="Text 10"/>
          <p:cNvSpPr txBox="1"/>
          <p:nvPr/>
        </p:nvSpPr>
        <p:spPr>
          <a:xfrm>
            <a:off x="8915400" y="3685032"/>
            <a:ext cx="2499055" cy="274320"/>
          </a:xfrm>
          <a:prstGeom prst="rect">
            <a:avLst/>
          </a:prstGeom>
          <a:noFill/>
          <a:ln/>
        </p:spPr>
        <p:txBody>
          <a:bodyPr wrap="square" lIns="0" tIns="0" rIns="0" bIns="0" rtlCol="0" anchor="ctr"/>
          <a:lstStyle/>
          <a:p>
            <a:pPr indent="0" marL="0">
              <a:buNone/>
            </a:pPr>
            <a:r>
              <a:rPr lang="en-US" sz="1400" b="1" dirty="0">
                <a:solidFill>
                  <a:srgbClr val="1E1B4B"/>
                </a:solidFill>
                <a:latin typeface="Arial" pitchFamily="34" charset="0"/>
                <a:ea typeface="Arial" pitchFamily="34" charset="-122"/>
                <a:cs typeface="Arial" pitchFamily="34" charset="-120"/>
              </a:rPr>
              <a:t>jadval</a:t>
            </a:r>
            <a:endParaRPr lang="en-US" sz="1400" dirty="0"/>
          </a:p>
        </p:txBody>
      </p:sp>
      <p:sp>
        <p:nvSpPr>
          <p:cNvPr id="14" name="Text 11"/>
          <p:cNvSpPr txBox="1"/>
          <p:nvPr/>
        </p:nvSpPr>
        <p:spPr>
          <a:xfrm>
            <a:off x="8915400" y="3959352"/>
            <a:ext cx="2499055" cy="32004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kelajakdagi kanallar va botlar uchun ham</a:t>
            </a:r>
            <a:endParaRPr lang="en-US" sz="1100" dirty="0"/>
          </a:p>
        </p:txBody>
      </p:sp>
      <p:sp>
        <p:nvSpPr>
          <p:cNvPr id="15" name="Shape 12"/>
          <p:cNvSpPr/>
          <p:nvPr/>
        </p:nvSpPr>
        <p:spPr>
          <a:xfrm>
            <a:off x="8686800" y="4572000"/>
            <a:ext cx="2956255" cy="1417320"/>
          </a:xfrm>
          <a:prstGeom prst="roundRect">
            <a:avLst>
              <a:gd name="adj" fmla="val 7742"/>
            </a:avLst>
          </a:prstGeom>
          <a:solidFill>
            <a:srgbClr val="EEF2FF"/>
          </a:solidFill>
          <a:ln/>
        </p:spPr>
      </p:sp>
      <p:sp>
        <p:nvSpPr>
          <p:cNvPr id="16" name="Text 13"/>
          <p:cNvSpPr txBox="1"/>
          <p:nvPr/>
        </p:nvSpPr>
        <p:spPr>
          <a:xfrm>
            <a:off x="8915400" y="4709160"/>
            <a:ext cx="2499055" cy="594360"/>
          </a:xfrm>
          <a:prstGeom prst="rect">
            <a:avLst/>
          </a:prstGeom>
          <a:noFill/>
          <a:ln/>
        </p:spPr>
        <p:txBody>
          <a:bodyPr wrap="square" lIns="0" tIns="0" rIns="0" bIns="0" rtlCol="0" anchor="ctr"/>
          <a:lstStyle/>
          <a:p>
            <a:pPr indent="0" marL="0">
              <a:buNone/>
            </a:pPr>
            <a:r>
              <a:rPr lang="en-US" sz="3200" b="1" dirty="0">
                <a:solidFill>
                  <a:srgbClr val="4F46E5"/>
                </a:solidFill>
                <a:latin typeface="Arial" pitchFamily="34" charset="0"/>
                <a:ea typeface="Arial" pitchFamily="34" charset="-122"/>
                <a:cs typeface="Arial" pitchFamily="34" charset="-120"/>
              </a:rPr>
              <a:t>Keyset</a:t>
            </a:r>
            <a:endParaRPr lang="en-US" sz="3200" dirty="0"/>
          </a:p>
        </p:txBody>
      </p:sp>
      <p:sp>
        <p:nvSpPr>
          <p:cNvPr id="17" name="Text 14"/>
          <p:cNvSpPr txBox="1"/>
          <p:nvPr/>
        </p:nvSpPr>
        <p:spPr>
          <a:xfrm>
            <a:off x="8915400" y="5285232"/>
            <a:ext cx="2499055" cy="274320"/>
          </a:xfrm>
          <a:prstGeom prst="rect">
            <a:avLst/>
          </a:prstGeom>
          <a:noFill/>
          <a:ln/>
        </p:spPr>
        <p:txBody>
          <a:bodyPr wrap="square" lIns="0" tIns="0" rIns="0" bIns="0" rtlCol="0" anchor="ctr"/>
          <a:lstStyle/>
          <a:p>
            <a:pPr indent="0" marL="0">
              <a:buNone/>
            </a:pPr>
            <a:r>
              <a:rPr lang="en-US" sz="1400" b="1" dirty="0">
                <a:solidFill>
                  <a:srgbClr val="1E1B4B"/>
                </a:solidFill>
                <a:latin typeface="Arial" pitchFamily="34" charset="0"/>
                <a:ea typeface="Arial" pitchFamily="34" charset="-122"/>
                <a:cs typeface="Arial" pitchFamily="34" charset="-120"/>
              </a:rPr>
              <a:t>kursorli sahifalash</a:t>
            </a:r>
            <a:endParaRPr lang="en-US" sz="1400" dirty="0"/>
          </a:p>
        </p:txBody>
      </p:sp>
      <p:sp>
        <p:nvSpPr>
          <p:cNvPr id="18" name="Text 15"/>
          <p:cNvSpPr txBox="1"/>
          <p:nvPr/>
        </p:nvSpPr>
        <p:spPr>
          <a:xfrm>
            <a:off x="8915400" y="5559552"/>
            <a:ext cx="2499055" cy="32004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beforeId + limit (1–100), totalCount siz</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Xavfsizlik va autentifikatsiya</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10 / 25</a:t>
            </a:r>
            <a:endParaRPr lang="en-US" sz="1000" dirty="0"/>
          </a:p>
        </p:txBody>
      </p:sp>
      <p:sp>
        <p:nvSpPr>
          <p:cNvPr id="5" name="Shape 3"/>
          <p:cNvSpPr/>
          <p:nvPr/>
        </p:nvSpPr>
        <p:spPr>
          <a:xfrm>
            <a:off x="548640" y="1417320"/>
            <a:ext cx="457200" cy="457200"/>
          </a:xfrm>
          <a:prstGeom prst="ellipse">
            <a:avLst/>
          </a:prstGeom>
          <a:solidFill>
            <a:srgbClr val="4F46E5"/>
          </a:solidFill>
          <a:ln/>
        </p:spPr>
      </p:sp>
      <p:sp>
        <p:nvSpPr>
          <p:cNvPr id="6" name="Text 4"/>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188720" y="1380744"/>
            <a:ext cx="5120640" cy="32004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Elektron pochtaga 6 xonali kod</a:t>
            </a:r>
            <a:endParaRPr lang="en-US" sz="1600" dirty="0"/>
          </a:p>
        </p:txBody>
      </p:sp>
      <p:sp>
        <p:nvSpPr>
          <p:cNvPr id="8" name="Text 6"/>
          <p:cNvSpPr txBox="1"/>
          <p:nvPr/>
        </p:nvSpPr>
        <p:spPr>
          <a:xfrm>
            <a:off x="1188720" y="1709928"/>
            <a:ext cx="512064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Bazada faqat PBKDF2 xeshi saqlanadi, parol umuman yo‘q</a:t>
            </a:r>
            <a:endParaRPr lang="en-US" sz="1300" dirty="0"/>
          </a:p>
        </p:txBody>
      </p:sp>
      <p:sp>
        <p:nvSpPr>
          <p:cNvPr id="9" name="Shape 7"/>
          <p:cNvSpPr/>
          <p:nvPr/>
        </p:nvSpPr>
        <p:spPr>
          <a:xfrm>
            <a:off x="548640" y="2331720"/>
            <a:ext cx="457200" cy="457200"/>
          </a:xfrm>
          <a:prstGeom prst="ellipse">
            <a:avLst/>
          </a:prstGeom>
          <a:solidFill>
            <a:srgbClr val="4F46E5"/>
          </a:solidFill>
          <a:ln/>
        </p:spPr>
      </p:sp>
      <p:sp>
        <p:nvSpPr>
          <p:cNvPr id="10" name="Text 8"/>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188720" y="2295144"/>
            <a:ext cx="5120640" cy="32004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Yoki Google hisobi orqali</a:t>
            </a:r>
            <a:endParaRPr lang="en-US" sz="1600" dirty="0"/>
          </a:p>
        </p:txBody>
      </p:sp>
      <p:sp>
        <p:nvSpPr>
          <p:cNvPr id="12" name="Text 10"/>
          <p:cNvSpPr txBox="1"/>
          <p:nvPr/>
        </p:nvSpPr>
        <p:spPr>
          <a:xfrm>
            <a:off x="1188720" y="2624328"/>
            <a:ext cx="512064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Google ID tokeni serverda tekshiriladi</a:t>
            </a:r>
            <a:endParaRPr lang="en-US" sz="1300" dirty="0"/>
          </a:p>
        </p:txBody>
      </p:sp>
      <p:sp>
        <p:nvSpPr>
          <p:cNvPr id="13" name="Shape 11"/>
          <p:cNvSpPr/>
          <p:nvPr/>
        </p:nvSpPr>
        <p:spPr>
          <a:xfrm>
            <a:off x="548640" y="3246120"/>
            <a:ext cx="457200" cy="457200"/>
          </a:xfrm>
          <a:prstGeom prst="ellipse">
            <a:avLst/>
          </a:prstGeom>
          <a:solidFill>
            <a:srgbClr val="4F46E5"/>
          </a:solidFill>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188720" y="3209544"/>
            <a:ext cx="5120640" cy="32004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JWT access token — 15 daqiqa</a:t>
            </a:r>
            <a:endParaRPr lang="en-US" sz="1600" dirty="0"/>
          </a:p>
        </p:txBody>
      </p:sp>
      <p:sp>
        <p:nvSpPr>
          <p:cNvPr id="16" name="Text 14"/>
          <p:cNvSpPr txBox="1"/>
          <p:nvPr/>
        </p:nvSpPr>
        <p:spPr>
          <a:xfrm>
            <a:off x="1188720" y="3538728"/>
            <a:ext cx="512064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Har bir API so‘rovi va SignalR ulanishida tekshiriladi</a:t>
            </a:r>
            <a:endParaRPr lang="en-US" sz="1300" dirty="0"/>
          </a:p>
        </p:txBody>
      </p:sp>
      <p:sp>
        <p:nvSpPr>
          <p:cNvPr id="17" name="Shape 15"/>
          <p:cNvSpPr/>
          <p:nvPr/>
        </p:nvSpPr>
        <p:spPr>
          <a:xfrm>
            <a:off x="548640" y="4160520"/>
            <a:ext cx="457200" cy="457200"/>
          </a:xfrm>
          <a:prstGeom prst="ellipse">
            <a:avLst/>
          </a:prstGeom>
          <a:solidFill>
            <a:srgbClr val="4F46E5"/>
          </a:solidFill>
          <a:ln/>
        </p:spPr>
      </p:sp>
      <p:sp>
        <p:nvSpPr>
          <p:cNvPr id="18" name="Text 16"/>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txBox="1"/>
          <p:nvPr/>
        </p:nvSpPr>
        <p:spPr>
          <a:xfrm>
            <a:off x="1188720" y="4123944"/>
            <a:ext cx="5120640" cy="32004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Refresh token — 30 kun, rotatsiya</a:t>
            </a:r>
            <a:endParaRPr lang="en-US" sz="1600" dirty="0"/>
          </a:p>
        </p:txBody>
      </p:sp>
      <p:sp>
        <p:nvSpPr>
          <p:cNvPr id="20" name="Text 18"/>
          <p:cNvSpPr txBox="1"/>
          <p:nvPr/>
        </p:nvSpPr>
        <p:spPr>
          <a:xfrm>
            <a:off x="1188720" y="4453128"/>
            <a:ext cx="512064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HttpOnly cookie’da, bazada HMAC xeshi; har safar almashadi</a:t>
            </a:r>
            <a:endParaRPr lang="en-US" sz="1300" dirty="0"/>
          </a:p>
        </p:txBody>
      </p:sp>
      <p:sp>
        <p:nvSpPr>
          <p:cNvPr id="21" name="Shape 19"/>
          <p:cNvSpPr/>
          <p:nvPr/>
        </p:nvSpPr>
        <p:spPr>
          <a:xfrm>
            <a:off x="548640" y="5074920"/>
            <a:ext cx="457200" cy="457200"/>
          </a:xfrm>
          <a:prstGeom prst="ellipse">
            <a:avLst/>
          </a:prstGeom>
          <a:solidFill>
            <a:srgbClr val="4F46E5"/>
          </a:solidFill>
          <a:ln/>
        </p:spPr>
      </p:sp>
      <p:sp>
        <p:nvSpPr>
          <p:cNvPr id="22" name="Text 20"/>
          <p:cNvSpPr txBox="1"/>
          <p:nvPr/>
        </p:nvSpPr>
        <p:spPr>
          <a:xfrm>
            <a:off x="548640" y="5074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1"/>
          <p:cNvSpPr txBox="1"/>
          <p:nvPr/>
        </p:nvSpPr>
        <p:spPr>
          <a:xfrm>
            <a:off x="1188720" y="5038344"/>
            <a:ext cx="5120640" cy="32004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Qurilmalar bo‘yicha sessiyalar</a:t>
            </a:r>
            <a:endParaRPr lang="en-US" sz="1600" dirty="0"/>
          </a:p>
        </p:txBody>
      </p:sp>
      <p:sp>
        <p:nvSpPr>
          <p:cNvPr id="24" name="Text 22"/>
          <p:cNvSpPr txBox="1"/>
          <p:nvPr/>
        </p:nvSpPr>
        <p:spPr>
          <a:xfrm>
            <a:off x="1188720" y="5367528"/>
            <a:ext cx="5120640" cy="457200"/>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Bitta yoki boshqa barcha sessiyalarni yakunlash mumkin</a:t>
            </a:r>
            <a:endParaRPr lang="en-US" sz="1300" dirty="0"/>
          </a:p>
        </p:txBody>
      </p:sp>
      <p:sp>
        <p:nvSpPr>
          <p:cNvPr id="25" name="Shape 23"/>
          <p:cNvSpPr/>
          <p:nvPr/>
        </p:nvSpPr>
        <p:spPr>
          <a:xfrm>
            <a:off x="6675120" y="1371600"/>
            <a:ext cx="4967935" cy="3513789"/>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26" name="Image 0" descr="C:\Users\Sardor\Desktop\diplom ish\diplom\generator\rasmlar\2-10-token-lifecycle.png">    </p:cNvPr>
          <p:cNvPicPr>
            <a:picLocks noChangeAspect="1"/>
          </p:cNvPicPr>
          <p:nvPr/>
        </p:nvPicPr>
        <p:blipFill>
          <a:blip r:embed="rId1"/>
          <a:stretch>
            <a:fillRect/>
          </a:stretch>
        </p:blipFill>
        <p:spPr>
          <a:xfrm>
            <a:off x="6675120" y="1371600"/>
            <a:ext cx="4967935" cy="3513789"/>
          </a:xfrm>
          <a:prstGeom prst="rect">
            <a:avLst/>
          </a:prstGeom>
        </p:spPr>
      </p:pic>
      <p:sp>
        <p:nvSpPr>
          <p:cNvPr id="27" name="Shape 24"/>
          <p:cNvSpPr/>
          <p:nvPr/>
        </p:nvSpPr>
        <p:spPr>
          <a:xfrm>
            <a:off x="6675120" y="5166360"/>
            <a:ext cx="384048" cy="384048"/>
          </a:xfrm>
          <a:prstGeom prst="ellipse">
            <a:avLst/>
          </a:prstGeom>
          <a:solidFill>
            <a:srgbClr val="4F46E5"/>
          </a:solidFill>
          <a:ln/>
        </p:spPr>
      </p:sp>
      <p:pic>
        <p:nvPicPr>
          <p:cNvPr id="28" name="Image 1" descr="C:\Users\Sardor\Desktop\diplom ish\diplom\generator\slides-cache\icons\shield-check-FFFFFF.png">    </p:cNvPr>
          <p:cNvPicPr>
            <a:picLocks noChangeAspect="1"/>
          </p:cNvPicPr>
          <p:nvPr/>
        </p:nvPicPr>
        <p:blipFill>
          <a:blip r:embed="rId2"/>
          <a:stretch>
            <a:fillRect/>
          </a:stretch>
        </p:blipFill>
        <p:spPr>
          <a:xfrm>
            <a:off x="6771132" y="5262372"/>
            <a:ext cx="192024" cy="192024"/>
          </a:xfrm>
          <a:prstGeom prst="rect">
            <a:avLst/>
          </a:prstGeom>
        </p:spPr>
      </p:pic>
      <p:sp>
        <p:nvSpPr>
          <p:cNvPr id="29" name="Text 25"/>
          <p:cNvSpPr txBox="1"/>
          <p:nvPr/>
        </p:nvSpPr>
        <p:spPr>
          <a:xfrm>
            <a:off x="7178040" y="5166360"/>
            <a:ext cx="4465015" cy="384048"/>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Har so‘rovda chat a’zoligi tekshiriladi</a:t>
            </a:r>
            <a:endParaRPr lang="en-US" sz="1300" dirty="0"/>
          </a:p>
        </p:txBody>
      </p:sp>
      <p:sp>
        <p:nvSpPr>
          <p:cNvPr id="30" name="Shape 26"/>
          <p:cNvSpPr/>
          <p:nvPr/>
        </p:nvSpPr>
        <p:spPr>
          <a:xfrm>
            <a:off x="6675120" y="5669280"/>
            <a:ext cx="384048" cy="384048"/>
          </a:xfrm>
          <a:prstGeom prst="ellipse">
            <a:avLst/>
          </a:prstGeom>
          <a:solidFill>
            <a:srgbClr val="4F46E5"/>
          </a:solidFill>
          <a:ln/>
        </p:spPr>
      </p:sp>
      <p:pic>
        <p:nvPicPr>
          <p:cNvPr id="31" name="Image 2" descr="C:\Users\Sardor\Desktop\diplom ish\diplom\generator\slides-cache\icons\lock-keyhole-FFFFFF.png">    </p:cNvPr>
          <p:cNvPicPr>
            <a:picLocks noChangeAspect="1"/>
          </p:cNvPicPr>
          <p:nvPr/>
        </p:nvPicPr>
        <p:blipFill>
          <a:blip r:embed="rId3"/>
          <a:stretch>
            <a:fillRect/>
          </a:stretch>
        </p:blipFill>
        <p:spPr>
          <a:xfrm>
            <a:off x="6771132" y="5765292"/>
            <a:ext cx="192024" cy="192024"/>
          </a:xfrm>
          <a:prstGeom prst="rect">
            <a:avLst/>
          </a:prstGeom>
        </p:spPr>
      </p:pic>
      <p:sp>
        <p:nvSpPr>
          <p:cNvPr id="32" name="Text 27"/>
          <p:cNvSpPr txBox="1"/>
          <p:nvPr/>
        </p:nvSpPr>
        <p:spPr>
          <a:xfrm>
            <a:off x="7178040" y="5669280"/>
            <a:ext cx="4465015" cy="384048"/>
          </a:xfrm>
          <a:prstGeom prst="rect">
            <a:avLst/>
          </a:prstGeom>
          <a:noFill/>
          <a:ln/>
        </p:spPr>
        <p:txBody>
          <a:bodyPr wrap="square" lIns="0" tIns="0" rIns="0" bIns="0" rtlCol="0" anchor="ctr"/>
          <a:lstStyle/>
          <a:p>
            <a:pPr indent="0" marL="0">
              <a:buNone/>
            </a:pPr>
            <a:r>
              <a:rPr lang="en-US" sz="1300" dirty="0">
                <a:solidFill>
                  <a:srgbClr val="1F2937"/>
                </a:solidFill>
                <a:latin typeface="Arial" pitchFamily="34" charset="0"/>
                <a:ea typeface="Arial" pitchFamily="34" charset="-122"/>
                <a:cs typeface="Arial" pitchFamily="34" charset="-120"/>
              </a:rPr>
              <a:t>Fayllar ClamAV antivirusidan o‘tadi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Real vaqtda xabar yuborish jarayoni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11 / 25</a:t>
            </a:r>
            <a:endParaRPr lang="en-US" sz="1000" dirty="0"/>
          </a:p>
        </p:txBody>
      </p:sp>
      <p:sp>
        <p:nvSpPr>
          <p:cNvPr id="5" name="Shape 3"/>
          <p:cNvSpPr/>
          <p:nvPr/>
        </p:nvSpPr>
        <p:spPr>
          <a:xfrm>
            <a:off x="1519869" y="1325880"/>
            <a:ext cx="9151957" cy="416052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2-8-message-sequence.png">    </p:cNvPr>
          <p:cNvPicPr>
            <a:picLocks noChangeAspect="1"/>
          </p:cNvPicPr>
          <p:nvPr/>
        </p:nvPicPr>
        <p:blipFill>
          <a:blip r:embed="rId1"/>
          <a:stretch>
            <a:fillRect/>
          </a:stretch>
        </p:blipFill>
        <p:spPr>
          <a:xfrm>
            <a:off x="1519869" y="1325880"/>
            <a:ext cx="9151957" cy="4160520"/>
          </a:xfrm>
          <a:prstGeom prst="rect">
            <a:avLst/>
          </a:prstGeom>
        </p:spPr>
      </p:pic>
      <p:sp>
        <p:nvSpPr>
          <p:cNvPr id="7" name="Shape 4"/>
          <p:cNvSpPr/>
          <p:nvPr/>
        </p:nvSpPr>
        <p:spPr>
          <a:xfrm>
            <a:off x="548640" y="5623560"/>
            <a:ext cx="3515258" cy="566928"/>
          </a:xfrm>
          <a:prstGeom prst="roundRect">
            <a:avLst>
              <a:gd name="adj" fmla="val 19355"/>
            </a:avLst>
          </a:prstGeom>
          <a:solidFill>
            <a:srgbClr val="EEF2FF"/>
          </a:solidFill>
          <a:ln/>
        </p:spPr>
      </p:sp>
      <p:sp>
        <p:nvSpPr>
          <p:cNvPr id="8" name="Shape 5"/>
          <p:cNvSpPr/>
          <p:nvPr/>
        </p:nvSpPr>
        <p:spPr>
          <a:xfrm>
            <a:off x="658368" y="5678424"/>
            <a:ext cx="457200" cy="457200"/>
          </a:xfrm>
          <a:prstGeom prst="ellipse">
            <a:avLst/>
          </a:prstGeom>
          <a:solidFill>
            <a:srgbClr val="4F46E5"/>
          </a:solidFill>
          <a:ln/>
        </p:spPr>
      </p:sp>
      <p:sp>
        <p:nvSpPr>
          <p:cNvPr id="9" name="Text 6"/>
          <p:cNvSpPr txBox="1"/>
          <p:nvPr/>
        </p:nvSpPr>
        <p:spPr>
          <a:xfrm>
            <a:off x="658368" y="5678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234440" y="5623560"/>
            <a:ext cx="2738018" cy="566928"/>
          </a:xfrm>
          <a:prstGeom prst="rect">
            <a:avLst/>
          </a:prstGeom>
          <a:noFill/>
          <a:ln/>
        </p:spPr>
        <p:txBody>
          <a:bodyPr wrap="square" lIns="0" tIns="0" rIns="0" bIns="0" rtlCol="0" anchor="ctr"/>
          <a:lstStyle/>
          <a:p>
            <a:pPr indent="0" marL="0">
              <a:buNone/>
            </a:pPr>
            <a:r>
              <a:rPr lang="en-US" sz="1300" dirty="0">
                <a:solidFill>
                  <a:srgbClr val="1E1B4B"/>
                </a:solidFill>
                <a:latin typeface="Arial" pitchFamily="34" charset="0"/>
                <a:ea typeface="Arial" pitchFamily="34" charset="-122"/>
                <a:cs typeface="Arial" pitchFamily="34" charset="-120"/>
              </a:rPr>
              <a:t>REST: xabar tekshirilib, bazaga yoziladi</a:t>
            </a:r>
            <a:endParaRPr lang="en-US" sz="1300" dirty="0"/>
          </a:p>
        </p:txBody>
      </p:sp>
      <p:sp>
        <p:nvSpPr>
          <p:cNvPr id="11" name="Shape 8"/>
          <p:cNvSpPr/>
          <p:nvPr/>
        </p:nvSpPr>
        <p:spPr>
          <a:xfrm>
            <a:off x="4338218" y="5623560"/>
            <a:ext cx="3515258" cy="566928"/>
          </a:xfrm>
          <a:prstGeom prst="roundRect">
            <a:avLst>
              <a:gd name="adj" fmla="val 19355"/>
            </a:avLst>
          </a:prstGeom>
          <a:solidFill>
            <a:srgbClr val="EEF2FF"/>
          </a:solidFill>
          <a:ln/>
        </p:spPr>
      </p:sp>
      <p:sp>
        <p:nvSpPr>
          <p:cNvPr id="12" name="Shape 9"/>
          <p:cNvSpPr/>
          <p:nvPr/>
        </p:nvSpPr>
        <p:spPr>
          <a:xfrm>
            <a:off x="4447946" y="5678424"/>
            <a:ext cx="457200" cy="457200"/>
          </a:xfrm>
          <a:prstGeom prst="ellipse">
            <a:avLst/>
          </a:prstGeom>
          <a:solidFill>
            <a:srgbClr val="4F46E5"/>
          </a:solidFill>
          <a:ln/>
        </p:spPr>
      </p:sp>
      <p:sp>
        <p:nvSpPr>
          <p:cNvPr id="13" name="Text 10"/>
          <p:cNvSpPr txBox="1"/>
          <p:nvPr/>
        </p:nvSpPr>
        <p:spPr>
          <a:xfrm>
            <a:off x="4447946" y="5678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1"/>
          <p:cNvSpPr txBox="1"/>
          <p:nvPr/>
        </p:nvSpPr>
        <p:spPr>
          <a:xfrm>
            <a:off x="5024018" y="5623560"/>
            <a:ext cx="2738018" cy="566928"/>
          </a:xfrm>
          <a:prstGeom prst="rect">
            <a:avLst/>
          </a:prstGeom>
          <a:noFill/>
          <a:ln/>
        </p:spPr>
        <p:txBody>
          <a:bodyPr wrap="square" lIns="0" tIns="0" rIns="0" bIns="0" rtlCol="0" anchor="ctr"/>
          <a:lstStyle/>
          <a:p>
            <a:pPr indent="0" marL="0">
              <a:buNone/>
            </a:pPr>
            <a:r>
              <a:rPr lang="en-US" sz="1300" dirty="0">
                <a:solidFill>
                  <a:srgbClr val="1E1B4B"/>
                </a:solidFill>
                <a:latin typeface="Arial" pitchFamily="34" charset="0"/>
                <a:ea typeface="Arial" pitchFamily="34" charset="-122"/>
                <a:cs typeface="Arial" pitchFamily="34" charset="-120"/>
              </a:rPr>
              <a:t>ChatHub: chat a’zolariga darhol yuboriladi</a:t>
            </a:r>
            <a:endParaRPr lang="en-US" sz="1300" dirty="0"/>
          </a:p>
        </p:txBody>
      </p:sp>
      <p:sp>
        <p:nvSpPr>
          <p:cNvPr id="15" name="Shape 12"/>
          <p:cNvSpPr/>
          <p:nvPr/>
        </p:nvSpPr>
        <p:spPr>
          <a:xfrm>
            <a:off x="8127797" y="5623560"/>
            <a:ext cx="3515258" cy="566928"/>
          </a:xfrm>
          <a:prstGeom prst="roundRect">
            <a:avLst>
              <a:gd name="adj" fmla="val 19355"/>
            </a:avLst>
          </a:prstGeom>
          <a:solidFill>
            <a:srgbClr val="EEF2FF"/>
          </a:solidFill>
          <a:ln/>
        </p:spPr>
      </p:sp>
      <p:sp>
        <p:nvSpPr>
          <p:cNvPr id="16" name="Shape 13"/>
          <p:cNvSpPr/>
          <p:nvPr/>
        </p:nvSpPr>
        <p:spPr>
          <a:xfrm>
            <a:off x="8237525" y="5678424"/>
            <a:ext cx="457200" cy="457200"/>
          </a:xfrm>
          <a:prstGeom prst="ellipse">
            <a:avLst/>
          </a:prstGeom>
          <a:solidFill>
            <a:srgbClr val="4F46E5"/>
          </a:solidFill>
          <a:ln/>
        </p:spPr>
      </p:sp>
      <p:sp>
        <p:nvSpPr>
          <p:cNvPr id="17" name="Text 14"/>
          <p:cNvSpPr txBox="1"/>
          <p:nvPr/>
        </p:nvSpPr>
        <p:spPr>
          <a:xfrm>
            <a:off x="8237525" y="5678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8813597" y="5623560"/>
            <a:ext cx="2738018" cy="566928"/>
          </a:xfrm>
          <a:prstGeom prst="rect">
            <a:avLst/>
          </a:prstGeom>
          <a:noFill/>
          <a:ln/>
        </p:spPr>
        <p:txBody>
          <a:bodyPr wrap="square" lIns="0" tIns="0" rIns="0" bIns="0" rtlCol="0" anchor="ctr"/>
          <a:lstStyle/>
          <a:p>
            <a:pPr indent="0" marL="0">
              <a:buNone/>
            </a:pPr>
            <a:r>
              <a:rPr lang="en-US" sz="1300" dirty="0">
                <a:solidFill>
                  <a:srgbClr val="1E1B4B"/>
                </a:solidFill>
                <a:latin typeface="Arial" pitchFamily="34" charset="0"/>
                <a:ea typeface="Arial" pitchFamily="34" charset="-122"/>
                <a:cs typeface="Arial" pitchFamily="34" charset="-120"/>
              </a:rPr>
              <a:t>O‘qildi ✓✓ va “yozmoqda…” belgilari</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“Milliy” xabarchining o‘ziga xos imkoniyatlari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12 / 25</a:t>
            </a:r>
            <a:endParaRPr lang="en-US" sz="1000" dirty="0"/>
          </a:p>
        </p:txBody>
      </p:sp>
      <p:sp>
        <p:nvSpPr>
          <p:cNvPr id="5" name="Shape 3"/>
          <p:cNvSpPr/>
          <p:nvPr/>
        </p:nvSpPr>
        <p:spPr>
          <a:xfrm>
            <a:off x="548640" y="1371600"/>
            <a:ext cx="3484778" cy="3840480"/>
          </a:xfrm>
          <a:prstGeom prst="roundRect">
            <a:avLst>
              <a:gd name="adj" fmla="val 3149"/>
            </a:avLst>
          </a:prstGeom>
          <a:solidFill>
            <a:srgbClr val="EEF2FF"/>
          </a:solidFill>
          <a:ln/>
        </p:spPr>
      </p:sp>
      <p:sp>
        <p:nvSpPr>
          <p:cNvPr id="6" name="Shape 4"/>
          <p:cNvSpPr/>
          <p:nvPr/>
        </p:nvSpPr>
        <p:spPr>
          <a:xfrm>
            <a:off x="868680" y="1645920"/>
            <a:ext cx="685800" cy="685800"/>
          </a:xfrm>
          <a:prstGeom prst="ellipse">
            <a:avLst/>
          </a:prstGeom>
          <a:solidFill>
            <a:srgbClr val="4F46E5"/>
          </a:solidFill>
          <a:ln/>
        </p:spPr>
      </p:sp>
      <p:pic>
        <p:nvPicPr>
          <p:cNvPr id="7" name="Image 0" descr="C:\Users\Sardor\Desktop\diplom ish\diplom\generator\slides-cache\icons\languages-FFFFFF.png">    </p:cNvPr>
          <p:cNvPicPr>
            <a:picLocks noChangeAspect="1"/>
          </p:cNvPicPr>
          <p:nvPr/>
        </p:nvPicPr>
        <p:blipFill>
          <a:blip r:embed="rId1"/>
          <a:stretch>
            <a:fillRect/>
          </a:stretch>
        </p:blipFill>
        <p:spPr>
          <a:xfrm>
            <a:off x="1040130" y="1817370"/>
            <a:ext cx="342900" cy="342900"/>
          </a:xfrm>
          <a:prstGeom prst="rect">
            <a:avLst/>
          </a:prstGeom>
        </p:spPr>
      </p:pic>
      <p:sp>
        <p:nvSpPr>
          <p:cNvPr id="8" name="Text 5"/>
          <p:cNvSpPr txBox="1"/>
          <p:nvPr/>
        </p:nvSpPr>
        <p:spPr>
          <a:xfrm>
            <a:off x="868680" y="2514600"/>
            <a:ext cx="2844698" cy="457200"/>
          </a:xfrm>
          <a:prstGeom prst="rect">
            <a:avLst/>
          </a:prstGeom>
          <a:noFill/>
          <a:ln/>
        </p:spPr>
        <p:txBody>
          <a:bodyPr wrap="square" lIns="0" tIns="0" rIns="0" bIns="0" rtlCol="0" anchor="ctr"/>
          <a:lstStyle/>
          <a:p>
            <a:pPr indent="0" marL="0">
              <a:buNone/>
            </a:pPr>
            <a:r>
              <a:rPr lang="en-US" sz="2100" b="1" dirty="0">
                <a:solidFill>
                  <a:srgbClr val="1E1B4B"/>
                </a:solidFill>
                <a:latin typeface="Arial" pitchFamily="34" charset="0"/>
                <a:ea typeface="Arial" pitchFamily="34" charset="-122"/>
                <a:cs typeface="Arial" pitchFamily="34" charset="-120"/>
              </a:rPr>
              <a:t>Lotin ↔ Kirill</a:t>
            </a:r>
            <a:endParaRPr lang="en-US" sz="2100" dirty="0"/>
          </a:p>
        </p:txBody>
      </p:sp>
      <p:sp>
        <p:nvSpPr>
          <p:cNvPr id="9" name="Text 6"/>
          <p:cNvSpPr txBox="1"/>
          <p:nvPr/>
        </p:nvSpPr>
        <p:spPr>
          <a:xfrm>
            <a:off x="868680" y="3108960"/>
            <a:ext cx="2844698"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Har kim xabarni o‘zi tanlagan yozuvda ko‘radi</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Xabar bazada asl holida qoladi</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Qidiruv yozuvga bog‘liq emas</a:t>
            </a:r>
            <a:endParaRPr lang="en-US" sz="1500" dirty="0"/>
          </a:p>
        </p:txBody>
      </p:sp>
      <p:sp>
        <p:nvSpPr>
          <p:cNvPr id="10" name="Shape 7"/>
          <p:cNvSpPr/>
          <p:nvPr/>
        </p:nvSpPr>
        <p:spPr>
          <a:xfrm>
            <a:off x="4353458" y="1371600"/>
            <a:ext cx="3484778" cy="3840480"/>
          </a:xfrm>
          <a:prstGeom prst="roundRect">
            <a:avLst>
              <a:gd name="adj" fmla="val 3149"/>
            </a:avLst>
          </a:prstGeom>
          <a:solidFill>
            <a:srgbClr val="EEF2FF"/>
          </a:solidFill>
          <a:ln/>
        </p:spPr>
      </p:sp>
      <p:sp>
        <p:nvSpPr>
          <p:cNvPr id="11" name="Shape 8"/>
          <p:cNvSpPr/>
          <p:nvPr/>
        </p:nvSpPr>
        <p:spPr>
          <a:xfrm>
            <a:off x="4673498" y="1645920"/>
            <a:ext cx="685800" cy="685800"/>
          </a:xfrm>
          <a:prstGeom prst="ellipse">
            <a:avLst/>
          </a:prstGeom>
          <a:solidFill>
            <a:srgbClr val="4F46E5"/>
          </a:solidFill>
          <a:ln/>
        </p:spPr>
      </p:sp>
      <p:pic>
        <p:nvPicPr>
          <p:cNvPr id="12" name="Image 1" descr="C:\Users\Sardor\Desktop\diplom ish\diplom\generator\slides-cache\icons\building-2-FFFFFF.png">    </p:cNvPr>
          <p:cNvPicPr>
            <a:picLocks noChangeAspect="1"/>
          </p:cNvPicPr>
          <p:nvPr/>
        </p:nvPicPr>
        <p:blipFill>
          <a:blip r:embed="rId2"/>
          <a:stretch>
            <a:fillRect/>
          </a:stretch>
        </p:blipFill>
        <p:spPr>
          <a:xfrm>
            <a:off x="4844948" y="1817370"/>
            <a:ext cx="342900" cy="342900"/>
          </a:xfrm>
          <a:prstGeom prst="rect">
            <a:avLst/>
          </a:prstGeom>
        </p:spPr>
      </p:pic>
      <p:sp>
        <p:nvSpPr>
          <p:cNvPr id="13" name="Text 9"/>
          <p:cNvSpPr txBox="1"/>
          <p:nvPr/>
        </p:nvSpPr>
        <p:spPr>
          <a:xfrm>
            <a:off x="4673498" y="2514600"/>
            <a:ext cx="2844698" cy="457200"/>
          </a:xfrm>
          <a:prstGeom prst="rect">
            <a:avLst/>
          </a:prstGeom>
          <a:noFill/>
          <a:ln/>
        </p:spPr>
        <p:txBody>
          <a:bodyPr wrap="square" lIns="0" tIns="0" rIns="0" bIns="0" rtlCol="0" anchor="ctr"/>
          <a:lstStyle/>
          <a:p>
            <a:pPr indent="0" marL="0">
              <a:buNone/>
            </a:pPr>
            <a:r>
              <a:rPr lang="en-US" sz="2100" b="1" dirty="0">
                <a:solidFill>
                  <a:srgbClr val="1E1B4B"/>
                </a:solidFill>
                <a:latin typeface="Arial" pitchFamily="34" charset="0"/>
                <a:ea typeface="Arial" pitchFamily="34" charset="-122"/>
                <a:cs typeface="Arial" pitchFamily="34" charset="-120"/>
              </a:rPr>
              <a:t>Tashkilot rejimi</a:t>
            </a:r>
            <a:endParaRPr lang="en-US" sz="2100" dirty="0"/>
          </a:p>
        </p:txBody>
      </p:sp>
      <p:sp>
        <p:nvSpPr>
          <p:cNvPr id="14" name="Text 10"/>
          <p:cNvSpPr txBox="1"/>
          <p:nvPr/>
        </p:nvSpPr>
        <p:spPr>
          <a:xfrm>
            <a:off x="4673498" y="3108960"/>
            <a:ext cx="2844698"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Tashkilot = e-pochta domeni</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“tuit.uz ✓” belgisi, yopiq domen guruhi</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Gmail va boshqalar faqat taklif havolasi orqali</a:t>
            </a:r>
            <a:endParaRPr lang="en-US" sz="1500" dirty="0"/>
          </a:p>
        </p:txBody>
      </p:sp>
      <p:sp>
        <p:nvSpPr>
          <p:cNvPr id="15" name="Shape 11"/>
          <p:cNvSpPr/>
          <p:nvPr/>
        </p:nvSpPr>
        <p:spPr>
          <a:xfrm>
            <a:off x="8158277" y="1371600"/>
            <a:ext cx="3484778" cy="3840480"/>
          </a:xfrm>
          <a:prstGeom prst="roundRect">
            <a:avLst>
              <a:gd name="adj" fmla="val 3149"/>
            </a:avLst>
          </a:prstGeom>
          <a:solidFill>
            <a:srgbClr val="1E1B4B"/>
          </a:solidFill>
          <a:ln/>
        </p:spPr>
      </p:sp>
      <p:sp>
        <p:nvSpPr>
          <p:cNvPr id="16" name="Shape 12"/>
          <p:cNvSpPr/>
          <p:nvPr/>
        </p:nvSpPr>
        <p:spPr>
          <a:xfrm>
            <a:off x="8478317" y="1645920"/>
            <a:ext cx="685800" cy="685800"/>
          </a:xfrm>
          <a:prstGeom prst="ellipse">
            <a:avLst/>
          </a:prstGeom>
          <a:solidFill>
            <a:srgbClr val="4F46E5"/>
          </a:solidFill>
          <a:ln/>
        </p:spPr>
      </p:sp>
      <p:pic>
        <p:nvPicPr>
          <p:cNvPr id="17" name="Image 2" descr="C:\Users\Sardor\Desktop\diplom ish\diplom\generator\slides-cache\icons\lock-keyhole-FFFFFF.png">    </p:cNvPr>
          <p:cNvPicPr>
            <a:picLocks noChangeAspect="1"/>
          </p:cNvPicPr>
          <p:nvPr/>
        </p:nvPicPr>
        <p:blipFill>
          <a:blip r:embed="rId3"/>
          <a:stretch>
            <a:fillRect/>
          </a:stretch>
        </p:blipFill>
        <p:spPr>
          <a:xfrm>
            <a:off x="8649767" y="1817370"/>
            <a:ext cx="342900" cy="342900"/>
          </a:xfrm>
          <a:prstGeom prst="rect">
            <a:avLst/>
          </a:prstGeom>
        </p:spPr>
      </p:pic>
      <p:sp>
        <p:nvSpPr>
          <p:cNvPr id="18" name="Text 13"/>
          <p:cNvSpPr txBox="1"/>
          <p:nvPr/>
        </p:nvSpPr>
        <p:spPr>
          <a:xfrm>
            <a:off x="8478317" y="2514600"/>
            <a:ext cx="2844698"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Maxfiy chat (E2E)</a:t>
            </a:r>
            <a:endParaRPr lang="en-US" sz="2100" dirty="0"/>
          </a:p>
        </p:txBody>
      </p:sp>
      <p:sp>
        <p:nvSpPr>
          <p:cNvPr id="19" name="Text 14"/>
          <p:cNvSpPr txBox="1"/>
          <p:nvPr/>
        </p:nvSpPr>
        <p:spPr>
          <a:xfrm>
            <a:off x="8478317" y="3108960"/>
            <a:ext cx="2844698"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Server xabar mazmunini ko‘rmaydi</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X25519 + AES-256-GCM, oldinga maxfiylik</a:t>
            </a:r>
            <a:endParaRPr lang="en-US" sz="1500" dirty="0"/>
          </a:p>
          <a:p>
            <a:pPr marL="342900" indent="-342900">
              <a:spcAft>
                <a:spcPts val="800"/>
              </a:spcAft>
              <a:buSzPct val="100000"/>
              <a:buChar char="•"/>
            </a:pPr>
            <a:r>
              <a:rPr lang="en-US" sz="1500" dirty="0">
                <a:solidFill>
                  <a:srgbClr val="E0E7FF"/>
                </a:solidFill>
                <a:latin typeface="Arial" pitchFamily="34" charset="0"/>
                <a:ea typeface="Arial" pitchFamily="34" charset="-122"/>
                <a:cs typeface="Arial" pitchFamily="34" charset="-120"/>
              </a:rPr>
              <a:t>Kalit izi, taymer, shifrlangan fayllar</a:t>
            </a:r>
            <a:endParaRPr lang="en-US" sz="1500" dirty="0"/>
          </a:p>
        </p:txBody>
      </p:sp>
      <p:sp>
        <p:nvSpPr>
          <p:cNvPr id="20" name="Shape 15"/>
          <p:cNvSpPr/>
          <p:nvPr/>
        </p:nvSpPr>
        <p:spPr>
          <a:xfrm>
            <a:off x="548640" y="5440680"/>
            <a:ext cx="11094415" cy="685800"/>
          </a:xfrm>
          <a:prstGeom prst="roundRect">
            <a:avLst>
              <a:gd name="adj" fmla="val 16000"/>
            </a:avLst>
          </a:prstGeom>
          <a:solidFill>
            <a:srgbClr val="E0E7FF"/>
          </a:solidFill>
          <a:ln/>
        </p:spPr>
      </p:sp>
      <p:pic>
        <p:nvPicPr>
          <p:cNvPr id="21" name="Image 3" descr="C:\Users\Sardor\Desktop\diplom ish\diplom\generator\slides-cache\icons\check-059669.png">    </p:cNvPr>
          <p:cNvPicPr>
            <a:picLocks noChangeAspect="1"/>
          </p:cNvPicPr>
          <p:nvPr/>
        </p:nvPicPr>
        <p:blipFill>
          <a:blip r:embed="rId4"/>
          <a:stretch>
            <a:fillRect/>
          </a:stretch>
        </p:blipFill>
        <p:spPr>
          <a:xfrm>
            <a:off x="822960" y="5623560"/>
            <a:ext cx="329184" cy="329184"/>
          </a:xfrm>
          <a:prstGeom prst="rect">
            <a:avLst/>
          </a:prstGeom>
        </p:spPr>
      </p:pic>
      <p:sp>
        <p:nvSpPr>
          <p:cNvPr id="22" name="Text 16"/>
          <p:cNvSpPr txBox="1"/>
          <p:nvPr/>
        </p:nvSpPr>
        <p:spPr>
          <a:xfrm>
            <a:off x="1325880" y="5440680"/>
            <a:ext cx="10088575" cy="685800"/>
          </a:xfrm>
          <a:prstGeom prst="rect">
            <a:avLst/>
          </a:prstGeom>
          <a:noFill/>
          <a:ln/>
        </p:spPr>
        <p:txBody>
          <a:bodyPr wrap="square" lIns="0" tIns="0" rIns="0" bIns="0" rtlCol="0" anchor="ctr"/>
          <a:lstStyle/>
          <a:p>
            <a:pPr indent="0" marL="0">
              <a:buNone/>
            </a:pPr>
            <a:r>
              <a:rPr lang="en-US" sz="1500" dirty="0">
                <a:solidFill>
                  <a:srgbClr val="1E1B4B"/>
                </a:solidFill>
                <a:latin typeface="Arial" pitchFamily="34" charset="0"/>
                <a:ea typeface="Arial" pitchFamily="34" charset="-122"/>
                <a:cs typeface="Arial" pitchFamily="34" charset="-120"/>
              </a:rPr>
              <a:t>Birinchi ikki imkoniyat ko‘rib chiqilgan xorijiy messenjerlarning birortasida yo‘q — ular aynan o‘zbek foydalanuvchisi uchun.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Lotin ↔ Kirill: har kim o‘z yozuvida o‘qiydi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13 / 25</a:t>
            </a:r>
            <a:endParaRPr lang="en-US" sz="1000" dirty="0"/>
          </a:p>
        </p:txBody>
      </p:sp>
      <p:sp>
        <p:nvSpPr>
          <p:cNvPr id="5" name="Shape 3"/>
          <p:cNvSpPr/>
          <p:nvPr/>
        </p:nvSpPr>
        <p:spPr>
          <a:xfrm>
            <a:off x="548640" y="1325880"/>
            <a:ext cx="5387188" cy="2606704"/>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20-script-original.jpg">    </p:cNvPr>
          <p:cNvPicPr>
            <a:picLocks noChangeAspect="1"/>
          </p:cNvPicPr>
          <p:nvPr/>
        </p:nvPicPr>
        <p:blipFill>
          <a:blip r:embed="rId1"/>
          <a:srcRect l="22500" r="0" t="0" b="40000"/>
          <a:stretch/>
        </p:blipFill>
        <p:spPr>
          <a:xfrm>
            <a:off x="548640" y="1325880"/>
            <a:ext cx="5387188" cy="2606704"/>
          </a:xfrm>
          <a:prstGeom prst="rect">
            <a:avLst/>
          </a:prstGeom>
        </p:spPr>
      </p:pic>
      <p:sp>
        <p:nvSpPr>
          <p:cNvPr id="7" name="Shape 4"/>
          <p:cNvSpPr/>
          <p:nvPr/>
        </p:nvSpPr>
        <p:spPr>
          <a:xfrm>
            <a:off x="6255868" y="1325880"/>
            <a:ext cx="5387188" cy="2606704"/>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8" name="Image 1" descr="C:\Users\Sardor\Desktop\diplom ish\diplom\generator\rasmlar\3-20-script-latin.jpg">    </p:cNvPr>
          <p:cNvPicPr>
            <a:picLocks noChangeAspect="1"/>
          </p:cNvPicPr>
          <p:nvPr/>
        </p:nvPicPr>
        <p:blipFill>
          <a:blip r:embed="rId2"/>
          <a:srcRect l="22500" r="0" t="0" b="40000"/>
          <a:stretch/>
        </p:blipFill>
        <p:spPr>
          <a:xfrm>
            <a:off x="6255868" y="1325880"/>
            <a:ext cx="5387188" cy="2606704"/>
          </a:xfrm>
          <a:prstGeom prst="rect">
            <a:avLst/>
          </a:prstGeom>
        </p:spPr>
      </p:pic>
      <p:sp>
        <p:nvSpPr>
          <p:cNvPr id="9" name="Shape 5"/>
          <p:cNvSpPr/>
          <p:nvPr/>
        </p:nvSpPr>
        <p:spPr>
          <a:xfrm>
            <a:off x="685800" y="3475384"/>
            <a:ext cx="1371600" cy="329184"/>
          </a:xfrm>
          <a:prstGeom prst="roundRect">
            <a:avLst>
              <a:gd name="adj" fmla="val 50000"/>
            </a:avLst>
          </a:prstGeom>
          <a:solidFill>
            <a:srgbClr val="1E1B4B"/>
          </a:solidFill>
          <a:ln/>
        </p:spPr>
      </p:sp>
      <p:sp>
        <p:nvSpPr>
          <p:cNvPr id="10" name="Text 6"/>
          <p:cNvSpPr txBox="1"/>
          <p:nvPr/>
        </p:nvSpPr>
        <p:spPr>
          <a:xfrm>
            <a:off x="685800" y="3475384"/>
            <a:ext cx="13716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Asl holida</a:t>
            </a:r>
            <a:endParaRPr lang="en-US" sz="1200" dirty="0"/>
          </a:p>
        </p:txBody>
      </p:sp>
      <p:sp>
        <p:nvSpPr>
          <p:cNvPr id="11" name="Shape 7"/>
          <p:cNvSpPr/>
          <p:nvPr/>
        </p:nvSpPr>
        <p:spPr>
          <a:xfrm>
            <a:off x="6393028" y="3475384"/>
            <a:ext cx="2011680" cy="329184"/>
          </a:xfrm>
          <a:prstGeom prst="roundRect">
            <a:avLst>
              <a:gd name="adj" fmla="val 50000"/>
            </a:avLst>
          </a:prstGeom>
          <a:solidFill>
            <a:srgbClr val="1E1B4B"/>
          </a:solidFill>
          <a:ln/>
        </p:spPr>
      </p:sp>
      <p:sp>
        <p:nvSpPr>
          <p:cNvPr id="12" name="Text 8"/>
          <p:cNvSpPr txBox="1"/>
          <p:nvPr/>
        </p:nvSpPr>
        <p:spPr>
          <a:xfrm>
            <a:off x="6393028" y="3475384"/>
            <a:ext cx="20116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“Lotin” sozlamasi</a:t>
            </a:r>
            <a:endParaRPr lang="en-US" sz="1200" dirty="0"/>
          </a:p>
        </p:txBody>
      </p:sp>
      <p:sp>
        <p:nvSpPr>
          <p:cNvPr id="13" name="Text 9"/>
          <p:cNvSpPr txBox="1"/>
          <p:nvPr/>
        </p:nvSpPr>
        <p:spPr>
          <a:xfrm>
            <a:off x="548640" y="4206904"/>
            <a:ext cx="548640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Xabar bazada asl holida saqlanadi, o‘girish faqat ko‘rsatishda</a:t>
            </a:r>
            <a:endParaRPr lang="en-US" sz="1400" dirty="0"/>
          </a:p>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Kontekst qoidalari: е → ye/e, ц → ts/s, ў → o‘, tutuq belgisi</a:t>
            </a:r>
            <a:endParaRPr lang="en-US" sz="1400" dirty="0"/>
          </a:p>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URL, @username va kod o‘girilmaydi</a:t>
            </a:r>
            <a:endParaRPr lang="en-US" sz="1400" dirty="0"/>
          </a:p>
          <a:p>
            <a:pPr marL="342900" indent="-342900">
              <a:spcAft>
                <a:spcPts val="600"/>
              </a:spcAft>
              <a:buSzPct val="100000"/>
              <a:buChar char="•"/>
            </a:pPr>
            <a:r>
              <a:rPr lang="en-US" sz="1400" dirty="0">
                <a:solidFill>
                  <a:srgbClr val="1F2937"/>
                </a:solidFill>
                <a:latin typeface="Arial" pitchFamily="34" charset="0"/>
                <a:ea typeface="Arial" pitchFamily="34" charset="-122"/>
                <a:cs typeface="Arial" pitchFamily="34" charset="-120"/>
              </a:rPr>
              <a:t>Server (C#) va klient (TS) — bitta 80 juftlikli test to‘plami</a:t>
            </a:r>
            <a:endParaRPr lang="en-US" sz="1400" dirty="0"/>
          </a:p>
        </p:txBody>
      </p:sp>
      <p:sp>
        <p:nvSpPr>
          <p:cNvPr id="14" name="Shape 10"/>
          <p:cNvSpPr/>
          <p:nvPr/>
        </p:nvSpPr>
        <p:spPr>
          <a:xfrm>
            <a:off x="6309360" y="4252624"/>
            <a:ext cx="5333695" cy="1220126"/>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5" name="Image 2" descr="C:\Users\Sardor\Desktop\diplom ish\diplom\generator\rasmlar\3-29-db-search-text.png">    </p:cNvPr>
          <p:cNvPicPr>
            <a:picLocks noChangeAspect="1"/>
          </p:cNvPicPr>
          <p:nvPr/>
        </p:nvPicPr>
        <p:blipFill>
          <a:blip r:embed="rId3"/>
          <a:stretch>
            <a:fillRect/>
          </a:stretch>
        </p:blipFill>
        <p:spPr>
          <a:xfrm>
            <a:off x="6309360" y="4252624"/>
            <a:ext cx="5333695" cy="1220126"/>
          </a:xfrm>
          <a:prstGeom prst="rect">
            <a:avLst/>
          </a:prstGeom>
        </p:spPr>
      </p:pic>
      <p:sp>
        <p:nvSpPr>
          <p:cNvPr id="16" name="Text 11"/>
          <p:cNvSpPr txBox="1"/>
          <p:nvPr/>
        </p:nvSpPr>
        <p:spPr>
          <a:xfrm>
            <a:off x="6309360" y="5518470"/>
            <a:ext cx="5333695"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SearchText — yozuvdan qat’i nazar qidiruv kaliti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Tashkilot rejimi: e-pochta domeni orqali tasdiq</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14 / 25</a:t>
            </a:r>
            <a:endParaRPr lang="en-US" sz="1000" dirty="0"/>
          </a:p>
        </p:txBody>
      </p:sp>
      <p:sp>
        <p:nvSpPr>
          <p:cNvPr id="5" name="Shape 3"/>
          <p:cNvSpPr/>
          <p:nvPr/>
        </p:nvSpPr>
        <p:spPr>
          <a:xfrm>
            <a:off x="548640" y="1417320"/>
            <a:ext cx="548640" cy="548640"/>
          </a:xfrm>
          <a:prstGeom prst="ellipse">
            <a:avLst/>
          </a:prstGeom>
          <a:solidFill>
            <a:srgbClr val="4F46E5"/>
          </a:solidFill>
          <a:ln/>
        </p:spPr>
      </p:sp>
      <p:pic>
        <p:nvPicPr>
          <p:cNvPr id="6" name="Image 0" descr="C:\Users\Sardor\Desktop\diplom ish\diplom\generator\slides-cache\icons\mail-check-FFFFFF.png">    </p:cNvPr>
          <p:cNvPicPr>
            <a:picLocks noChangeAspect="1"/>
          </p:cNvPicPr>
          <p:nvPr/>
        </p:nvPicPr>
        <p:blipFill>
          <a:blip r:embed="rId1"/>
          <a:stretch>
            <a:fillRect/>
          </a:stretch>
        </p:blipFill>
        <p:spPr>
          <a:xfrm>
            <a:off x="685800" y="1554480"/>
            <a:ext cx="274320" cy="274320"/>
          </a:xfrm>
          <a:prstGeom prst="rect">
            <a:avLst/>
          </a:prstGeom>
        </p:spPr>
      </p:pic>
      <p:sp>
        <p:nvSpPr>
          <p:cNvPr id="7" name="Text 4"/>
          <p:cNvSpPr txBox="1"/>
          <p:nvPr/>
        </p:nvSpPr>
        <p:spPr>
          <a:xfrm>
            <a:off x="1325880" y="1399032"/>
            <a:ext cx="34290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Tasdiqlangan pochta bilan kirish</a:t>
            </a:r>
            <a:endParaRPr lang="en-US" sz="1600" dirty="0"/>
          </a:p>
        </p:txBody>
      </p:sp>
      <p:sp>
        <p:nvSpPr>
          <p:cNvPr id="8" name="Text 5"/>
          <p:cNvSpPr txBox="1"/>
          <p:nvPr/>
        </p:nvSpPr>
        <p:spPr>
          <a:xfrm>
            <a:off x="1325880" y="1746504"/>
            <a:ext cx="34290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ali@tuit.uz → tashkilot “tuit.uz”</a:t>
            </a:r>
            <a:endParaRPr lang="en-US" sz="1300" dirty="0"/>
          </a:p>
        </p:txBody>
      </p:sp>
      <p:sp>
        <p:nvSpPr>
          <p:cNvPr id="9" name="Shape 6"/>
          <p:cNvSpPr/>
          <p:nvPr/>
        </p:nvSpPr>
        <p:spPr>
          <a:xfrm>
            <a:off x="548640" y="2532888"/>
            <a:ext cx="548640" cy="548640"/>
          </a:xfrm>
          <a:prstGeom prst="ellipse">
            <a:avLst/>
          </a:prstGeom>
          <a:solidFill>
            <a:srgbClr val="4F46E5"/>
          </a:solidFill>
          <a:ln/>
        </p:spPr>
      </p:sp>
      <p:pic>
        <p:nvPicPr>
          <p:cNvPr id="10" name="Image 1" descr="C:\Users\Sardor\Desktop\diplom ish\diplom\generator\slides-cache\icons\badge-check-FFFFFF.png">    </p:cNvPr>
          <p:cNvPicPr>
            <a:picLocks noChangeAspect="1"/>
          </p:cNvPicPr>
          <p:nvPr/>
        </p:nvPicPr>
        <p:blipFill>
          <a:blip r:embed="rId2"/>
          <a:stretch>
            <a:fillRect/>
          </a:stretch>
        </p:blipFill>
        <p:spPr>
          <a:xfrm>
            <a:off x="685800" y="2670048"/>
            <a:ext cx="274320" cy="274320"/>
          </a:xfrm>
          <a:prstGeom prst="rect">
            <a:avLst/>
          </a:prstGeom>
        </p:spPr>
      </p:pic>
      <p:sp>
        <p:nvSpPr>
          <p:cNvPr id="11" name="Text 7"/>
          <p:cNvSpPr txBox="1"/>
          <p:nvPr/>
        </p:nvSpPr>
        <p:spPr>
          <a:xfrm>
            <a:off x="1325880" y="2514600"/>
            <a:ext cx="34290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Birinchi foydalanuvchi — admin</a:t>
            </a:r>
            <a:endParaRPr lang="en-US" sz="1600" dirty="0"/>
          </a:p>
        </p:txBody>
      </p:sp>
      <p:sp>
        <p:nvSpPr>
          <p:cNvPr id="12" name="Text 8"/>
          <p:cNvSpPr txBox="1"/>
          <p:nvPr/>
        </p:nvSpPr>
        <p:spPr>
          <a:xfrm>
            <a:off x="1325880" y="2862072"/>
            <a:ext cx="34290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Domenning yopiq guruhi avtomatik yaratiladi</a:t>
            </a:r>
            <a:endParaRPr lang="en-US" sz="1300" dirty="0"/>
          </a:p>
        </p:txBody>
      </p:sp>
      <p:sp>
        <p:nvSpPr>
          <p:cNvPr id="13" name="Shape 9"/>
          <p:cNvSpPr/>
          <p:nvPr/>
        </p:nvSpPr>
        <p:spPr>
          <a:xfrm>
            <a:off x="548640" y="3648456"/>
            <a:ext cx="548640" cy="548640"/>
          </a:xfrm>
          <a:prstGeom prst="ellipse">
            <a:avLst/>
          </a:prstGeom>
          <a:solidFill>
            <a:srgbClr val="4F46E5"/>
          </a:solidFill>
          <a:ln/>
        </p:spPr>
      </p:sp>
      <p:pic>
        <p:nvPicPr>
          <p:cNvPr id="14" name="Image 2" descr="C:\Users\Sardor\Desktop\diplom ish\diplom\generator\slides-cache\icons\users-FFFFFF.png">    </p:cNvPr>
          <p:cNvPicPr>
            <a:picLocks noChangeAspect="1"/>
          </p:cNvPicPr>
          <p:nvPr/>
        </p:nvPicPr>
        <p:blipFill>
          <a:blip r:embed="rId3"/>
          <a:stretch>
            <a:fillRect/>
          </a:stretch>
        </p:blipFill>
        <p:spPr>
          <a:xfrm>
            <a:off x="685800" y="3785616"/>
            <a:ext cx="274320" cy="274320"/>
          </a:xfrm>
          <a:prstGeom prst="rect">
            <a:avLst/>
          </a:prstGeom>
        </p:spPr>
      </p:pic>
      <p:sp>
        <p:nvSpPr>
          <p:cNvPr id="15" name="Text 10"/>
          <p:cNvSpPr txBox="1"/>
          <p:nvPr/>
        </p:nvSpPr>
        <p:spPr>
          <a:xfrm>
            <a:off x="1325880" y="3630168"/>
            <a:ext cx="34290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Keyingilar avtomatik a’zo</a:t>
            </a:r>
            <a:endParaRPr lang="en-US" sz="1600" dirty="0"/>
          </a:p>
        </p:txBody>
      </p:sp>
      <p:sp>
        <p:nvSpPr>
          <p:cNvPr id="16" name="Text 11"/>
          <p:cNvSpPr txBox="1"/>
          <p:nvPr/>
        </p:nvSpPr>
        <p:spPr>
          <a:xfrm>
            <a:off x="1325880" y="3977640"/>
            <a:ext cx="34290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Ism yonida “tuit.uz ✓”, guruhga qo‘shiladi</a:t>
            </a:r>
            <a:endParaRPr lang="en-US" sz="1300" dirty="0"/>
          </a:p>
        </p:txBody>
      </p:sp>
      <p:sp>
        <p:nvSpPr>
          <p:cNvPr id="17" name="Shape 12"/>
          <p:cNvSpPr/>
          <p:nvPr/>
        </p:nvSpPr>
        <p:spPr>
          <a:xfrm>
            <a:off x="548640" y="4764024"/>
            <a:ext cx="548640" cy="548640"/>
          </a:xfrm>
          <a:prstGeom prst="ellipse">
            <a:avLst/>
          </a:prstGeom>
          <a:solidFill>
            <a:srgbClr val="4F46E5"/>
          </a:solidFill>
          <a:ln/>
        </p:spPr>
      </p:sp>
      <p:pic>
        <p:nvPicPr>
          <p:cNvPr id="18" name="Image 3" descr="C:\Users\Sardor\Desktop\diplom ish\diplom\generator\slides-cache\icons\link-FFFFFF.png">    </p:cNvPr>
          <p:cNvPicPr>
            <a:picLocks noChangeAspect="1"/>
          </p:cNvPicPr>
          <p:nvPr/>
        </p:nvPicPr>
        <p:blipFill>
          <a:blip r:embed="rId4"/>
          <a:stretch>
            <a:fillRect/>
          </a:stretch>
        </p:blipFill>
        <p:spPr>
          <a:xfrm>
            <a:off x="685800" y="4901184"/>
            <a:ext cx="274320" cy="274320"/>
          </a:xfrm>
          <a:prstGeom prst="rect">
            <a:avLst/>
          </a:prstGeom>
        </p:spPr>
      </p:pic>
      <p:sp>
        <p:nvSpPr>
          <p:cNvPr id="19" name="Text 13"/>
          <p:cNvSpPr txBox="1"/>
          <p:nvPr/>
        </p:nvSpPr>
        <p:spPr>
          <a:xfrm>
            <a:off x="1325880" y="4745736"/>
            <a:ext cx="34290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Boshqalar — faqat taklif bilan</a:t>
            </a:r>
            <a:endParaRPr lang="en-US" sz="1600" dirty="0"/>
          </a:p>
        </p:txBody>
      </p:sp>
      <p:sp>
        <p:nvSpPr>
          <p:cNvPr id="20" name="Text 14"/>
          <p:cNvSpPr txBox="1"/>
          <p:nvPr/>
        </p:nvSpPr>
        <p:spPr>
          <a:xfrm>
            <a:off x="1325880" y="5093208"/>
            <a:ext cx="34290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gmail.com va h.k.: admin yoki 128 bitli havola</a:t>
            </a:r>
            <a:endParaRPr lang="en-US" sz="1300" dirty="0"/>
          </a:p>
        </p:txBody>
      </p:sp>
      <p:sp>
        <p:nvSpPr>
          <p:cNvPr id="21" name="Shape 15"/>
          <p:cNvSpPr/>
          <p:nvPr/>
        </p:nvSpPr>
        <p:spPr>
          <a:xfrm>
            <a:off x="5029200" y="1371600"/>
            <a:ext cx="6613855" cy="41336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22" name="Image 4" descr="C:\Users\Sardor\Desktop\diplom ish\diplom\generator\rasmlar\3-22-organization-group.jpg">    </p:cNvPr>
          <p:cNvPicPr>
            <a:picLocks noChangeAspect="1"/>
          </p:cNvPicPr>
          <p:nvPr/>
        </p:nvPicPr>
        <p:blipFill>
          <a:blip r:embed="rId5"/>
          <a:stretch>
            <a:fillRect/>
          </a:stretch>
        </p:blipFill>
        <p:spPr>
          <a:xfrm>
            <a:off x="5029200" y="1371600"/>
            <a:ext cx="6613855" cy="4133660"/>
          </a:xfrm>
          <a:prstGeom prst="rect">
            <a:avLst/>
          </a:prstGeom>
        </p:spPr>
      </p:pic>
      <p:sp>
        <p:nvSpPr>
          <p:cNvPr id="23" name="Shape 16"/>
          <p:cNvSpPr/>
          <p:nvPr/>
        </p:nvSpPr>
        <p:spPr>
          <a:xfrm>
            <a:off x="5166360" y="5048060"/>
            <a:ext cx="2834640" cy="329184"/>
          </a:xfrm>
          <a:prstGeom prst="roundRect">
            <a:avLst>
              <a:gd name="adj" fmla="val 50000"/>
            </a:avLst>
          </a:prstGeom>
          <a:solidFill>
            <a:srgbClr val="1E1B4B"/>
          </a:solidFill>
          <a:ln/>
        </p:spPr>
      </p:sp>
      <p:sp>
        <p:nvSpPr>
          <p:cNvPr id="24" name="Text 17"/>
          <p:cNvSpPr txBox="1"/>
          <p:nvPr/>
        </p:nvSpPr>
        <p:spPr>
          <a:xfrm>
            <a:off x="5166360" y="5048060"/>
            <a:ext cx="28346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Domen guruhi va taklif havolasi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Maxfiy chat: uchdan-uchgacha shifrlash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15 / 25</a:t>
            </a:r>
            <a:endParaRPr lang="en-US" sz="1000" dirty="0"/>
          </a:p>
        </p:txBody>
      </p:sp>
      <p:sp>
        <p:nvSpPr>
          <p:cNvPr id="5" name="Shape 3"/>
          <p:cNvSpPr/>
          <p:nvPr/>
        </p:nvSpPr>
        <p:spPr>
          <a:xfrm>
            <a:off x="548640" y="1371600"/>
            <a:ext cx="6035040" cy="452628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26-secret-chat.jpg">    </p:cNvPr>
          <p:cNvPicPr>
            <a:picLocks noChangeAspect="1"/>
          </p:cNvPicPr>
          <p:nvPr/>
        </p:nvPicPr>
        <p:blipFill>
          <a:blip r:embed="rId1"/>
          <a:srcRect l="22500" r="0" t="0" b="7000"/>
          <a:stretch/>
        </p:blipFill>
        <p:spPr>
          <a:xfrm>
            <a:off x="548640" y="1371600"/>
            <a:ext cx="6035040" cy="4526280"/>
          </a:xfrm>
          <a:prstGeom prst="rect">
            <a:avLst/>
          </a:prstGeom>
        </p:spPr>
      </p:pic>
      <p:sp>
        <p:nvSpPr>
          <p:cNvPr id="7" name="Text 4"/>
          <p:cNvSpPr txBox="1"/>
          <p:nvPr/>
        </p:nvSpPr>
        <p:spPr>
          <a:xfrm>
            <a:off x="6949440" y="1371600"/>
            <a:ext cx="4693615"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Protokol (Web Crypto API)</a:t>
            </a:r>
            <a:endParaRPr lang="en-US" sz="1600" dirty="0"/>
          </a:p>
        </p:txBody>
      </p:sp>
      <p:sp>
        <p:nvSpPr>
          <p:cNvPr id="8" name="Shape 5"/>
          <p:cNvSpPr/>
          <p:nvPr/>
        </p:nvSpPr>
        <p:spPr>
          <a:xfrm>
            <a:off x="6949440" y="1828800"/>
            <a:ext cx="4693615" cy="566928"/>
          </a:xfrm>
          <a:prstGeom prst="roundRect">
            <a:avLst>
              <a:gd name="adj" fmla="val 16129"/>
            </a:avLst>
          </a:prstGeom>
          <a:solidFill>
            <a:srgbClr val="E0E7FF"/>
          </a:solidFill>
          <a:ln/>
        </p:spPr>
      </p:sp>
      <p:sp>
        <p:nvSpPr>
          <p:cNvPr id="9" name="Text 6"/>
          <p:cNvSpPr txBox="1"/>
          <p:nvPr/>
        </p:nvSpPr>
        <p:spPr>
          <a:xfrm>
            <a:off x="7132320" y="1828800"/>
            <a:ext cx="4419295" cy="566928"/>
          </a:xfrm>
          <a:prstGeom prst="rect">
            <a:avLst/>
          </a:prstGeom>
          <a:noFill/>
          <a:ln/>
        </p:spPr>
        <p:txBody>
          <a:bodyPr wrap="square" lIns="0" tIns="0" rIns="0" bIns="0" rtlCol="0" anchor="ctr"/>
          <a:lstStyle/>
          <a:p>
            <a:pPr indent="0" marL="0">
              <a:buNone/>
            </a:pPr>
            <a:r>
              <a:rPr lang="en-US" sz="1200" b="1" dirty="0">
                <a:solidFill>
                  <a:srgbClr val="4F46E5"/>
                </a:solidFill>
                <a:latin typeface="Arial" pitchFamily="34" charset="0"/>
                <a:ea typeface="Arial" pitchFamily="34" charset="-122"/>
                <a:cs typeface="Arial" pitchFamily="34" charset="-120"/>
              </a:rPr>
              <a:t>X25519  </a:t>
            </a:r>
            <a:pPr indent="0" marL="0">
              <a:buNone/>
            </a:pPr>
            <a:r>
              <a:rPr lang="en-US" sz="1200" dirty="0">
                <a:solidFill>
                  <a:srgbClr val="1F2937"/>
                </a:solidFill>
                <a:latin typeface="Arial" pitchFamily="34" charset="0"/>
                <a:ea typeface="Arial" pitchFamily="34" charset="-122"/>
                <a:cs typeface="Arial" pitchFamily="34" charset="-120"/>
              </a:rPr>
              <a:t>kalit kelishuvi — serverga faqat ochiq kalit</a:t>
            </a:r>
            <a:endParaRPr lang="en-US" sz="1200" dirty="0"/>
          </a:p>
        </p:txBody>
      </p:sp>
      <p:sp>
        <p:nvSpPr>
          <p:cNvPr id="10" name="Shape 7"/>
          <p:cNvSpPr/>
          <p:nvPr/>
        </p:nvSpPr>
        <p:spPr>
          <a:xfrm>
            <a:off x="6949440" y="2542032"/>
            <a:ext cx="4693615" cy="566928"/>
          </a:xfrm>
          <a:prstGeom prst="roundRect">
            <a:avLst>
              <a:gd name="adj" fmla="val 16129"/>
            </a:avLst>
          </a:prstGeom>
          <a:solidFill>
            <a:srgbClr val="EEF2FF"/>
          </a:solidFill>
          <a:ln/>
        </p:spPr>
      </p:sp>
      <p:sp>
        <p:nvSpPr>
          <p:cNvPr id="11" name="Text 8"/>
          <p:cNvSpPr txBox="1"/>
          <p:nvPr/>
        </p:nvSpPr>
        <p:spPr>
          <a:xfrm>
            <a:off x="7132320" y="2542032"/>
            <a:ext cx="4419295" cy="566928"/>
          </a:xfrm>
          <a:prstGeom prst="rect">
            <a:avLst/>
          </a:prstGeom>
          <a:noFill/>
          <a:ln/>
        </p:spPr>
        <p:txBody>
          <a:bodyPr wrap="square" lIns="0" tIns="0" rIns="0" bIns="0" rtlCol="0" anchor="ctr"/>
          <a:lstStyle/>
          <a:p>
            <a:pPr indent="0" marL="0">
              <a:buNone/>
            </a:pPr>
            <a:r>
              <a:rPr lang="en-US" sz="1200" b="1" dirty="0">
                <a:solidFill>
                  <a:srgbClr val="4F46E5"/>
                </a:solidFill>
                <a:latin typeface="Arial" pitchFamily="34" charset="0"/>
                <a:ea typeface="Arial" pitchFamily="34" charset="-122"/>
                <a:cs typeface="Arial" pitchFamily="34" charset="-120"/>
              </a:rPr>
              <a:t>HKDF-SHA-256  </a:t>
            </a:r>
            <a:pPr indent="0" marL="0">
              <a:buNone/>
            </a:pPr>
            <a:r>
              <a:rPr lang="en-US" sz="1200" dirty="0">
                <a:solidFill>
                  <a:srgbClr val="1F2937"/>
                </a:solidFill>
                <a:latin typeface="Arial" pitchFamily="34" charset="0"/>
                <a:ea typeface="Arial" pitchFamily="34" charset="-122"/>
                <a:cs typeface="Arial" pitchFamily="34" charset="-120"/>
              </a:rPr>
              <a:t>ikki yo‘nalish uchun zanjir kalitlari</a:t>
            </a:r>
            <a:endParaRPr lang="en-US" sz="1200" dirty="0"/>
          </a:p>
        </p:txBody>
      </p:sp>
      <p:sp>
        <p:nvSpPr>
          <p:cNvPr id="12" name="Shape 9"/>
          <p:cNvSpPr/>
          <p:nvPr/>
        </p:nvSpPr>
        <p:spPr>
          <a:xfrm>
            <a:off x="6949440" y="3255264"/>
            <a:ext cx="4693615" cy="566928"/>
          </a:xfrm>
          <a:prstGeom prst="roundRect">
            <a:avLst>
              <a:gd name="adj" fmla="val 16129"/>
            </a:avLst>
          </a:prstGeom>
          <a:solidFill>
            <a:srgbClr val="E0E7FF"/>
          </a:solidFill>
          <a:ln/>
        </p:spPr>
      </p:sp>
      <p:sp>
        <p:nvSpPr>
          <p:cNvPr id="13" name="Text 10"/>
          <p:cNvSpPr txBox="1"/>
          <p:nvPr/>
        </p:nvSpPr>
        <p:spPr>
          <a:xfrm>
            <a:off x="7132320" y="3255264"/>
            <a:ext cx="4419295" cy="566928"/>
          </a:xfrm>
          <a:prstGeom prst="rect">
            <a:avLst/>
          </a:prstGeom>
          <a:noFill/>
          <a:ln/>
        </p:spPr>
        <p:txBody>
          <a:bodyPr wrap="square" lIns="0" tIns="0" rIns="0" bIns="0" rtlCol="0" anchor="ctr"/>
          <a:lstStyle/>
          <a:p>
            <a:pPr indent="0" marL="0">
              <a:buNone/>
            </a:pPr>
            <a:r>
              <a:rPr lang="en-US" sz="1200" b="1" dirty="0">
                <a:solidFill>
                  <a:srgbClr val="4F46E5"/>
                </a:solidFill>
                <a:latin typeface="Arial" pitchFamily="34" charset="0"/>
                <a:ea typeface="Arial" pitchFamily="34" charset="-122"/>
                <a:cs typeface="Arial" pitchFamily="34" charset="-120"/>
              </a:rPr>
              <a:t>HMAC ratchet  </a:t>
            </a:r>
            <a:pPr indent="0" marL="0">
              <a:buNone/>
            </a:pPr>
            <a:r>
              <a:rPr lang="en-US" sz="1200" dirty="0">
                <a:solidFill>
                  <a:srgbClr val="1F2937"/>
                </a:solidFill>
                <a:latin typeface="Arial" pitchFamily="34" charset="0"/>
                <a:ea typeface="Arial" pitchFamily="34" charset="-122"/>
                <a:cs typeface="Arial" pitchFamily="34" charset="-120"/>
              </a:rPr>
              <a:t>har xabarga yangi kalit, eskisi unutiladi</a:t>
            </a:r>
            <a:endParaRPr lang="en-US" sz="1200" dirty="0"/>
          </a:p>
        </p:txBody>
      </p:sp>
      <p:sp>
        <p:nvSpPr>
          <p:cNvPr id="14" name="Shape 11"/>
          <p:cNvSpPr/>
          <p:nvPr/>
        </p:nvSpPr>
        <p:spPr>
          <a:xfrm>
            <a:off x="6949440" y="3968496"/>
            <a:ext cx="4693615" cy="566928"/>
          </a:xfrm>
          <a:prstGeom prst="roundRect">
            <a:avLst>
              <a:gd name="adj" fmla="val 16129"/>
            </a:avLst>
          </a:prstGeom>
          <a:solidFill>
            <a:srgbClr val="EEF2FF"/>
          </a:solidFill>
          <a:ln/>
        </p:spPr>
      </p:sp>
      <p:sp>
        <p:nvSpPr>
          <p:cNvPr id="15" name="Text 12"/>
          <p:cNvSpPr txBox="1"/>
          <p:nvPr/>
        </p:nvSpPr>
        <p:spPr>
          <a:xfrm>
            <a:off x="7132320" y="3968496"/>
            <a:ext cx="4419295" cy="566928"/>
          </a:xfrm>
          <a:prstGeom prst="rect">
            <a:avLst/>
          </a:prstGeom>
          <a:noFill/>
          <a:ln/>
        </p:spPr>
        <p:txBody>
          <a:bodyPr wrap="square" lIns="0" tIns="0" rIns="0" bIns="0" rtlCol="0" anchor="ctr"/>
          <a:lstStyle/>
          <a:p>
            <a:pPr indent="0" marL="0">
              <a:buNone/>
            </a:pPr>
            <a:r>
              <a:rPr lang="en-US" sz="1200" b="1" dirty="0">
                <a:solidFill>
                  <a:srgbClr val="4F46E5"/>
                </a:solidFill>
                <a:latin typeface="Arial" pitchFamily="34" charset="0"/>
                <a:ea typeface="Arial" pitchFamily="34" charset="-122"/>
                <a:cs typeface="Arial" pitchFamily="34" charset="-120"/>
              </a:rPr>
              <a:t>AES-256-GCM  </a:t>
            </a:r>
            <a:pPr indent="0" marL="0">
              <a:buNone/>
            </a:pPr>
            <a:r>
              <a:rPr lang="en-US" sz="1200" dirty="0">
                <a:solidFill>
                  <a:srgbClr val="1F2937"/>
                </a:solidFill>
                <a:latin typeface="Arial" pitchFamily="34" charset="0"/>
                <a:ea typeface="Arial" pitchFamily="34" charset="-122"/>
                <a:cs typeface="Arial" pitchFamily="34" charset="-120"/>
              </a:rPr>
              <a:t>shifrlash; AAD = chat | yo‘nalish | seq</a:t>
            </a:r>
            <a:endParaRPr lang="en-US" sz="1200" dirty="0"/>
          </a:p>
        </p:txBody>
      </p:sp>
      <p:sp>
        <p:nvSpPr>
          <p:cNvPr id="16" name="Text 13"/>
          <p:cNvSpPr txBox="1"/>
          <p:nvPr/>
        </p:nvSpPr>
        <p:spPr>
          <a:xfrm>
            <a:off x="6949440" y="4818888"/>
            <a:ext cx="4693615" cy="320040"/>
          </a:xfrm>
          <a:prstGeom prst="rect">
            <a:avLst/>
          </a:prstGeom>
          <a:noFill/>
          <a:ln/>
        </p:spPr>
        <p:txBody>
          <a:bodyPr wrap="square" lIns="0" tIns="0" rIns="0" bIns="0" rtlCol="0" anchor="ctr"/>
          <a:lstStyle/>
          <a:p>
            <a:pPr indent="0" marL="0">
              <a:buNone/>
            </a:pPr>
            <a:r>
              <a:rPr lang="en-US" sz="1200" b="1" dirty="0">
                <a:solidFill>
                  <a:srgbClr val="1E1B4B"/>
                </a:solidFill>
                <a:latin typeface="Arial" pitchFamily="34" charset="0"/>
                <a:ea typeface="Arial" pitchFamily="34" charset="-122"/>
                <a:cs typeface="Arial" pitchFamily="34" charset="-120"/>
              </a:rPr>
              <a:t>Serverdagi yagona iz (secret_messages):</a:t>
            </a:r>
            <a:endParaRPr lang="en-US" sz="1200" dirty="0"/>
          </a:p>
        </p:txBody>
      </p:sp>
      <p:sp>
        <p:nvSpPr>
          <p:cNvPr id="17" name="Shape 14"/>
          <p:cNvSpPr/>
          <p:nvPr/>
        </p:nvSpPr>
        <p:spPr>
          <a:xfrm>
            <a:off x="6949440" y="5184648"/>
            <a:ext cx="4693615" cy="777240"/>
          </a:xfrm>
          <a:prstGeom prst="roundRect">
            <a:avLst>
              <a:gd name="adj" fmla="val 11765"/>
            </a:avLst>
          </a:prstGeom>
          <a:solidFill>
            <a:srgbClr val="1E1E1E"/>
          </a:solidFill>
          <a:ln/>
        </p:spPr>
      </p:sp>
      <p:sp>
        <p:nvSpPr>
          <p:cNvPr id="18" name="Text 15"/>
          <p:cNvSpPr txBox="1"/>
          <p:nvPr/>
        </p:nvSpPr>
        <p:spPr>
          <a:xfrm>
            <a:off x="7178040" y="5321808"/>
            <a:ext cx="4236415" cy="502920"/>
          </a:xfrm>
          <a:prstGeom prst="rect">
            <a:avLst/>
          </a:prstGeom>
          <a:noFill/>
          <a:ln/>
        </p:spPr>
        <p:txBody>
          <a:bodyPr wrap="square" lIns="0" tIns="0" rIns="0" bIns="0" rtlCol="0" anchor="t"/>
          <a:lstStyle/>
          <a:p>
            <a:pPr indent="0" marL="0">
              <a:lnSpc>
                <a:spcPct val="115000"/>
              </a:lnSpc>
              <a:buNone/>
            </a:pPr>
            <a:r>
              <a:rPr lang="en-US" sz="1200" dirty="0">
                <a:solidFill>
                  <a:srgbClr val="D4D4D4"/>
                </a:solidFill>
                <a:latin typeface="Consolas" pitchFamily="34" charset="0"/>
                <a:ea typeface="Consolas" pitchFamily="34" charset="-122"/>
                <a:cs typeface="Consolas" pitchFamily="34" charset="-120"/>
              </a:rPr>
              <a:t>Id | Seq | bytes | Ciphertext</a:t>
            </a:r>
            <a:endParaRPr lang="en-US" sz="1200" dirty="0"/>
          </a:p>
          <a:p>
            <a:pPr indent="0" marL="0">
              <a:lnSpc>
                <a:spcPct val="115000"/>
              </a:lnSpc>
              <a:buNone/>
            </a:pPr>
            <a:r>
              <a:rPr lang="en-US" sz="1200" dirty="0">
                <a:solidFill>
                  <a:srgbClr val="4ADE80"/>
                </a:solidFill>
                <a:latin typeface="Consolas" pitchFamily="34" charset="0"/>
                <a:ea typeface="Consolas" pitchFamily="34" charset="-122"/>
                <a:cs typeface="Consolas" pitchFamily="34" charset="-120"/>
              </a:rPr>
              <a:t> 6 |   5 |   183 | AdBp3POJtrxqSydreRLgRu…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Dastur interfeysi: tizimga kirish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16 / 25</a:t>
            </a:r>
            <a:endParaRPr lang="en-US" sz="1000" dirty="0"/>
          </a:p>
        </p:txBody>
      </p:sp>
      <p:sp>
        <p:nvSpPr>
          <p:cNvPr id="5" name="Shape 3"/>
          <p:cNvSpPr/>
          <p:nvPr/>
        </p:nvSpPr>
        <p:spPr>
          <a:xfrm>
            <a:off x="1078361" y="1463040"/>
            <a:ext cx="2455817"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01-login.jpg">    </p:cNvPr>
          <p:cNvPicPr>
            <a:picLocks noChangeAspect="1"/>
          </p:cNvPicPr>
          <p:nvPr/>
        </p:nvPicPr>
        <p:blipFill>
          <a:blip r:embed="rId1"/>
          <a:srcRect l="3000" r="50000" t="4000" b="12000"/>
          <a:stretch/>
        </p:blipFill>
        <p:spPr>
          <a:xfrm>
            <a:off x="1078361" y="1463040"/>
            <a:ext cx="2455817" cy="2743200"/>
          </a:xfrm>
          <a:prstGeom prst="rect">
            <a:avLst/>
          </a:prstGeom>
        </p:spPr>
      </p:pic>
      <p:sp>
        <p:nvSpPr>
          <p:cNvPr id="7" name="Shape 4"/>
          <p:cNvSpPr/>
          <p:nvPr/>
        </p:nvSpPr>
        <p:spPr>
          <a:xfrm>
            <a:off x="895481" y="1325880"/>
            <a:ext cx="457200" cy="457200"/>
          </a:xfrm>
          <a:prstGeom prst="ellipse">
            <a:avLst/>
          </a:prstGeom>
          <a:solidFill>
            <a:srgbClr val="4F46E5"/>
          </a:solidFill>
          <a:ln/>
        </p:spPr>
      </p:sp>
      <p:sp>
        <p:nvSpPr>
          <p:cNvPr id="8" name="Text 5"/>
          <p:cNvSpPr txBox="1"/>
          <p:nvPr/>
        </p:nvSpPr>
        <p:spPr>
          <a:xfrm>
            <a:off x="895481"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6"/>
          <p:cNvSpPr txBox="1"/>
          <p:nvPr/>
        </p:nvSpPr>
        <p:spPr>
          <a:xfrm>
            <a:off x="548640" y="4343400"/>
            <a:ext cx="3515258" cy="32004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Kirish</a:t>
            </a:r>
            <a:endParaRPr lang="en-US" sz="1600" dirty="0"/>
          </a:p>
        </p:txBody>
      </p:sp>
      <p:sp>
        <p:nvSpPr>
          <p:cNvPr id="10" name="Text 7"/>
          <p:cNvSpPr txBox="1"/>
          <p:nvPr/>
        </p:nvSpPr>
        <p:spPr>
          <a:xfrm>
            <a:off x="548640" y="4663440"/>
            <a:ext cx="3515258" cy="548640"/>
          </a:xfrm>
          <a:prstGeom prst="rect">
            <a:avLst/>
          </a:prstGeom>
          <a:noFill/>
          <a:ln/>
        </p:spPr>
        <p:txBody>
          <a:bodyPr wrap="square" lIns="0" tIns="0" rIns="0" bIns="0" rtlCol="0" anchor="t"/>
          <a:lstStyle/>
          <a:p>
            <a:pPr algn="ctr" indent="0" marL="0">
              <a:buNone/>
            </a:pPr>
            <a:r>
              <a:rPr lang="en-US" sz="1300" dirty="0">
                <a:solidFill>
                  <a:srgbClr val="6B7280"/>
                </a:solidFill>
                <a:latin typeface="Arial" pitchFamily="34" charset="0"/>
                <a:ea typeface="Arial" pitchFamily="34" charset="-122"/>
                <a:cs typeface="Arial" pitchFamily="34" charset="-120"/>
              </a:rPr>
              <a:t>E-pochta manzilini kiritish yoki Google orqali kirish</a:t>
            </a:r>
            <a:endParaRPr lang="en-US" sz="1300" dirty="0"/>
          </a:p>
        </p:txBody>
      </p:sp>
      <p:sp>
        <p:nvSpPr>
          <p:cNvPr id="11" name="Shape 8"/>
          <p:cNvSpPr/>
          <p:nvPr/>
        </p:nvSpPr>
        <p:spPr>
          <a:xfrm>
            <a:off x="4867939" y="1463040"/>
            <a:ext cx="2455817"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2" name="Image 1" descr="C:\Users\Sardor\Desktop\diplom ish\diplom\generator\rasmlar\3-02-otp.jpg">    </p:cNvPr>
          <p:cNvPicPr>
            <a:picLocks noChangeAspect="1"/>
          </p:cNvPicPr>
          <p:nvPr/>
        </p:nvPicPr>
        <p:blipFill>
          <a:blip r:embed="rId2"/>
          <a:srcRect l="3000" r="50000" t="4000" b="12000"/>
          <a:stretch/>
        </p:blipFill>
        <p:spPr>
          <a:xfrm>
            <a:off x="4867939" y="1463040"/>
            <a:ext cx="2455817" cy="2743200"/>
          </a:xfrm>
          <a:prstGeom prst="rect">
            <a:avLst/>
          </a:prstGeom>
        </p:spPr>
      </p:pic>
      <p:sp>
        <p:nvSpPr>
          <p:cNvPr id="13" name="Shape 9"/>
          <p:cNvSpPr/>
          <p:nvPr/>
        </p:nvSpPr>
        <p:spPr>
          <a:xfrm>
            <a:off x="4685059" y="1325880"/>
            <a:ext cx="457200" cy="457200"/>
          </a:xfrm>
          <a:prstGeom prst="ellipse">
            <a:avLst/>
          </a:prstGeom>
          <a:solidFill>
            <a:srgbClr val="4F46E5"/>
          </a:solidFill>
          <a:ln/>
        </p:spPr>
      </p:sp>
      <p:sp>
        <p:nvSpPr>
          <p:cNvPr id="14" name="Text 10"/>
          <p:cNvSpPr txBox="1"/>
          <p:nvPr/>
        </p:nvSpPr>
        <p:spPr>
          <a:xfrm>
            <a:off x="4685059"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1"/>
          <p:cNvSpPr txBox="1"/>
          <p:nvPr/>
        </p:nvSpPr>
        <p:spPr>
          <a:xfrm>
            <a:off x="4338218" y="4343400"/>
            <a:ext cx="3515258" cy="32004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Tasdiqlash kodi</a:t>
            </a:r>
            <a:endParaRPr lang="en-US" sz="1600" dirty="0"/>
          </a:p>
        </p:txBody>
      </p:sp>
      <p:sp>
        <p:nvSpPr>
          <p:cNvPr id="16" name="Text 12"/>
          <p:cNvSpPr txBox="1"/>
          <p:nvPr/>
        </p:nvSpPr>
        <p:spPr>
          <a:xfrm>
            <a:off x="4338218" y="4663440"/>
            <a:ext cx="3515258" cy="548640"/>
          </a:xfrm>
          <a:prstGeom prst="rect">
            <a:avLst/>
          </a:prstGeom>
          <a:noFill/>
          <a:ln/>
        </p:spPr>
        <p:txBody>
          <a:bodyPr wrap="square" lIns="0" tIns="0" rIns="0" bIns="0" rtlCol="0" anchor="t"/>
          <a:lstStyle/>
          <a:p>
            <a:pPr algn="ctr" indent="0" marL="0">
              <a:buNone/>
            </a:pPr>
            <a:r>
              <a:rPr lang="en-US" sz="1300" dirty="0">
                <a:solidFill>
                  <a:srgbClr val="6B7280"/>
                </a:solidFill>
                <a:latin typeface="Arial" pitchFamily="34" charset="0"/>
                <a:ea typeface="Arial" pitchFamily="34" charset="-122"/>
                <a:cs typeface="Arial" pitchFamily="34" charset="-120"/>
              </a:rPr>
              <a:t>6 xonali bir martalik kod pochtaga yuboriladi</a:t>
            </a:r>
            <a:endParaRPr lang="en-US" sz="1300" dirty="0"/>
          </a:p>
        </p:txBody>
      </p:sp>
      <p:sp>
        <p:nvSpPr>
          <p:cNvPr id="17" name="Shape 13"/>
          <p:cNvSpPr/>
          <p:nvPr/>
        </p:nvSpPr>
        <p:spPr>
          <a:xfrm>
            <a:off x="8657517" y="1463040"/>
            <a:ext cx="2455817" cy="27432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8" name="Image 2" descr="C:\Users\Sardor\Desktop\diplom ish\diplom\generator\rasmlar\3-03-register.jpg">    </p:cNvPr>
          <p:cNvPicPr>
            <a:picLocks noChangeAspect="1"/>
          </p:cNvPicPr>
          <p:nvPr/>
        </p:nvPicPr>
        <p:blipFill>
          <a:blip r:embed="rId3"/>
          <a:srcRect l="3000" r="50000" t="4000" b="12000"/>
          <a:stretch/>
        </p:blipFill>
        <p:spPr>
          <a:xfrm>
            <a:off x="8657517" y="1463040"/>
            <a:ext cx="2455817" cy="2743200"/>
          </a:xfrm>
          <a:prstGeom prst="rect">
            <a:avLst/>
          </a:prstGeom>
        </p:spPr>
      </p:pic>
      <p:sp>
        <p:nvSpPr>
          <p:cNvPr id="19" name="Shape 14"/>
          <p:cNvSpPr/>
          <p:nvPr/>
        </p:nvSpPr>
        <p:spPr>
          <a:xfrm>
            <a:off x="8474637" y="1325880"/>
            <a:ext cx="457200" cy="457200"/>
          </a:xfrm>
          <a:prstGeom prst="ellipse">
            <a:avLst/>
          </a:prstGeom>
          <a:solidFill>
            <a:srgbClr val="4F46E5"/>
          </a:solidFill>
          <a:ln/>
        </p:spPr>
      </p:sp>
      <p:sp>
        <p:nvSpPr>
          <p:cNvPr id="20" name="Text 15"/>
          <p:cNvSpPr txBox="1"/>
          <p:nvPr/>
        </p:nvSpPr>
        <p:spPr>
          <a:xfrm>
            <a:off x="8474637" y="1325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6"/>
          <p:cNvSpPr txBox="1"/>
          <p:nvPr/>
        </p:nvSpPr>
        <p:spPr>
          <a:xfrm>
            <a:off x="8127797" y="4343400"/>
            <a:ext cx="3515258" cy="32004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Ro‘yxatdan o‘tish</a:t>
            </a:r>
            <a:endParaRPr lang="en-US" sz="1600" dirty="0"/>
          </a:p>
        </p:txBody>
      </p:sp>
      <p:sp>
        <p:nvSpPr>
          <p:cNvPr id="22" name="Text 17"/>
          <p:cNvSpPr txBox="1"/>
          <p:nvPr/>
        </p:nvSpPr>
        <p:spPr>
          <a:xfrm>
            <a:off x="8127797" y="4663440"/>
            <a:ext cx="3515258" cy="548640"/>
          </a:xfrm>
          <a:prstGeom prst="rect">
            <a:avLst/>
          </a:prstGeom>
          <a:noFill/>
          <a:ln/>
        </p:spPr>
        <p:txBody>
          <a:bodyPr wrap="square" lIns="0" tIns="0" rIns="0" bIns="0" rtlCol="0" anchor="t"/>
          <a:lstStyle/>
          <a:p>
            <a:pPr algn="ctr" indent="0" marL="0">
              <a:buNone/>
            </a:pPr>
            <a:r>
              <a:rPr lang="en-US" sz="1300" dirty="0">
                <a:solidFill>
                  <a:srgbClr val="6B7280"/>
                </a:solidFill>
                <a:latin typeface="Arial" pitchFamily="34" charset="0"/>
                <a:ea typeface="Arial" pitchFamily="34" charset="-122"/>
                <a:cs typeface="Arial" pitchFamily="34" charset="-120"/>
              </a:rPr>
              <a:t>Yangi foydalanuvchi ismi va username’ini kiritadi</a:t>
            </a:r>
            <a:endParaRPr lang="en-US" sz="1300" dirty="0"/>
          </a:p>
        </p:txBody>
      </p:sp>
      <p:sp>
        <p:nvSpPr>
          <p:cNvPr id="23" name="Shape 18"/>
          <p:cNvSpPr/>
          <p:nvPr/>
        </p:nvSpPr>
        <p:spPr>
          <a:xfrm>
            <a:off x="548640" y="5349240"/>
            <a:ext cx="11094415" cy="731520"/>
          </a:xfrm>
          <a:prstGeom prst="roundRect">
            <a:avLst>
              <a:gd name="adj" fmla="val 15000"/>
            </a:avLst>
          </a:prstGeom>
          <a:solidFill>
            <a:srgbClr val="EEF2FF"/>
          </a:solidFill>
          <a:ln/>
        </p:spPr>
      </p:sp>
      <p:sp>
        <p:nvSpPr>
          <p:cNvPr id="24" name="Shape 19"/>
          <p:cNvSpPr/>
          <p:nvPr/>
        </p:nvSpPr>
        <p:spPr>
          <a:xfrm>
            <a:off x="777240" y="5458968"/>
            <a:ext cx="512064" cy="512064"/>
          </a:xfrm>
          <a:prstGeom prst="ellipse">
            <a:avLst/>
          </a:prstGeom>
          <a:solidFill>
            <a:srgbClr val="4F46E5"/>
          </a:solidFill>
          <a:ln/>
        </p:spPr>
      </p:sp>
      <p:pic>
        <p:nvPicPr>
          <p:cNvPr id="25" name="Image 3" descr="C:\Users\Sardor\Desktop\diplom ish\diplom\generator\slides-cache\icons\key-round-FFFFFF.png">    </p:cNvPr>
          <p:cNvPicPr>
            <a:picLocks noChangeAspect="1"/>
          </p:cNvPicPr>
          <p:nvPr/>
        </p:nvPicPr>
        <p:blipFill>
          <a:blip r:embed="rId4"/>
          <a:stretch>
            <a:fillRect/>
          </a:stretch>
        </p:blipFill>
        <p:spPr>
          <a:xfrm>
            <a:off x="905256" y="5586984"/>
            <a:ext cx="256032" cy="256032"/>
          </a:xfrm>
          <a:prstGeom prst="rect">
            <a:avLst/>
          </a:prstGeom>
        </p:spPr>
      </p:pic>
      <p:sp>
        <p:nvSpPr>
          <p:cNvPr id="26" name="Text 20"/>
          <p:cNvSpPr txBox="1"/>
          <p:nvPr/>
        </p:nvSpPr>
        <p:spPr>
          <a:xfrm>
            <a:off x="1508760" y="5349240"/>
            <a:ext cx="9905695" cy="731520"/>
          </a:xfrm>
          <a:prstGeom prst="rect">
            <a:avLst/>
          </a:prstGeom>
          <a:noFill/>
          <a:ln/>
        </p:spPr>
        <p:txBody>
          <a:bodyPr wrap="square" lIns="0" tIns="0" rIns="0" bIns="0" rtlCol="0" anchor="ctr"/>
          <a:lstStyle/>
          <a:p>
            <a:pPr indent="0" marL="0">
              <a:buNone/>
            </a:pPr>
            <a:r>
              <a:rPr lang="en-US" sz="1500" dirty="0">
                <a:solidFill>
                  <a:srgbClr val="1E1B4B"/>
                </a:solidFill>
                <a:latin typeface="Arial" pitchFamily="34" charset="0"/>
                <a:ea typeface="Arial" pitchFamily="34" charset="-122"/>
                <a:cs typeface="Arial" pitchFamily="34" charset="-120"/>
              </a:rPr>
              <a:t>Parolsiz kirish: parol saqlanmaydi va sizib chiqmaydi — foydalanuvchi faqat pochtasiga egaligini tasdiqlaydi.</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Dastur interfeysi: shaxsiy chat</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17 / 25</a:t>
            </a:r>
            <a:endParaRPr lang="en-US" sz="1000" dirty="0"/>
          </a:p>
        </p:txBody>
      </p:sp>
      <p:sp>
        <p:nvSpPr>
          <p:cNvPr id="5" name="Shape 3"/>
          <p:cNvSpPr/>
          <p:nvPr/>
        </p:nvSpPr>
        <p:spPr>
          <a:xfrm>
            <a:off x="548640" y="1371600"/>
            <a:ext cx="7132320" cy="44577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05-private-chat.jpg">    </p:cNvPr>
          <p:cNvPicPr>
            <a:picLocks noChangeAspect="1"/>
          </p:cNvPicPr>
          <p:nvPr/>
        </p:nvPicPr>
        <p:blipFill>
          <a:blip r:embed="rId1"/>
          <a:stretch>
            <a:fillRect/>
          </a:stretch>
        </p:blipFill>
        <p:spPr>
          <a:xfrm>
            <a:off x="548640" y="1371600"/>
            <a:ext cx="7132320" cy="4457700"/>
          </a:xfrm>
          <a:prstGeom prst="rect">
            <a:avLst/>
          </a:prstGeom>
        </p:spPr>
      </p:pic>
      <p:sp>
        <p:nvSpPr>
          <p:cNvPr id="7" name="Shape 4"/>
          <p:cNvSpPr/>
          <p:nvPr/>
        </p:nvSpPr>
        <p:spPr>
          <a:xfrm>
            <a:off x="685800" y="5372100"/>
            <a:ext cx="4206240" cy="329184"/>
          </a:xfrm>
          <a:prstGeom prst="roundRect">
            <a:avLst>
              <a:gd name="adj" fmla="val 50000"/>
            </a:avLst>
          </a:prstGeom>
          <a:solidFill>
            <a:srgbClr val="1E1B4B"/>
          </a:solidFill>
          <a:ln/>
        </p:spPr>
      </p:sp>
      <p:sp>
        <p:nvSpPr>
          <p:cNvPr id="8" name="Text 5"/>
          <p:cNvSpPr txBox="1"/>
          <p:nvPr/>
        </p:nvSpPr>
        <p:spPr>
          <a:xfrm>
            <a:off x="685800" y="5372100"/>
            <a:ext cx="42062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Suhbat: “yozmoqda…”, o‘qildi ✓✓, onlayn holat</a:t>
            </a:r>
            <a:endParaRPr lang="en-US" sz="1200" dirty="0"/>
          </a:p>
        </p:txBody>
      </p:sp>
      <p:sp>
        <p:nvSpPr>
          <p:cNvPr id="9" name="Shape 6"/>
          <p:cNvSpPr/>
          <p:nvPr/>
        </p:nvSpPr>
        <p:spPr>
          <a:xfrm>
            <a:off x="8066380" y="1371600"/>
            <a:ext cx="3511296" cy="21945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age 1" descr="C:\Users\Sardor\Desktop\diplom ish\diplom\generator\rasmlar\3-06-reply.jpg">    </p:cNvPr>
          <p:cNvPicPr>
            <a:picLocks noChangeAspect="1"/>
          </p:cNvPicPr>
          <p:nvPr/>
        </p:nvPicPr>
        <p:blipFill>
          <a:blip r:embed="rId2"/>
          <a:stretch>
            <a:fillRect/>
          </a:stretch>
        </p:blipFill>
        <p:spPr>
          <a:xfrm>
            <a:off x="8066380" y="1371600"/>
            <a:ext cx="3511296" cy="2194560"/>
          </a:xfrm>
          <a:prstGeom prst="rect">
            <a:avLst/>
          </a:prstGeom>
        </p:spPr>
      </p:pic>
      <p:sp>
        <p:nvSpPr>
          <p:cNvPr id="11" name="Shape 7"/>
          <p:cNvSpPr/>
          <p:nvPr/>
        </p:nvSpPr>
        <p:spPr>
          <a:xfrm>
            <a:off x="8203540" y="3108960"/>
            <a:ext cx="2103120" cy="329184"/>
          </a:xfrm>
          <a:prstGeom prst="roundRect">
            <a:avLst>
              <a:gd name="adj" fmla="val 50000"/>
            </a:avLst>
          </a:prstGeom>
          <a:solidFill>
            <a:srgbClr val="1E1B4B"/>
          </a:solidFill>
          <a:ln/>
        </p:spPr>
      </p:sp>
      <p:sp>
        <p:nvSpPr>
          <p:cNvPr id="12" name="Text 8"/>
          <p:cNvSpPr txBox="1"/>
          <p:nvPr/>
        </p:nvSpPr>
        <p:spPr>
          <a:xfrm>
            <a:off x="8203540" y="3108960"/>
            <a:ext cx="21031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Xabarga javob (reply)</a:t>
            </a:r>
            <a:endParaRPr lang="en-US" sz="1200" dirty="0"/>
          </a:p>
        </p:txBody>
      </p:sp>
      <p:sp>
        <p:nvSpPr>
          <p:cNvPr id="13" name="Shape 9"/>
          <p:cNvSpPr/>
          <p:nvPr/>
        </p:nvSpPr>
        <p:spPr>
          <a:xfrm>
            <a:off x="8066380" y="3794760"/>
            <a:ext cx="3511296" cy="21945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4" name="Image 2" descr="C:\Users\Sardor\Desktop\diplom ish\diplom\generator\rasmlar\3-07-image-viewer.jpg">    </p:cNvPr>
          <p:cNvPicPr>
            <a:picLocks noChangeAspect="1"/>
          </p:cNvPicPr>
          <p:nvPr/>
        </p:nvPicPr>
        <p:blipFill>
          <a:blip r:embed="rId3"/>
          <a:stretch>
            <a:fillRect/>
          </a:stretch>
        </p:blipFill>
        <p:spPr>
          <a:xfrm>
            <a:off x="8066380" y="3794760"/>
            <a:ext cx="3511296" cy="2194560"/>
          </a:xfrm>
          <a:prstGeom prst="rect">
            <a:avLst/>
          </a:prstGeom>
        </p:spPr>
      </p:pic>
      <p:sp>
        <p:nvSpPr>
          <p:cNvPr id="15" name="Shape 10"/>
          <p:cNvSpPr/>
          <p:nvPr/>
        </p:nvSpPr>
        <p:spPr>
          <a:xfrm>
            <a:off x="8203540" y="5532120"/>
            <a:ext cx="1554480" cy="329184"/>
          </a:xfrm>
          <a:prstGeom prst="roundRect">
            <a:avLst>
              <a:gd name="adj" fmla="val 50000"/>
            </a:avLst>
          </a:prstGeom>
          <a:solidFill>
            <a:srgbClr val="1E1B4B"/>
          </a:solidFill>
          <a:ln/>
        </p:spPr>
      </p:sp>
      <p:sp>
        <p:nvSpPr>
          <p:cNvPr id="16" name="Text 11"/>
          <p:cNvSpPr txBox="1"/>
          <p:nvPr/>
        </p:nvSpPr>
        <p:spPr>
          <a:xfrm>
            <a:off x="8203540" y="5532120"/>
            <a:ext cx="15544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Rasmni ko‘rish</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Dastur interfeysi: guruh chatlari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18 / 25</a:t>
            </a:r>
            <a:endParaRPr lang="en-US" sz="1000" dirty="0"/>
          </a:p>
        </p:txBody>
      </p:sp>
      <p:sp>
        <p:nvSpPr>
          <p:cNvPr id="5" name="Shape 3"/>
          <p:cNvSpPr/>
          <p:nvPr/>
        </p:nvSpPr>
        <p:spPr>
          <a:xfrm>
            <a:off x="548640" y="1417320"/>
            <a:ext cx="502920" cy="502920"/>
          </a:xfrm>
          <a:prstGeom prst="ellipse">
            <a:avLst/>
          </a:prstGeom>
          <a:solidFill>
            <a:srgbClr val="4F46E5"/>
          </a:solidFill>
          <a:ln/>
        </p:spPr>
      </p:sp>
      <p:pic>
        <p:nvPicPr>
          <p:cNvPr id="6" name="Image 0" descr="C:\Users\Sardor\Desktop\diplom ish\diplom\generator\slides-cache\icons\crown-FFFFFF.png">    </p:cNvPr>
          <p:cNvPicPr>
            <a:picLocks noChangeAspect="1"/>
          </p:cNvPicPr>
          <p:nvPr/>
        </p:nvPicPr>
        <p:blipFill>
          <a:blip r:embed="rId1"/>
          <a:stretch>
            <a:fillRect/>
          </a:stretch>
        </p:blipFill>
        <p:spPr>
          <a:xfrm>
            <a:off x="674370" y="1543050"/>
            <a:ext cx="251460" cy="251460"/>
          </a:xfrm>
          <a:prstGeom prst="rect">
            <a:avLst/>
          </a:prstGeom>
        </p:spPr>
      </p:pic>
      <p:sp>
        <p:nvSpPr>
          <p:cNvPr id="7" name="Text 4"/>
          <p:cNvSpPr txBox="1"/>
          <p:nvPr/>
        </p:nvSpPr>
        <p:spPr>
          <a:xfrm>
            <a:off x="1280160" y="1399032"/>
            <a:ext cx="32004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Egasi</a:t>
            </a:r>
            <a:endParaRPr lang="en-US" sz="1600" dirty="0"/>
          </a:p>
        </p:txBody>
      </p:sp>
      <p:sp>
        <p:nvSpPr>
          <p:cNvPr id="8" name="Text 5"/>
          <p:cNvSpPr txBox="1"/>
          <p:nvPr/>
        </p:nvSpPr>
        <p:spPr>
          <a:xfrm>
            <a:off x="1280160" y="1746504"/>
            <a:ext cx="32004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Adminlarni tayinlaydi, guruhni o‘chiradi</a:t>
            </a:r>
            <a:endParaRPr lang="en-US" sz="1300" dirty="0"/>
          </a:p>
        </p:txBody>
      </p:sp>
      <p:sp>
        <p:nvSpPr>
          <p:cNvPr id="9" name="Shape 6"/>
          <p:cNvSpPr/>
          <p:nvPr/>
        </p:nvSpPr>
        <p:spPr>
          <a:xfrm>
            <a:off x="548640" y="2377440"/>
            <a:ext cx="502920" cy="502920"/>
          </a:xfrm>
          <a:prstGeom prst="ellipse">
            <a:avLst/>
          </a:prstGeom>
          <a:solidFill>
            <a:srgbClr val="4F46E5"/>
          </a:solidFill>
          <a:ln/>
        </p:spPr>
      </p:sp>
      <p:pic>
        <p:nvPicPr>
          <p:cNvPr id="10" name="Image 1" descr="C:\Users\Sardor\Desktop\diplom ish\diplom\generator\slides-cache\icons\shield-FFFFFF.png">    </p:cNvPr>
          <p:cNvPicPr>
            <a:picLocks noChangeAspect="1"/>
          </p:cNvPicPr>
          <p:nvPr/>
        </p:nvPicPr>
        <p:blipFill>
          <a:blip r:embed="rId2"/>
          <a:stretch>
            <a:fillRect/>
          </a:stretch>
        </p:blipFill>
        <p:spPr>
          <a:xfrm>
            <a:off x="674370" y="2503170"/>
            <a:ext cx="251460" cy="251460"/>
          </a:xfrm>
          <a:prstGeom prst="rect">
            <a:avLst/>
          </a:prstGeom>
        </p:spPr>
      </p:pic>
      <p:sp>
        <p:nvSpPr>
          <p:cNvPr id="11" name="Text 7"/>
          <p:cNvSpPr txBox="1"/>
          <p:nvPr/>
        </p:nvSpPr>
        <p:spPr>
          <a:xfrm>
            <a:off x="1280160" y="2359152"/>
            <a:ext cx="32004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Administrator</a:t>
            </a:r>
            <a:endParaRPr lang="en-US" sz="1600" dirty="0"/>
          </a:p>
        </p:txBody>
      </p:sp>
      <p:sp>
        <p:nvSpPr>
          <p:cNvPr id="12" name="Text 8"/>
          <p:cNvSpPr txBox="1"/>
          <p:nvPr/>
        </p:nvSpPr>
        <p:spPr>
          <a:xfrm>
            <a:off x="1280160" y="2706624"/>
            <a:ext cx="32004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A’zo qo‘shadi va chiqaradi, guruhni tahrirlaydi</a:t>
            </a:r>
            <a:endParaRPr lang="en-US" sz="1300" dirty="0"/>
          </a:p>
        </p:txBody>
      </p:sp>
      <p:sp>
        <p:nvSpPr>
          <p:cNvPr id="13" name="Shape 9"/>
          <p:cNvSpPr/>
          <p:nvPr/>
        </p:nvSpPr>
        <p:spPr>
          <a:xfrm>
            <a:off x="548640" y="3337560"/>
            <a:ext cx="502920" cy="502920"/>
          </a:xfrm>
          <a:prstGeom prst="ellipse">
            <a:avLst/>
          </a:prstGeom>
          <a:solidFill>
            <a:srgbClr val="4F46E5"/>
          </a:solidFill>
          <a:ln/>
        </p:spPr>
      </p:sp>
      <p:pic>
        <p:nvPicPr>
          <p:cNvPr id="14" name="Image 2" descr="C:\Users\Sardor\Desktop\diplom ish\diplom\generator\slides-cache\icons\user-FFFFFF.png">    </p:cNvPr>
          <p:cNvPicPr>
            <a:picLocks noChangeAspect="1"/>
          </p:cNvPicPr>
          <p:nvPr/>
        </p:nvPicPr>
        <p:blipFill>
          <a:blip r:embed="rId3"/>
          <a:stretch>
            <a:fillRect/>
          </a:stretch>
        </p:blipFill>
        <p:spPr>
          <a:xfrm>
            <a:off x="674370" y="3463290"/>
            <a:ext cx="251460" cy="251460"/>
          </a:xfrm>
          <a:prstGeom prst="rect">
            <a:avLst/>
          </a:prstGeom>
        </p:spPr>
      </p:pic>
      <p:sp>
        <p:nvSpPr>
          <p:cNvPr id="15" name="Text 10"/>
          <p:cNvSpPr txBox="1"/>
          <p:nvPr/>
        </p:nvSpPr>
        <p:spPr>
          <a:xfrm>
            <a:off x="1280160" y="3319272"/>
            <a:ext cx="3200400" cy="329184"/>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A’zo</a:t>
            </a:r>
            <a:endParaRPr lang="en-US" sz="1600" dirty="0"/>
          </a:p>
        </p:txBody>
      </p:sp>
      <p:sp>
        <p:nvSpPr>
          <p:cNvPr id="16" name="Text 11"/>
          <p:cNvSpPr txBox="1"/>
          <p:nvPr/>
        </p:nvSpPr>
        <p:spPr>
          <a:xfrm>
            <a:off x="1280160" y="3666744"/>
            <a:ext cx="3200400" cy="566928"/>
          </a:xfrm>
          <a:prstGeom prst="rect">
            <a:avLst/>
          </a:prstGeom>
          <a:noFill/>
          <a:ln/>
        </p:spPr>
        <p:txBody>
          <a:bodyPr wrap="square" lIns="0" tIns="0" rIns="0" bIns="0" rtlCol="0" anchor="t"/>
          <a:lstStyle/>
          <a:p>
            <a:pPr indent="0" marL="0">
              <a:buNone/>
            </a:pPr>
            <a:r>
              <a:rPr lang="en-US" sz="1300" dirty="0">
                <a:solidFill>
                  <a:srgbClr val="6B7280"/>
                </a:solidFill>
                <a:latin typeface="Arial" pitchFamily="34" charset="0"/>
                <a:ea typeface="Arial" pitchFamily="34" charset="-122"/>
                <a:cs typeface="Arial" pitchFamily="34" charset="-120"/>
              </a:rPr>
              <a:t>Xabar va fayllar yuboradi, guruhdan chiqadi</a:t>
            </a:r>
            <a:endParaRPr lang="en-US" sz="1300" dirty="0"/>
          </a:p>
        </p:txBody>
      </p:sp>
      <p:sp>
        <p:nvSpPr>
          <p:cNvPr id="17" name="Shape 12"/>
          <p:cNvSpPr/>
          <p:nvPr/>
        </p:nvSpPr>
        <p:spPr>
          <a:xfrm>
            <a:off x="548640" y="4343400"/>
            <a:ext cx="2519172" cy="17373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8" name="Image 3" descr="C:\Users\Sardor\Desktop\diplom ish\diplom\generator\rasmlar\3-14-group-create-members.jpg">    </p:cNvPr>
          <p:cNvPicPr>
            <a:picLocks noChangeAspect="1"/>
          </p:cNvPicPr>
          <p:nvPr/>
        </p:nvPicPr>
        <p:blipFill>
          <a:blip r:embed="rId4"/>
          <a:srcRect l="0" r="71000" t="0" b="68000"/>
          <a:stretch/>
        </p:blipFill>
        <p:spPr>
          <a:xfrm>
            <a:off x="548640" y="4343400"/>
            <a:ext cx="2519172" cy="1737360"/>
          </a:xfrm>
          <a:prstGeom prst="rect">
            <a:avLst/>
          </a:prstGeom>
        </p:spPr>
      </p:pic>
      <p:sp>
        <p:nvSpPr>
          <p:cNvPr id="19" name="Shape 13"/>
          <p:cNvSpPr/>
          <p:nvPr/>
        </p:nvSpPr>
        <p:spPr>
          <a:xfrm>
            <a:off x="4846320" y="1371600"/>
            <a:ext cx="6796735" cy="42479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20" name="Image 4" descr="C:\Users\Sardor\Desktop\diplom ish\diplom\generator\rasmlar\3-13-group-chat.jpg">    </p:cNvPr>
          <p:cNvPicPr>
            <a:picLocks noChangeAspect="1"/>
          </p:cNvPicPr>
          <p:nvPr/>
        </p:nvPicPr>
        <p:blipFill>
          <a:blip r:embed="rId5"/>
          <a:stretch>
            <a:fillRect/>
          </a:stretch>
        </p:blipFill>
        <p:spPr>
          <a:xfrm>
            <a:off x="4846320" y="1371600"/>
            <a:ext cx="6796735" cy="4247960"/>
          </a:xfrm>
          <a:prstGeom prst="rect">
            <a:avLst/>
          </a:prstGeom>
        </p:spPr>
      </p:pic>
      <p:sp>
        <p:nvSpPr>
          <p:cNvPr id="21" name="Shape 14"/>
          <p:cNvSpPr/>
          <p:nvPr/>
        </p:nvSpPr>
        <p:spPr>
          <a:xfrm>
            <a:off x="4983480" y="5162360"/>
            <a:ext cx="2926080" cy="329184"/>
          </a:xfrm>
          <a:prstGeom prst="roundRect">
            <a:avLst>
              <a:gd name="adj" fmla="val 50000"/>
            </a:avLst>
          </a:prstGeom>
          <a:solidFill>
            <a:srgbClr val="1E1B4B"/>
          </a:solidFill>
          <a:ln/>
        </p:spPr>
      </p:sp>
      <p:sp>
        <p:nvSpPr>
          <p:cNvPr id="22" name="Text 15"/>
          <p:cNvSpPr txBox="1"/>
          <p:nvPr/>
        </p:nvSpPr>
        <p:spPr>
          <a:xfrm>
            <a:off x="4983480" y="5162360"/>
            <a:ext cx="292608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Guruh chati va ma’lumot paneli</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Reaksiyalar, lavhalar va bloklash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19 / 25</a:t>
            </a:r>
            <a:endParaRPr lang="en-US" sz="1000" dirty="0"/>
          </a:p>
        </p:txBody>
      </p:sp>
      <p:sp>
        <p:nvSpPr>
          <p:cNvPr id="5" name="Shape 3"/>
          <p:cNvSpPr/>
          <p:nvPr/>
        </p:nvSpPr>
        <p:spPr>
          <a:xfrm>
            <a:off x="548640" y="1371600"/>
            <a:ext cx="457200" cy="457200"/>
          </a:xfrm>
          <a:prstGeom prst="ellipse">
            <a:avLst/>
          </a:prstGeom>
          <a:solidFill>
            <a:srgbClr val="4F46E5"/>
          </a:solidFill>
          <a:ln/>
        </p:spPr>
      </p:sp>
      <p:pic>
        <p:nvPicPr>
          <p:cNvPr id="6" name="Image 0" descr="C:\Users\Sardor\Desktop\diplom ish\diplom\generator\slides-cache\icons\smile-plus-FFFFFF.png">    </p:cNvPr>
          <p:cNvPicPr>
            <a:picLocks noChangeAspect="1"/>
          </p:cNvPicPr>
          <p:nvPr/>
        </p:nvPicPr>
        <p:blipFill>
          <a:blip r:embed="rId1"/>
          <a:stretch>
            <a:fillRect/>
          </a:stretch>
        </p:blipFill>
        <p:spPr>
          <a:xfrm>
            <a:off x="662940" y="1485900"/>
            <a:ext cx="228600" cy="228600"/>
          </a:xfrm>
          <a:prstGeom prst="rect">
            <a:avLst/>
          </a:prstGeom>
        </p:spPr>
      </p:pic>
      <p:sp>
        <p:nvSpPr>
          <p:cNvPr id="7" name="Text 4"/>
          <p:cNvSpPr txBox="1"/>
          <p:nvPr/>
        </p:nvSpPr>
        <p:spPr>
          <a:xfrm>
            <a:off x="1143000" y="1371600"/>
            <a:ext cx="2998216" cy="4572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Reaksiyalar</a:t>
            </a:r>
            <a:endParaRPr lang="en-US" sz="1700" dirty="0"/>
          </a:p>
        </p:txBody>
      </p:sp>
      <p:sp>
        <p:nvSpPr>
          <p:cNvPr id="8" name="Text 5"/>
          <p:cNvSpPr txBox="1"/>
          <p:nvPr/>
        </p:nvSpPr>
        <p:spPr>
          <a:xfrm>
            <a:off x="548640" y="1901952"/>
            <a:ext cx="3592576" cy="5029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Oltita emoji, real vaqtda barcha a’zolarda</a:t>
            </a:r>
            <a:endParaRPr lang="en-US" sz="1200" dirty="0"/>
          </a:p>
        </p:txBody>
      </p:sp>
      <p:sp>
        <p:nvSpPr>
          <p:cNvPr id="9" name="Shape 6"/>
          <p:cNvSpPr/>
          <p:nvPr/>
        </p:nvSpPr>
        <p:spPr>
          <a:xfrm>
            <a:off x="548640" y="2487168"/>
            <a:ext cx="3592576" cy="35661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age 1" descr="C:\Users\Sardor\Desktop\diplom ish\diplom\generator\rasmlar\3-30-reactions.jpg">    </p:cNvPr>
          <p:cNvPicPr>
            <a:picLocks noChangeAspect="1"/>
          </p:cNvPicPr>
          <p:nvPr/>
        </p:nvPicPr>
        <p:blipFill>
          <a:blip r:embed="rId2"/>
          <a:srcRect l="28000" r="38000" t="8000" b="38000"/>
          <a:stretch/>
        </p:blipFill>
        <p:spPr>
          <a:xfrm>
            <a:off x="548640" y="2487168"/>
            <a:ext cx="3592576" cy="3566160"/>
          </a:xfrm>
          <a:prstGeom prst="rect">
            <a:avLst/>
          </a:prstGeom>
        </p:spPr>
      </p:pic>
      <p:sp>
        <p:nvSpPr>
          <p:cNvPr id="11" name="Shape 7"/>
          <p:cNvSpPr/>
          <p:nvPr/>
        </p:nvSpPr>
        <p:spPr>
          <a:xfrm>
            <a:off x="4506976" y="1371600"/>
            <a:ext cx="457200" cy="457200"/>
          </a:xfrm>
          <a:prstGeom prst="ellipse">
            <a:avLst/>
          </a:prstGeom>
          <a:solidFill>
            <a:srgbClr val="4F46E5"/>
          </a:solidFill>
          <a:ln/>
        </p:spPr>
      </p:sp>
      <p:pic>
        <p:nvPicPr>
          <p:cNvPr id="12" name="Image 2" descr="C:\Users\Sardor\Desktop\diplom ish\diplom\generator\slides-cache\icons\circle-play-FFFFFF.png">    </p:cNvPr>
          <p:cNvPicPr>
            <a:picLocks noChangeAspect="1"/>
          </p:cNvPicPr>
          <p:nvPr/>
        </p:nvPicPr>
        <p:blipFill>
          <a:blip r:embed="rId3"/>
          <a:stretch>
            <a:fillRect/>
          </a:stretch>
        </p:blipFill>
        <p:spPr>
          <a:xfrm>
            <a:off x="4621276" y="1485900"/>
            <a:ext cx="228600" cy="228600"/>
          </a:xfrm>
          <a:prstGeom prst="rect">
            <a:avLst/>
          </a:prstGeom>
        </p:spPr>
      </p:pic>
      <p:sp>
        <p:nvSpPr>
          <p:cNvPr id="13" name="Text 8"/>
          <p:cNvSpPr txBox="1"/>
          <p:nvPr/>
        </p:nvSpPr>
        <p:spPr>
          <a:xfrm>
            <a:off x="5101336" y="1371600"/>
            <a:ext cx="1387674" cy="4572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Lavhalar</a:t>
            </a:r>
            <a:endParaRPr lang="en-US" sz="1700" dirty="0"/>
          </a:p>
        </p:txBody>
      </p:sp>
      <p:sp>
        <p:nvSpPr>
          <p:cNvPr id="14" name="Text 9"/>
          <p:cNvSpPr txBox="1"/>
          <p:nvPr/>
        </p:nvSpPr>
        <p:spPr>
          <a:xfrm>
            <a:off x="4506976" y="1901952"/>
            <a:ext cx="1982034" cy="5029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24 soat, faqat obunalarniki</a:t>
            </a:r>
            <a:endParaRPr lang="en-US" sz="1200" dirty="0"/>
          </a:p>
        </p:txBody>
      </p:sp>
      <p:sp>
        <p:nvSpPr>
          <p:cNvPr id="15" name="Shape 10"/>
          <p:cNvSpPr/>
          <p:nvPr/>
        </p:nvSpPr>
        <p:spPr>
          <a:xfrm>
            <a:off x="4506976" y="2487168"/>
            <a:ext cx="1982034" cy="35661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6" name="Image 3" descr="C:\Users\Sardor\Desktop\diplom ish\diplom\generator\rasmlar\3-11-story-viewer.jpg">    </p:cNvPr>
          <p:cNvPicPr>
            <a:picLocks noChangeAspect="1"/>
          </p:cNvPicPr>
          <p:nvPr/>
        </p:nvPicPr>
        <p:blipFill>
          <a:blip r:embed="rId4"/>
          <a:srcRect l="33500" r="33500" t="3000" b="2000"/>
          <a:stretch/>
        </p:blipFill>
        <p:spPr>
          <a:xfrm>
            <a:off x="4506976" y="2487168"/>
            <a:ext cx="1982034" cy="3566160"/>
          </a:xfrm>
          <a:prstGeom prst="rect">
            <a:avLst/>
          </a:prstGeom>
        </p:spPr>
      </p:pic>
      <p:sp>
        <p:nvSpPr>
          <p:cNvPr id="17" name="Shape 11"/>
          <p:cNvSpPr/>
          <p:nvPr/>
        </p:nvSpPr>
        <p:spPr>
          <a:xfrm>
            <a:off x="6854770" y="1371600"/>
            <a:ext cx="457200" cy="457200"/>
          </a:xfrm>
          <a:prstGeom prst="ellipse">
            <a:avLst/>
          </a:prstGeom>
          <a:solidFill>
            <a:srgbClr val="4F46E5"/>
          </a:solidFill>
          <a:ln/>
        </p:spPr>
      </p:sp>
      <p:pic>
        <p:nvPicPr>
          <p:cNvPr id="18" name="Image 4" descr="C:\Users\Sardor\Desktop\diplom ish\diplom\generator\slides-cache\icons\ban-FFFFFF.png">    </p:cNvPr>
          <p:cNvPicPr>
            <a:picLocks noChangeAspect="1"/>
          </p:cNvPicPr>
          <p:nvPr/>
        </p:nvPicPr>
        <p:blipFill>
          <a:blip r:embed="rId5"/>
          <a:stretch>
            <a:fillRect/>
          </a:stretch>
        </p:blipFill>
        <p:spPr>
          <a:xfrm>
            <a:off x="6969070" y="1485900"/>
            <a:ext cx="228600" cy="228600"/>
          </a:xfrm>
          <a:prstGeom prst="rect">
            <a:avLst/>
          </a:prstGeom>
        </p:spPr>
      </p:pic>
      <p:sp>
        <p:nvSpPr>
          <p:cNvPr id="19" name="Text 12"/>
          <p:cNvSpPr txBox="1"/>
          <p:nvPr/>
        </p:nvSpPr>
        <p:spPr>
          <a:xfrm>
            <a:off x="7449130" y="1371600"/>
            <a:ext cx="3589934" cy="45720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Bloklash</a:t>
            </a:r>
            <a:endParaRPr lang="en-US" sz="1700" dirty="0"/>
          </a:p>
        </p:txBody>
      </p:sp>
      <p:sp>
        <p:nvSpPr>
          <p:cNvPr id="20" name="Text 13"/>
          <p:cNvSpPr txBox="1"/>
          <p:nvPr/>
        </p:nvSpPr>
        <p:spPr>
          <a:xfrm>
            <a:off x="6854770" y="1901952"/>
            <a:ext cx="4184294" cy="5029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Ikki tomon ham yoza olmaydi; profilda ro‘yxati va bildirishnomalar</a:t>
            </a:r>
            <a:endParaRPr lang="en-US" sz="1200" dirty="0"/>
          </a:p>
        </p:txBody>
      </p:sp>
      <p:sp>
        <p:nvSpPr>
          <p:cNvPr id="21" name="Shape 14"/>
          <p:cNvSpPr/>
          <p:nvPr/>
        </p:nvSpPr>
        <p:spPr>
          <a:xfrm>
            <a:off x="6854770" y="2487168"/>
            <a:ext cx="4184294" cy="356616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22" name="Image 5" descr="C:\Users\Sardor\Desktop\diplom ish\diplom\generator\rasmlar\3-32-notification-setting.jpg">    </p:cNvPr>
          <p:cNvPicPr>
            <a:picLocks noChangeAspect="1"/>
          </p:cNvPicPr>
          <p:nvPr/>
        </p:nvPicPr>
        <p:blipFill>
          <a:blip r:embed="rId6"/>
          <a:srcRect l="33500" r="33500" t="43000" b="12000"/>
          <a:stretch/>
        </p:blipFill>
        <p:spPr>
          <a:xfrm>
            <a:off x="6854770" y="2487168"/>
            <a:ext cx="4184294" cy="35661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Forum: ochiq fikr almashish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20 / 25</a:t>
            </a:r>
            <a:endParaRPr lang="en-US" sz="1000" dirty="0"/>
          </a:p>
        </p:txBody>
      </p:sp>
      <p:sp>
        <p:nvSpPr>
          <p:cNvPr id="5" name="Shape 3"/>
          <p:cNvSpPr/>
          <p:nvPr/>
        </p:nvSpPr>
        <p:spPr>
          <a:xfrm>
            <a:off x="548640" y="1371600"/>
            <a:ext cx="3041660" cy="452628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34-forum-top.jpg">    </p:cNvPr>
          <p:cNvPicPr>
            <a:picLocks noChangeAspect="1"/>
          </p:cNvPicPr>
          <p:nvPr/>
        </p:nvPicPr>
        <p:blipFill>
          <a:blip r:embed="rId1"/>
          <a:srcRect l="26000" r="32000" t="0" b="0"/>
          <a:stretch/>
        </p:blipFill>
        <p:spPr>
          <a:xfrm>
            <a:off x="548640" y="1371600"/>
            <a:ext cx="3041660" cy="4526280"/>
          </a:xfrm>
          <a:prstGeom prst="rect">
            <a:avLst/>
          </a:prstGeom>
        </p:spPr>
      </p:pic>
      <p:sp>
        <p:nvSpPr>
          <p:cNvPr id="7" name="Shape 4"/>
          <p:cNvSpPr/>
          <p:nvPr/>
        </p:nvSpPr>
        <p:spPr>
          <a:xfrm>
            <a:off x="3864620" y="1371600"/>
            <a:ext cx="3041660" cy="452628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8" name="Image 1" descr="C:\Users\Sardor\Desktop\diplom ish\diplom\generator\rasmlar\3-35-forum-thread.jpg">    </p:cNvPr>
          <p:cNvPicPr>
            <a:picLocks noChangeAspect="1"/>
          </p:cNvPicPr>
          <p:nvPr/>
        </p:nvPicPr>
        <p:blipFill>
          <a:blip r:embed="rId2"/>
          <a:srcRect l="26000" r="32000" t="0" b="0"/>
          <a:stretch/>
        </p:blipFill>
        <p:spPr>
          <a:xfrm>
            <a:off x="3864620" y="1371600"/>
            <a:ext cx="3041660" cy="4526280"/>
          </a:xfrm>
          <a:prstGeom prst="rect">
            <a:avLst/>
          </a:prstGeom>
        </p:spPr>
      </p:pic>
      <p:sp>
        <p:nvSpPr>
          <p:cNvPr id="9" name="Shape 5"/>
          <p:cNvSpPr/>
          <p:nvPr/>
        </p:nvSpPr>
        <p:spPr>
          <a:xfrm>
            <a:off x="685800" y="5440680"/>
            <a:ext cx="1143000" cy="329184"/>
          </a:xfrm>
          <a:prstGeom prst="roundRect">
            <a:avLst>
              <a:gd name="adj" fmla="val 50000"/>
            </a:avLst>
          </a:prstGeom>
          <a:solidFill>
            <a:srgbClr val="1E1B4B"/>
          </a:solidFill>
          <a:ln/>
        </p:spPr>
      </p:sp>
      <p:sp>
        <p:nvSpPr>
          <p:cNvPr id="10" name="Text 6"/>
          <p:cNvSpPr txBox="1"/>
          <p:nvPr/>
        </p:nvSpPr>
        <p:spPr>
          <a:xfrm>
            <a:off x="685800" y="5440680"/>
            <a:ext cx="11430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Top lenta</a:t>
            </a:r>
            <a:endParaRPr lang="en-US" sz="1200" dirty="0"/>
          </a:p>
        </p:txBody>
      </p:sp>
      <p:sp>
        <p:nvSpPr>
          <p:cNvPr id="11" name="Shape 7"/>
          <p:cNvSpPr/>
          <p:nvPr/>
        </p:nvSpPr>
        <p:spPr>
          <a:xfrm>
            <a:off x="4001780" y="5440680"/>
            <a:ext cx="1188720" cy="329184"/>
          </a:xfrm>
          <a:prstGeom prst="roundRect">
            <a:avLst>
              <a:gd name="adj" fmla="val 50000"/>
            </a:avLst>
          </a:prstGeom>
          <a:solidFill>
            <a:srgbClr val="1E1B4B"/>
          </a:solidFill>
          <a:ln/>
        </p:spPr>
      </p:sp>
      <p:sp>
        <p:nvSpPr>
          <p:cNvPr id="12" name="Text 8"/>
          <p:cNvSpPr txBox="1"/>
          <p:nvPr/>
        </p:nvSpPr>
        <p:spPr>
          <a:xfrm>
            <a:off x="4001780" y="5440680"/>
            <a:ext cx="11887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Muhokama</a:t>
            </a:r>
            <a:endParaRPr lang="en-US" sz="1200" dirty="0"/>
          </a:p>
        </p:txBody>
      </p:sp>
      <p:sp>
        <p:nvSpPr>
          <p:cNvPr id="13" name="Text 9"/>
          <p:cNvSpPr txBox="1"/>
          <p:nvPr/>
        </p:nvSpPr>
        <p:spPr>
          <a:xfrm>
            <a:off x="7317760" y="1371600"/>
            <a:ext cx="4325295"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Arial" pitchFamily="34" charset="0"/>
                <a:ea typeface="Arial" pitchFamily="34" charset="-122"/>
                <a:cs typeface="Arial" pitchFamily="34" charset="-120"/>
              </a:rPr>
              <a:t>280 belgigacha post, 4 ta rasm yoki video</a:t>
            </a:r>
            <a:endParaRPr lang="en-US" sz="1400" dirty="0"/>
          </a:p>
          <a:p>
            <a:pPr marL="342900" indent="-342900">
              <a:spcAft>
                <a:spcPts val="800"/>
              </a:spcAft>
              <a:buSzPct val="100000"/>
              <a:buChar char="•"/>
            </a:pPr>
            <a:r>
              <a:rPr lang="en-US" sz="1400" dirty="0">
                <a:solidFill>
                  <a:srgbClr val="1F2937"/>
                </a:solidFill>
                <a:latin typeface="Arial" pitchFamily="34" charset="0"/>
                <a:ea typeface="Arial" pitchFamily="34" charset="-122"/>
                <a:cs typeface="Arial" pitchFamily="34" charset="-120"/>
              </a:rPr>
              <a:t>Javob, repost, iqtibos, layk, obuna</a:t>
            </a:r>
            <a:endParaRPr lang="en-US" sz="1400" dirty="0"/>
          </a:p>
          <a:p>
            <a:pPr marL="342900" indent="-342900">
              <a:spcAft>
                <a:spcPts val="800"/>
              </a:spcAft>
              <a:buSzPct val="100000"/>
              <a:buChar char="•"/>
            </a:pPr>
            <a:r>
              <a:rPr lang="en-US" sz="1400" dirty="0">
                <a:solidFill>
                  <a:srgbClr val="1F2937"/>
                </a:solidFill>
                <a:latin typeface="Arial" pitchFamily="34" charset="0"/>
                <a:ea typeface="Arial" pitchFamily="34" charset="-122"/>
                <a:cs typeface="Arial" pitchFamily="34" charset="-120"/>
              </a:rPr>
              <a:t>ForumHub: hisoblagichlar va bildirishnomalar real vaqtda</a:t>
            </a:r>
            <a:endParaRPr lang="en-US" sz="1400" dirty="0"/>
          </a:p>
          <a:p>
            <a:pPr marL="342900" indent="-342900">
              <a:spcAft>
                <a:spcPts val="800"/>
              </a:spcAft>
              <a:buSzPct val="100000"/>
              <a:buChar char="•"/>
            </a:pPr>
            <a:r>
              <a:rPr lang="en-US" sz="1400" dirty="0">
                <a:solidFill>
                  <a:srgbClr val="1F2937"/>
                </a:solidFill>
                <a:latin typeface="Arial" pitchFamily="34" charset="0"/>
                <a:ea typeface="Arial" pitchFamily="34" charset="-122"/>
                <a:cs typeface="Arial" pitchFamily="34" charset="-120"/>
              </a:rPr>
              <a:t>Spamga qarshi: soatiga 10 ta muhokama, daqiqasiga 5 ta javob</a:t>
            </a:r>
            <a:endParaRPr lang="en-US" sz="1400" dirty="0"/>
          </a:p>
        </p:txBody>
      </p:sp>
      <p:sp>
        <p:nvSpPr>
          <p:cNvPr id="14" name="Shape 10"/>
          <p:cNvSpPr/>
          <p:nvPr/>
        </p:nvSpPr>
        <p:spPr>
          <a:xfrm>
            <a:off x="7317760" y="4251960"/>
            <a:ext cx="4325295" cy="1645920"/>
          </a:xfrm>
          <a:prstGeom prst="roundRect">
            <a:avLst>
              <a:gd name="adj" fmla="val 6667"/>
            </a:avLst>
          </a:prstGeom>
          <a:solidFill>
            <a:srgbClr val="1E1B4B"/>
          </a:solidFill>
          <a:ln/>
        </p:spPr>
      </p:sp>
      <p:sp>
        <p:nvSpPr>
          <p:cNvPr id="15" name="Text 11"/>
          <p:cNvSpPr txBox="1"/>
          <p:nvPr/>
        </p:nvSpPr>
        <p:spPr>
          <a:xfrm>
            <a:off x="7546360" y="4343400"/>
            <a:ext cx="3868095"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Top lenta reytingi</a:t>
            </a:r>
            <a:endParaRPr lang="en-US" sz="1400" dirty="0"/>
          </a:p>
        </p:txBody>
      </p:sp>
      <p:sp>
        <p:nvSpPr>
          <p:cNvPr id="16" name="Text 12"/>
          <p:cNvSpPr txBox="1"/>
          <p:nvPr/>
        </p:nvSpPr>
        <p:spPr>
          <a:xfrm>
            <a:off x="7546360" y="4754880"/>
            <a:ext cx="3868095" cy="457200"/>
          </a:xfrm>
          <a:prstGeom prst="rect">
            <a:avLst/>
          </a:prstGeom>
          <a:noFill/>
          <a:ln/>
        </p:spPr>
        <p:txBody>
          <a:bodyPr wrap="square" lIns="0" tIns="0" rIns="0" bIns="0" rtlCol="0" anchor="ctr"/>
          <a:lstStyle/>
          <a:p>
            <a:pPr indent="0" marL="0">
              <a:buNone/>
            </a:pPr>
            <a:r>
              <a:rPr lang="en-US" sz="1500" b="1" dirty="0">
                <a:solidFill>
                  <a:srgbClr val="E0E7FF"/>
                </a:solidFill>
                <a:latin typeface="Arial" pitchFamily="34" charset="0"/>
                <a:ea typeface="Arial" pitchFamily="34" charset="-122"/>
                <a:cs typeface="Arial" pitchFamily="34" charset="-120"/>
              </a:rPr>
              <a:t>S = (L + 2R + 3P + 0,01V) / (t + 2)^1,5</a:t>
            </a:r>
            <a:endParaRPr lang="en-US" sz="1500" dirty="0"/>
          </a:p>
        </p:txBody>
      </p:sp>
      <p:sp>
        <p:nvSpPr>
          <p:cNvPr id="17" name="Text 13"/>
          <p:cNvSpPr txBox="1"/>
          <p:nvPr/>
        </p:nvSpPr>
        <p:spPr>
          <a:xfrm>
            <a:off x="7546360" y="5230368"/>
            <a:ext cx="3868095" cy="548640"/>
          </a:xfrm>
          <a:prstGeom prst="rect">
            <a:avLst/>
          </a:prstGeom>
          <a:noFill/>
          <a:ln/>
        </p:spPr>
        <p:txBody>
          <a:bodyPr wrap="square" lIns="0" tIns="0" rIns="0" bIns="0" rtlCol="0" anchor="t"/>
          <a:lstStyle/>
          <a:p>
            <a:pPr indent="0" marL="0">
              <a:buNone/>
            </a:pPr>
            <a:r>
              <a:rPr lang="en-US" sz="1100" dirty="0">
                <a:solidFill>
                  <a:srgbClr val="C7D2FE"/>
                </a:solidFill>
                <a:latin typeface="Arial" pitchFamily="34" charset="0"/>
                <a:ea typeface="Arial" pitchFamily="34" charset="-122"/>
                <a:cs typeface="Arial" pitchFamily="34" charset="-120"/>
              </a:rPr>
              <a:t>L — layk, R — javob, P — repost, V — ko‘rish, t — yoshi (soat)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Qorong‘i mavzu va mobil ko‘rinish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21 / 25</a:t>
            </a:r>
            <a:endParaRPr lang="en-US" sz="1000" dirty="0"/>
          </a:p>
        </p:txBody>
      </p:sp>
      <p:sp>
        <p:nvSpPr>
          <p:cNvPr id="5" name="Shape 3"/>
          <p:cNvSpPr/>
          <p:nvPr/>
        </p:nvSpPr>
        <p:spPr>
          <a:xfrm>
            <a:off x="548640" y="1371600"/>
            <a:ext cx="6675120" cy="417195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3-16-dark-theme.jpg">    </p:cNvPr>
          <p:cNvPicPr>
            <a:picLocks noChangeAspect="1"/>
          </p:cNvPicPr>
          <p:nvPr/>
        </p:nvPicPr>
        <p:blipFill>
          <a:blip r:embed="rId1"/>
          <a:stretch>
            <a:fillRect/>
          </a:stretch>
        </p:blipFill>
        <p:spPr>
          <a:xfrm>
            <a:off x="548640" y="1371600"/>
            <a:ext cx="6675120" cy="4171950"/>
          </a:xfrm>
          <a:prstGeom prst="rect">
            <a:avLst/>
          </a:prstGeom>
        </p:spPr>
      </p:pic>
      <p:sp>
        <p:nvSpPr>
          <p:cNvPr id="7" name="Shape 4"/>
          <p:cNvSpPr/>
          <p:nvPr/>
        </p:nvSpPr>
        <p:spPr>
          <a:xfrm>
            <a:off x="685800" y="5086350"/>
            <a:ext cx="1737360" cy="329184"/>
          </a:xfrm>
          <a:prstGeom prst="roundRect">
            <a:avLst>
              <a:gd name="adj" fmla="val 50000"/>
            </a:avLst>
          </a:prstGeom>
          <a:solidFill>
            <a:srgbClr val="1E1B4B"/>
          </a:solidFill>
          <a:ln/>
        </p:spPr>
      </p:sp>
      <p:sp>
        <p:nvSpPr>
          <p:cNvPr id="8" name="Text 5"/>
          <p:cNvSpPr txBox="1"/>
          <p:nvPr/>
        </p:nvSpPr>
        <p:spPr>
          <a:xfrm>
            <a:off x="685800" y="5086350"/>
            <a:ext cx="17373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Qorong‘i mavzu</a:t>
            </a:r>
            <a:endParaRPr lang="en-US" sz="1200" dirty="0"/>
          </a:p>
        </p:txBody>
      </p:sp>
      <p:sp>
        <p:nvSpPr>
          <p:cNvPr id="9" name="Shape 6"/>
          <p:cNvSpPr/>
          <p:nvPr/>
        </p:nvSpPr>
        <p:spPr>
          <a:xfrm>
            <a:off x="7589520" y="1371600"/>
            <a:ext cx="1889608" cy="4089305"/>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0" name="Image 1" descr="C:\Users\Sardor\Desktop\diplom ish\diplom\generator\rasmlar\3-17-mobile-list.jpg">    </p:cNvPr>
          <p:cNvPicPr>
            <a:picLocks noChangeAspect="1"/>
          </p:cNvPicPr>
          <p:nvPr/>
        </p:nvPicPr>
        <p:blipFill>
          <a:blip r:embed="rId2"/>
          <a:stretch>
            <a:fillRect/>
          </a:stretch>
        </p:blipFill>
        <p:spPr>
          <a:xfrm>
            <a:off x="7589520" y="1371600"/>
            <a:ext cx="1889608" cy="4089305"/>
          </a:xfrm>
          <a:prstGeom prst="rect">
            <a:avLst/>
          </a:prstGeom>
        </p:spPr>
      </p:pic>
      <p:sp>
        <p:nvSpPr>
          <p:cNvPr id="11" name="Shape 7"/>
          <p:cNvSpPr/>
          <p:nvPr/>
        </p:nvSpPr>
        <p:spPr>
          <a:xfrm>
            <a:off x="9753448" y="1371600"/>
            <a:ext cx="1889608" cy="4089305"/>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12" name="Image 2" descr="C:\Users\Sardor\Desktop\diplom ish\diplom\generator\rasmlar\3-18-mobile-chat.jpg">    </p:cNvPr>
          <p:cNvPicPr>
            <a:picLocks noChangeAspect="1"/>
          </p:cNvPicPr>
          <p:nvPr/>
        </p:nvPicPr>
        <p:blipFill>
          <a:blip r:embed="rId3"/>
          <a:stretch>
            <a:fillRect/>
          </a:stretch>
        </p:blipFill>
        <p:spPr>
          <a:xfrm>
            <a:off x="9753448" y="1371600"/>
            <a:ext cx="1889608" cy="4089305"/>
          </a:xfrm>
          <a:prstGeom prst="rect">
            <a:avLst/>
          </a:prstGeom>
        </p:spPr>
      </p:pic>
      <p:sp>
        <p:nvSpPr>
          <p:cNvPr id="13" name="Shape 8"/>
          <p:cNvSpPr/>
          <p:nvPr/>
        </p:nvSpPr>
        <p:spPr>
          <a:xfrm>
            <a:off x="7726680" y="5003705"/>
            <a:ext cx="1005840" cy="329184"/>
          </a:xfrm>
          <a:prstGeom prst="roundRect">
            <a:avLst>
              <a:gd name="adj" fmla="val 50000"/>
            </a:avLst>
          </a:prstGeom>
          <a:solidFill>
            <a:srgbClr val="1E1B4B"/>
          </a:solidFill>
          <a:ln/>
        </p:spPr>
      </p:sp>
      <p:sp>
        <p:nvSpPr>
          <p:cNvPr id="14" name="Text 9"/>
          <p:cNvSpPr txBox="1"/>
          <p:nvPr/>
        </p:nvSpPr>
        <p:spPr>
          <a:xfrm>
            <a:off x="7726680" y="5003705"/>
            <a:ext cx="10058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Chatlar</a:t>
            </a:r>
            <a:endParaRPr lang="en-US" sz="1200" dirty="0"/>
          </a:p>
        </p:txBody>
      </p:sp>
      <p:sp>
        <p:nvSpPr>
          <p:cNvPr id="15" name="Shape 10"/>
          <p:cNvSpPr/>
          <p:nvPr/>
        </p:nvSpPr>
        <p:spPr>
          <a:xfrm>
            <a:off x="9890608" y="5003705"/>
            <a:ext cx="960120" cy="329184"/>
          </a:xfrm>
          <a:prstGeom prst="roundRect">
            <a:avLst>
              <a:gd name="adj" fmla="val 50000"/>
            </a:avLst>
          </a:prstGeom>
          <a:solidFill>
            <a:srgbClr val="1E1B4B"/>
          </a:solidFill>
          <a:ln/>
        </p:spPr>
      </p:sp>
      <p:sp>
        <p:nvSpPr>
          <p:cNvPr id="16" name="Text 11"/>
          <p:cNvSpPr txBox="1"/>
          <p:nvPr/>
        </p:nvSpPr>
        <p:spPr>
          <a:xfrm>
            <a:off x="9890608" y="5003705"/>
            <a:ext cx="96012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Suhbat</a:t>
            </a:r>
            <a:endParaRPr lang="en-US" sz="1200" dirty="0"/>
          </a:p>
        </p:txBody>
      </p:sp>
      <p:sp>
        <p:nvSpPr>
          <p:cNvPr id="17" name="Shape 12"/>
          <p:cNvSpPr/>
          <p:nvPr/>
        </p:nvSpPr>
        <p:spPr>
          <a:xfrm>
            <a:off x="548640" y="5742432"/>
            <a:ext cx="411480" cy="411480"/>
          </a:xfrm>
          <a:prstGeom prst="ellipse">
            <a:avLst/>
          </a:prstGeom>
          <a:solidFill>
            <a:srgbClr val="4F46E5"/>
          </a:solidFill>
          <a:ln/>
        </p:spPr>
      </p:sp>
      <p:pic>
        <p:nvPicPr>
          <p:cNvPr id="18" name="Image 3" descr="C:\Users\Sardor\Desktop\diplom ish\diplom\generator\slides-cache\icons\monitor-smartphone-FFFFFF.png">    </p:cNvPr>
          <p:cNvPicPr>
            <a:picLocks noChangeAspect="1"/>
          </p:cNvPicPr>
          <p:nvPr/>
        </p:nvPicPr>
        <p:blipFill>
          <a:blip r:embed="rId4"/>
          <a:stretch>
            <a:fillRect/>
          </a:stretch>
        </p:blipFill>
        <p:spPr>
          <a:xfrm>
            <a:off x="651510" y="5845302"/>
            <a:ext cx="205740" cy="205740"/>
          </a:xfrm>
          <a:prstGeom prst="rect">
            <a:avLst/>
          </a:prstGeom>
        </p:spPr>
      </p:pic>
      <p:sp>
        <p:nvSpPr>
          <p:cNvPr id="19" name="Text 13"/>
          <p:cNvSpPr txBox="1"/>
          <p:nvPr/>
        </p:nvSpPr>
        <p:spPr>
          <a:xfrm>
            <a:off x="1097280" y="5715000"/>
            <a:ext cx="10545775" cy="45720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Bitta kod bazasi kompyuter, planshet va telefonda ishlaydi — o‘z dizayn tizimi va moslashuvchan maket.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Joylashtirish va testlash</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22 / 25</a:t>
            </a:r>
            <a:endParaRPr lang="en-US" sz="1000" dirty="0"/>
          </a:p>
        </p:txBody>
      </p:sp>
      <p:sp>
        <p:nvSpPr>
          <p:cNvPr id="5" name="Shape 3"/>
          <p:cNvSpPr/>
          <p:nvPr/>
        </p:nvSpPr>
        <p:spPr>
          <a:xfrm>
            <a:off x="548640" y="1371600"/>
            <a:ext cx="2567864" cy="1325880"/>
          </a:xfrm>
          <a:prstGeom prst="roundRect">
            <a:avLst>
              <a:gd name="adj" fmla="val 8276"/>
            </a:avLst>
          </a:prstGeom>
          <a:solidFill>
            <a:srgbClr val="EEF2FF"/>
          </a:solidFill>
          <a:ln/>
        </p:spPr>
      </p:sp>
      <p:sp>
        <p:nvSpPr>
          <p:cNvPr id="6" name="Text 4"/>
          <p:cNvSpPr txBox="1"/>
          <p:nvPr/>
        </p:nvSpPr>
        <p:spPr>
          <a:xfrm>
            <a:off x="822960" y="1481328"/>
            <a:ext cx="2019224" cy="685800"/>
          </a:xfrm>
          <a:prstGeom prst="rect">
            <a:avLst/>
          </a:prstGeom>
          <a:noFill/>
          <a:ln/>
        </p:spPr>
        <p:txBody>
          <a:bodyPr wrap="square" lIns="0" tIns="0" rIns="0" bIns="0" rtlCol="0" anchor="ctr"/>
          <a:lstStyle/>
          <a:p>
            <a:pPr indent="0" marL="0">
              <a:buNone/>
            </a:pPr>
            <a:r>
              <a:rPr lang="en-US" sz="4000" b="1" dirty="0">
                <a:solidFill>
                  <a:srgbClr val="4F46E5"/>
                </a:solidFill>
                <a:latin typeface="Arial" pitchFamily="34" charset="0"/>
                <a:ea typeface="Arial" pitchFamily="34" charset="-122"/>
                <a:cs typeface="Arial" pitchFamily="34" charset="-120"/>
              </a:rPr>
              <a:t>104</a:t>
            </a:r>
            <a:endParaRPr lang="en-US" sz="4000" dirty="0"/>
          </a:p>
        </p:txBody>
      </p:sp>
      <p:sp>
        <p:nvSpPr>
          <p:cNvPr id="7" name="Text 5"/>
          <p:cNvSpPr txBox="1"/>
          <p:nvPr/>
        </p:nvSpPr>
        <p:spPr>
          <a:xfrm>
            <a:off x="822960" y="2176272"/>
            <a:ext cx="2019224" cy="365760"/>
          </a:xfrm>
          <a:prstGeom prst="rect">
            <a:avLst/>
          </a:prstGeom>
          <a:noFill/>
          <a:ln/>
        </p:spPr>
        <p:txBody>
          <a:bodyPr wrap="square" lIns="0" tIns="0" rIns="0" bIns="0" rtlCol="0" anchor="ctr"/>
          <a:lstStyle/>
          <a:p>
            <a:pPr indent="0" marL="0">
              <a:buNone/>
            </a:pPr>
            <a:r>
              <a:rPr lang="en-US" sz="1400" dirty="0">
                <a:solidFill>
                  <a:srgbClr val="1E1B4B"/>
                </a:solidFill>
                <a:latin typeface="Arial" pitchFamily="34" charset="0"/>
                <a:ea typeface="Arial" pitchFamily="34" charset="-122"/>
                <a:cs typeface="Arial" pitchFamily="34" charset="-120"/>
              </a:rPr>
              <a:t>REST API endpointi</a:t>
            </a:r>
            <a:endParaRPr lang="en-US" sz="1400" dirty="0"/>
          </a:p>
        </p:txBody>
      </p:sp>
      <p:sp>
        <p:nvSpPr>
          <p:cNvPr id="8" name="Shape 6"/>
          <p:cNvSpPr/>
          <p:nvPr/>
        </p:nvSpPr>
        <p:spPr>
          <a:xfrm>
            <a:off x="3390824" y="1371600"/>
            <a:ext cx="2567864" cy="1325880"/>
          </a:xfrm>
          <a:prstGeom prst="roundRect">
            <a:avLst>
              <a:gd name="adj" fmla="val 8276"/>
            </a:avLst>
          </a:prstGeom>
          <a:solidFill>
            <a:srgbClr val="1E1B4B"/>
          </a:solidFill>
          <a:ln/>
        </p:spPr>
      </p:sp>
      <p:sp>
        <p:nvSpPr>
          <p:cNvPr id="9" name="Text 7"/>
          <p:cNvSpPr txBox="1"/>
          <p:nvPr/>
        </p:nvSpPr>
        <p:spPr>
          <a:xfrm>
            <a:off x="3665144" y="1481328"/>
            <a:ext cx="2019224" cy="6858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720</a:t>
            </a:r>
            <a:endParaRPr lang="en-US" sz="4000" dirty="0"/>
          </a:p>
        </p:txBody>
      </p:sp>
      <p:sp>
        <p:nvSpPr>
          <p:cNvPr id="10" name="Text 8"/>
          <p:cNvSpPr txBox="1"/>
          <p:nvPr/>
        </p:nvSpPr>
        <p:spPr>
          <a:xfrm>
            <a:off x="3665144" y="2176272"/>
            <a:ext cx="2019224" cy="365760"/>
          </a:xfrm>
          <a:prstGeom prst="rect">
            <a:avLst/>
          </a:prstGeom>
          <a:noFill/>
          <a:ln/>
        </p:spPr>
        <p:txBody>
          <a:bodyPr wrap="square" lIns="0" tIns="0" rIns="0" bIns="0" rtlCol="0" anchor="ctr"/>
          <a:lstStyle/>
          <a:p>
            <a:pPr indent="0" marL="0">
              <a:buNone/>
            </a:pPr>
            <a:r>
              <a:rPr lang="en-US" sz="1400" dirty="0">
                <a:solidFill>
                  <a:srgbClr val="E0E7FF"/>
                </a:solidFill>
                <a:latin typeface="Arial" pitchFamily="34" charset="0"/>
                <a:ea typeface="Arial" pitchFamily="34" charset="-122"/>
                <a:cs typeface="Arial" pitchFamily="34" charset="-120"/>
              </a:rPr>
              <a:t>unit test: 425 server + 295 klient</a:t>
            </a:r>
            <a:endParaRPr lang="en-US" sz="1400" dirty="0"/>
          </a:p>
        </p:txBody>
      </p:sp>
      <p:sp>
        <p:nvSpPr>
          <p:cNvPr id="11" name="Shape 9"/>
          <p:cNvSpPr/>
          <p:nvPr/>
        </p:nvSpPr>
        <p:spPr>
          <a:xfrm>
            <a:off x="6233008" y="1371600"/>
            <a:ext cx="2567864" cy="1325880"/>
          </a:xfrm>
          <a:prstGeom prst="roundRect">
            <a:avLst>
              <a:gd name="adj" fmla="val 8276"/>
            </a:avLst>
          </a:prstGeom>
          <a:solidFill>
            <a:srgbClr val="EEF2FF"/>
          </a:solidFill>
          <a:ln/>
        </p:spPr>
      </p:sp>
      <p:sp>
        <p:nvSpPr>
          <p:cNvPr id="12" name="Text 10"/>
          <p:cNvSpPr txBox="1"/>
          <p:nvPr/>
        </p:nvSpPr>
        <p:spPr>
          <a:xfrm>
            <a:off x="6507328" y="1481328"/>
            <a:ext cx="2019224" cy="685800"/>
          </a:xfrm>
          <a:prstGeom prst="rect">
            <a:avLst/>
          </a:prstGeom>
          <a:noFill/>
          <a:ln/>
        </p:spPr>
        <p:txBody>
          <a:bodyPr wrap="square" lIns="0" tIns="0" rIns="0" bIns="0" rtlCol="0" anchor="ctr"/>
          <a:lstStyle/>
          <a:p>
            <a:pPr indent="0" marL="0">
              <a:buNone/>
            </a:pPr>
            <a:r>
              <a:rPr lang="en-US" sz="4000" b="1" dirty="0">
                <a:solidFill>
                  <a:srgbClr val="4F46E5"/>
                </a:solidFill>
                <a:latin typeface="Arial" pitchFamily="34" charset="0"/>
                <a:ea typeface="Arial" pitchFamily="34" charset="-122"/>
                <a:cs typeface="Arial" pitchFamily="34" charset="-120"/>
              </a:rPr>
              <a:t>43</a:t>
            </a:r>
            <a:endParaRPr lang="en-US" sz="4000" dirty="0"/>
          </a:p>
        </p:txBody>
      </p:sp>
      <p:sp>
        <p:nvSpPr>
          <p:cNvPr id="13" name="Text 11"/>
          <p:cNvSpPr txBox="1"/>
          <p:nvPr/>
        </p:nvSpPr>
        <p:spPr>
          <a:xfrm>
            <a:off x="6507328" y="2176272"/>
            <a:ext cx="2019224" cy="365760"/>
          </a:xfrm>
          <a:prstGeom prst="rect">
            <a:avLst/>
          </a:prstGeom>
          <a:noFill/>
          <a:ln/>
        </p:spPr>
        <p:txBody>
          <a:bodyPr wrap="square" lIns="0" tIns="0" rIns="0" bIns="0" rtlCol="0" anchor="ctr"/>
          <a:lstStyle/>
          <a:p>
            <a:pPr indent="0" marL="0">
              <a:buNone/>
            </a:pPr>
            <a:r>
              <a:rPr lang="en-US" sz="1400" dirty="0">
                <a:solidFill>
                  <a:srgbClr val="1E1B4B"/>
                </a:solidFill>
                <a:latin typeface="Arial" pitchFamily="34" charset="0"/>
                <a:ea typeface="Arial" pitchFamily="34" charset="-122"/>
                <a:cs typeface="Arial" pitchFamily="34" charset="-120"/>
              </a:rPr>
              <a:t>API integratsion tekshiruvi</a:t>
            </a:r>
            <a:endParaRPr lang="en-US" sz="1400" dirty="0"/>
          </a:p>
        </p:txBody>
      </p:sp>
      <p:sp>
        <p:nvSpPr>
          <p:cNvPr id="14" name="Shape 12"/>
          <p:cNvSpPr/>
          <p:nvPr/>
        </p:nvSpPr>
        <p:spPr>
          <a:xfrm>
            <a:off x="9075191" y="1371600"/>
            <a:ext cx="2567864" cy="1325880"/>
          </a:xfrm>
          <a:prstGeom prst="roundRect">
            <a:avLst>
              <a:gd name="adj" fmla="val 8276"/>
            </a:avLst>
          </a:prstGeom>
          <a:solidFill>
            <a:srgbClr val="EEF2FF"/>
          </a:solidFill>
          <a:ln/>
        </p:spPr>
      </p:sp>
      <p:sp>
        <p:nvSpPr>
          <p:cNvPr id="15" name="Text 13"/>
          <p:cNvSpPr txBox="1"/>
          <p:nvPr/>
        </p:nvSpPr>
        <p:spPr>
          <a:xfrm>
            <a:off x="9349511" y="1481328"/>
            <a:ext cx="2019224" cy="685800"/>
          </a:xfrm>
          <a:prstGeom prst="rect">
            <a:avLst/>
          </a:prstGeom>
          <a:noFill/>
          <a:ln/>
        </p:spPr>
        <p:txBody>
          <a:bodyPr wrap="square" lIns="0" tIns="0" rIns="0" bIns="0" rtlCol="0" anchor="ctr"/>
          <a:lstStyle/>
          <a:p>
            <a:pPr indent="0" marL="0">
              <a:buNone/>
            </a:pPr>
            <a:r>
              <a:rPr lang="en-US" sz="3000" b="1" dirty="0">
                <a:solidFill>
                  <a:srgbClr val="4F46E5"/>
                </a:solidFill>
                <a:latin typeface="Arial" pitchFamily="34" charset="0"/>
                <a:ea typeface="Arial" pitchFamily="34" charset="-122"/>
                <a:cs typeface="Arial" pitchFamily="34" charset="-120"/>
              </a:rPr>
              <a:t>Docker</a:t>
            </a:r>
            <a:endParaRPr lang="en-US" sz="3000" dirty="0"/>
          </a:p>
        </p:txBody>
      </p:sp>
      <p:sp>
        <p:nvSpPr>
          <p:cNvPr id="16" name="Text 14"/>
          <p:cNvSpPr txBox="1"/>
          <p:nvPr/>
        </p:nvSpPr>
        <p:spPr>
          <a:xfrm>
            <a:off x="9349511" y="2176272"/>
            <a:ext cx="2019224" cy="365760"/>
          </a:xfrm>
          <a:prstGeom prst="rect">
            <a:avLst/>
          </a:prstGeom>
          <a:noFill/>
          <a:ln/>
        </p:spPr>
        <p:txBody>
          <a:bodyPr wrap="square" lIns="0" tIns="0" rIns="0" bIns="0" rtlCol="0" anchor="ctr"/>
          <a:lstStyle/>
          <a:p>
            <a:pPr indent="0" marL="0">
              <a:buNone/>
            </a:pPr>
            <a:r>
              <a:rPr lang="en-US" sz="1400" dirty="0">
                <a:solidFill>
                  <a:srgbClr val="1E1B4B"/>
                </a:solidFill>
                <a:latin typeface="Arial" pitchFamily="34" charset="0"/>
                <a:ea typeface="Arial" pitchFamily="34" charset="-122"/>
                <a:cs typeface="Arial" pitchFamily="34" charset="-120"/>
              </a:rPr>
              <a:t>Render bulutida ishlaydi</a:t>
            </a:r>
            <a:endParaRPr lang="en-US" sz="1400" dirty="0"/>
          </a:p>
        </p:txBody>
      </p:sp>
      <p:sp>
        <p:nvSpPr>
          <p:cNvPr id="17" name="Shape 15"/>
          <p:cNvSpPr/>
          <p:nvPr/>
        </p:nvSpPr>
        <p:spPr>
          <a:xfrm>
            <a:off x="7436815" y="2971800"/>
            <a:ext cx="4206240" cy="2468880"/>
          </a:xfrm>
          <a:prstGeom prst="roundRect">
            <a:avLst>
              <a:gd name="adj" fmla="val 3704"/>
            </a:avLst>
          </a:prstGeom>
          <a:solidFill>
            <a:srgbClr val="1E1E1E"/>
          </a:solidFill>
          <a:ln/>
        </p:spPr>
      </p:sp>
      <p:sp>
        <p:nvSpPr>
          <p:cNvPr id="18" name="Text 16"/>
          <p:cNvSpPr txBox="1"/>
          <p:nvPr/>
        </p:nvSpPr>
        <p:spPr>
          <a:xfrm>
            <a:off x="7665415" y="3108960"/>
            <a:ext cx="3749040" cy="2194560"/>
          </a:xfrm>
          <a:prstGeom prst="rect">
            <a:avLst/>
          </a:prstGeom>
          <a:noFill/>
          <a:ln/>
        </p:spPr>
        <p:txBody>
          <a:bodyPr wrap="square" lIns="0" tIns="0" rIns="0" bIns="0" rtlCol="0" anchor="t"/>
          <a:lstStyle/>
          <a:p>
            <a:pPr indent="0" marL="0">
              <a:lnSpc>
                <a:spcPct val="115000"/>
              </a:lnSpc>
              <a:buNone/>
            </a:pPr>
            <a:r>
              <a:rPr lang="en-US" sz="1500" dirty="0">
                <a:solidFill>
                  <a:srgbClr val="9CDCFE"/>
                </a:solidFill>
                <a:latin typeface="Consolas" pitchFamily="34" charset="0"/>
                <a:ea typeface="Consolas" pitchFamily="34" charset="-122"/>
                <a:cs typeface="Consolas" pitchFamily="34" charset="-120"/>
              </a:rPr>
              <a:t>PS&gt; dotnet test</a:t>
            </a:r>
            <a:endParaRPr lang="en-US" sz="1500" dirty="0"/>
          </a:p>
          <a:p>
            <a:pPr indent="0" marL="0">
              <a:lnSpc>
                <a:spcPct val="115000"/>
              </a:lnSpc>
              <a:buNone/>
            </a:pPr>
            <a:r>
              <a:rPr lang="en-US" sz="1500" dirty="0">
                <a:solidFill>
                  <a:srgbClr val="4ADE80"/>
                </a:solidFill>
                <a:latin typeface="Consolas" pitchFamily="34" charset="0"/>
                <a:ea typeface="Consolas" pitchFamily="34" charset="-122"/>
                <a:cs typeface="Consolas" pitchFamily="34" charset="-120"/>
              </a:rPr>
              <a:t>Passed!  Failed: 0</a:t>
            </a:r>
            <a:endParaRPr lang="en-US" sz="1500" dirty="0"/>
          </a:p>
          <a:p>
            <a:pPr indent="0" marL="0">
              <a:lnSpc>
                <a:spcPct val="115000"/>
              </a:lnSpc>
              <a:buNone/>
            </a:pPr>
            <a:r>
              <a:rPr lang="en-US" sz="1500" dirty="0">
                <a:solidFill>
                  <a:srgbClr val="4ADE80"/>
                </a:solidFill>
                <a:latin typeface="Consolas" pitchFamily="34" charset="0"/>
                <a:ea typeface="Consolas" pitchFamily="34" charset="-122"/>
                <a:cs typeface="Consolas" pitchFamily="34" charset="-120"/>
              </a:rPr>
              <a:t>Passed: 425, Total: 425</a:t>
            </a:r>
            <a:endParaRPr lang="en-US" sz="1500" dirty="0"/>
          </a:p>
          <a:p>
            <a:pPr indent="0" marL="0">
              <a:lnSpc>
                <a:spcPct val="115000"/>
              </a:lnSpc>
              <a:buNone/>
            </a:pPr>
            <a:endParaRPr lang="en-US" sz="1500" dirty="0"/>
          </a:p>
          <a:p>
            <a:pPr indent="0" marL="0">
              <a:lnSpc>
                <a:spcPct val="115000"/>
              </a:lnSpc>
              <a:buNone/>
            </a:pPr>
            <a:r>
              <a:rPr lang="en-US" sz="1500" dirty="0">
                <a:solidFill>
                  <a:srgbClr val="9CDCFE"/>
                </a:solidFill>
                <a:latin typeface="Consolas" pitchFamily="34" charset="0"/>
                <a:ea typeface="Consolas" pitchFamily="34" charset="-122"/>
                <a:cs typeface="Consolas" pitchFamily="34" charset="-120"/>
              </a:rPr>
              <a:t>PS&gt; ng test --watch=false</a:t>
            </a:r>
            <a:endParaRPr lang="en-US" sz="1500" dirty="0"/>
          </a:p>
          <a:p>
            <a:pPr indent="0" marL="0">
              <a:lnSpc>
                <a:spcPct val="115000"/>
              </a:lnSpc>
              <a:buNone/>
            </a:pPr>
            <a:r>
              <a:rPr lang="en-US" sz="1500" dirty="0">
                <a:solidFill>
                  <a:srgbClr val="4ADE80"/>
                </a:solidFill>
                <a:latin typeface="Consolas" pitchFamily="34" charset="0"/>
                <a:ea typeface="Consolas" pitchFamily="34" charset="-122"/>
                <a:cs typeface="Consolas" pitchFamily="34" charset="-120"/>
              </a:rPr>
              <a:t>Test Files  20 passed</a:t>
            </a:r>
            <a:endParaRPr lang="en-US" sz="1500" dirty="0"/>
          </a:p>
          <a:p>
            <a:pPr indent="0" marL="0">
              <a:lnSpc>
                <a:spcPct val="115000"/>
              </a:lnSpc>
              <a:buNone/>
            </a:pPr>
            <a:r>
              <a:rPr lang="en-US" sz="1500" dirty="0">
                <a:solidFill>
                  <a:srgbClr val="4ADE80"/>
                </a:solidFill>
                <a:latin typeface="Consolas" pitchFamily="34" charset="0"/>
                <a:ea typeface="Consolas" pitchFamily="34" charset="-122"/>
                <a:cs typeface="Consolas" pitchFamily="34" charset="-120"/>
              </a:rPr>
              <a:t>Tests      295 passed</a:t>
            </a:r>
            <a:endParaRPr lang="en-US" sz="1500" dirty="0"/>
          </a:p>
        </p:txBody>
      </p:sp>
      <p:sp>
        <p:nvSpPr>
          <p:cNvPr id="19" name="Text 17"/>
          <p:cNvSpPr txBox="1"/>
          <p:nvPr/>
        </p:nvSpPr>
        <p:spPr>
          <a:xfrm>
            <a:off x="548640" y="3017520"/>
            <a:ext cx="6522415" cy="31089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937"/>
                </a:solidFill>
                <a:latin typeface="Arial" pitchFamily="34" charset="0"/>
                <a:ea typeface="Arial" pitchFamily="34" charset="-122"/>
                <a:cs typeface="Arial" pitchFamily="34" charset="-120"/>
              </a:rPr>
              <a:t>Ko‘p bosqichli Docker obrazi: SDK’da yig‘ish, yengil ASP.NET runtime’da ishga tushirish</a:t>
            </a:r>
            <a:endParaRPr lang="en-US" sz="1500" dirty="0"/>
          </a:p>
          <a:p>
            <a:pPr marL="342900" indent="-342900">
              <a:spcAft>
                <a:spcPts val="900"/>
              </a:spcAft>
              <a:buSzPct val="100000"/>
              <a:buChar char="•"/>
            </a:pPr>
            <a:r>
              <a:rPr lang="en-US" sz="1500" dirty="0">
                <a:solidFill>
                  <a:srgbClr val="1F2937"/>
                </a:solidFill>
                <a:latin typeface="Arial" pitchFamily="34" charset="0"/>
                <a:ea typeface="Arial" pitchFamily="34" charset="-122"/>
                <a:cs typeface="Arial" pitchFamily="34" charset="-120"/>
              </a:rPr>
              <a:t>GitHub’ga push qilinganda Render obrazni avtomatik qayta yig‘adi</a:t>
            </a:r>
            <a:endParaRPr lang="en-US" sz="1500" dirty="0"/>
          </a:p>
          <a:p>
            <a:pPr marL="342900" indent="-342900">
              <a:spcAft>
                <a:spcPts val="900"/>
              </a:spcAft>
              <a:buSzPct val="100000"/>
              <a:buChar char="•"/>
            </a:pPr>
            <a:r>
              <a:rPr lang="en-US" sz="1500" dirty="0">
                <a:solidFill>
                  <a:srgbClr val="1F2937"/>
                </a:solidFill>
                <a:latin typeface="Arial" pitchFamily="34" charset="0"/>
                <a:ea typeface="Arial" pitchFamily="34" charset="-122"/>
                <a:cs typeface="Arial" pitchFamily="34" charset="-120"/>
              </a:rPr>
              <a:t>Maxfiy kalitlar kodda emas, muhit o‘zgaruvchilarida</a:t>
            </a:r>
            <a:endParaRPr lang="en-US" sz="1500" dirty="0"/>
          </a:p>
          <a:p>
            <a:pPr marL="342900" indent="-342900">
              <a:spcAft>
                <a:spcPts val="900"/>
              </a:spcAft>
              <a:buSzPct val="100000"/>
              <a:buChar char="•"/>
            </a:pPr>
            <a:r>
              <a:rPr lang="en-US" sz="1500" dirty="0">
                <a:solidFill>
                  <a:srgbClr val="1F2937"/>
                </a:solidFill>
                <a:latin typeface="Arial" pitchFamily="34" charset="0"/>
                <a:ea typeface="Arial" pitchFamily="34" charset="-122"/>
                <a:cs typeface="Arial" pitchFamily="34" charset="-120"/>
              </a:rPr>
              <a:t>xUnit va Vitest: transliteratsiya, forum, maxfiy chat protokoli, tashkilotlar, reaksiya va bloklash</a:t>
            </a:r>
            <a:endParaRPr lang="en-US" sz="1500" dirty="0"/>
          </a:p>
          <a:p>
            <a:pPr marL="342900" indent="-342900">
              <a:spcAft>
                <a:spcPts val="900"/>
              </a:spcAft>
              <a:buSzPct val="100000"/>
              <a:buChar char="•"/>
            </a:pPr>
            <a:r>
              <a:rPr lang="en-US" sz="1500" dirty="0">
                <a:solidFill>
                  <a:srgbClr val="1F2937"/>
                </a:solidFill>
                <a:latin typeface="Arial" pitchFamily="34" charset="0"/>
                <a:ea typeface="Arial" pitchFamily="34" charset="-122"/>
                <a:cs typeface="Arial" pitchFamily="34" charset="-120"/>
              </a:rPr>
              <a:t>Swagger UI orqali API hujjatlari va qo‘lda sinov</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Hayot faoliyati xavfsizligi</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23 / 25</a:t>
            </a:r>
            <a:endParaRPr lang="en-US" sz="1000" dirty="0"/>
          </a:p>
        </p:txBody>
      </p:sp>
      <p:sp>
        <p:nvSpPr>
          <p:cNvPr id="5" name="Shape 3"/>
          <p:cNvSpPr/>
          <p:nvPr/>
        </p:nvSpPr>
        <p:spPr>
          <a:xfrm>
            <a:off x="548640" y="1325880"/>
            <a:ext cx="4502727" cy="29718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6" name="Image 0" descr="C:\Users\Sardor\Desktop\diplom ish\diplom\generator\rasmlar\4-1-workstation.png">    </p:cNvPr>
          <p:cNvPicPr>
            <a:picLocks noChangeAspect="1"/>
          </p:cNvPicPr>
          <p:nvPr/>
        </p:nvPicPr>
        <p:blipFill>
          <a:blip r:embed="rId1"/>
          <a:stretch>
            <a:fillRect/>
          </a:stretch>
        </p:blipFill>
        <p:spPr>
          <a:xfrm>
            <a:off x="548640" y="1325880"/>
            <a:ext cx="4502727" cy="2971800"/>
          </a:xfrm>
          <a:prstGeom prst="rect">
            <a:avLst/>
          </a:prstGeom>
        </p:spPr>
      </p:pic>
      <p:sp>
        <p:nvSpPr>
          <p:cNvPr id="7" name="Shape 4"/>
          <p:cNvSpPr/>
          <p:nvPr/>
        </p:nvSpPr>
        <p:spPr>
          <a:xfrm>
            <a:off x="6548541" y="1325880"/>
            <a:ext cx="5094514" cy="2971800"/>
          </a:xfrm>
          <a:prstGeom prst="rect">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pic>
        <p:nvPicPr>
          <p:cNvPr id="8" name="Image 1" descr="C:\Users\Sardor\Desktop\diplom ish\diplom\generator\rasmlar\4-3-evacuation-plan.png">    </p:cNvPr>
          <p:cNvPicPr>
            <a:picLocks noChangeAspect="1"/>
          </p:cNvPicPr>
          <p:nvPr/>
        </p:nvPicPr>
        <p:blipFill>
          <a:blip r:embed="rId2"/>
          <a:stretch>
            <a:fillRect/>
          </a:stretch>
        </p:blipFill>
        <p:spPr>
          <a:xfrm>
            <a:off x="6548541" y="1325880"/>
            <a:ext cx="5094514" cy="2971800"/>
          </a:xfrm>
          <a:prstGeom prst="rect">
            <a:avLst/>
          </a:prstGeom>
        </p:spPr>
      </p:pic>
      <p:sp>
        <p:nvSpPr>
          <p:cNvPr id="9" name="Text 5"/>
          <p:cNvSpPr txBox="1"/>
          <p:nvPr/>
        </p:nvSpPr>
        <p:spPr>
          <a:xfrm>
            <a:off x="548640" y="4370832"/>
            <a:ext cx="4502727"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Arial" pitchFamily="34" charset="0"/>
                <a:ea typeface="Arial" pitchFamily="34" charset="-122"/>
                <a:cs typeface="Arial" pitchFamily="34" charset="-120"/>
              </a:rPr>
              <a:t>Ergonomik ish joyi va to‘g‘ri gavda holati</a:t>
            </a:r>
            <a:endParaRPr lang="en-US" sz="1200" dirty="0"/>
          </a:p>
        </p:txBody>
      </p:sp>
      <p:sp>
        <p:nvSpPr>
          <p:cNvPr id="10" name="Text 6"/>
          <p:cNvSpPr txBox="1"/>
          <p:nvPr/>
        </p:nvSpPr>
        <p:spPr>
          <a:xfrm>
            <a:off x="6548541" y="4370832"/>
            <a:ext cx="5094514" cy="274320"/>
          </a:xfrm>
          <a:prstGeom prst="rect">
            <a:avLst/>
          </a:prstGeom>
          <a:noFill/>
          <a:ln/>
        </p:spPr>
        <p:txBody>
          <a:bodyPr wrap="square" lIns="0" tIns="0" rIns="0" bIns="0" rtlCol="0" anchor="ctr"/>
          <a:lstStyle/>
          <a:p>
            <a:pPr algn="ctr" indent="0" marL="0">
              <a:buNone/>
            </a:pPr>
            <a:r>
              <a:rPr lang="en-US" sz="1200" i="1" dirty="0">
                <a:solidFill>
                  <a:srgbClr val="6B7280"/>
                </a:solidFill>
                <a:latin typeface="Arial" pitchFamily="34" charset="0"/>
                <a:ea typeface="Arial" pitchFamily="34" charset="-122"/>
                <a:cs typeface="Arial" pitchFamily="34" charset="-120"/>
              </a:rPr>
              <a:t>IT-ofis qavatining evakuatsiya reja-sxemasi</a:t>
            </a:r>
            <a:endParaRPr lang="en-US" sz="1200" dirty="0"/>
          </a:p>
        </p:txBody>
      </p:sp>
      <p:sp>
        <p:nvSpPr>
          <p:cNvPr id="11" name="Shape 7"/>
          <p:cNvSpPr/>
          <p:nvPr/>
        </p:nvSpPr>
        <p:spPr>
          <a:xfrm>
            <a:off x="548640" y="4846320"/>
            <a:ext cx="2567864" cy="1097280"/>
          </a:xfrm>
          <a:prstGeom prst="roundRect">
            <a:avLst>
              <a:gd name="adj" fmla="val 10000"/>
            </a:avLst>
          </a:prstGeom>
          <a:solidFill>
            <a:srgbClr val="EEF2FF"/>
          </a:solidFill>
          <a:ln/>
        </p:spPr>
      </p:sp>
      <p:sp>
        <p:nvSpPr>
          <p:cNvPr id="12" name="Shape 8"/>
          <p:cNvSpPr/>
          <p:nvPr/>
        </p:nvSpPr>
        <p:spPr>
          <a:xfrm>
            <a:off x="731520" y="5029200"/>
            <a:ext cx="457200" cy="457200"/>
          </a:xfrm>
          <a:prstGeom prst="ellipse">
            <a:avLst/>
          </a:prstGeom>
          <a:solidFill>
            <a:srgbClr val="4F46E5"/>
          </a:solidFill>
          <a:ln/>
        </p:spPr>
      </p:sp>
      <p:pic>
        <p:nvPicPr>
          <p:cNvPr id="13" name="Image 2" descr="C:\Users\Sardor\Desktop\diplom ish\diplom\generator\slides-cache\icons\armchair-FFFFFF.png">    </p:cNvPr>
          <p:cNvPicPr>
            <a:picLocks noChangeAspect="1"/>
          </p:cNvPicPr>
          <p:nvPr/>
        </p:nvPicPr>
        <p:blipFill>
          <a:blip r:embed="rId3"/>
          <a:stretch>
            <a:fillRect/>
          </a:stretch>
        </p:blipFill>
        <p:spPr>
          <a:xfrm>
            <a:off x="845820" y="5143500"/>
            <a:ext cx="228600" cy="228600"/>
          </a:xfrm>
          <a:prstGeom prst="rect">
            <a:avLst/>
          </a:prstGeom>
        </p:spPr>
      </p:pic>
      <p:sp>
        <p:nvSpPr>
          <p:cNvPr id="14" name="Text 9"/>
          <p:cNvSpPr txBox="1"/>
          <p:nvPr/>
        </p:nvSpPr>
        <p:spPr>
          <a:xfrm>
            <a:off x="1325880" y="4956048"/>
            <a:ext cx="1699184" cy="45720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5 ish joyi</a:t>
            </a:r>
            <a:endParaRPr lang="en-US" sz="2000" dirty="0"/>
          </a:p>
        </p:txBody>
      </p:sp>
      <p:sp>
        <p:nvSpPr>
          <p:cNvPr id="15" name="Text 10"/>
          <p:cNvSpPr txBox="1"/>
          <p:nvPr/>
        </p:nvSpPr>
        <p:spPr>
          <a:xfrm>
            <a:off x="1325880" y="5413248"/>
            <a:ext cx="1699184" cy="5486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xona 6 × 6 × 3 m</a:t>
            </a:r>
            <a:endParaRPr lang="en-US" sz="1200" dirty="0"/>
          </a:p>
        </p:txBody>
      </p:sp>
      <p:sp>
        <p:nvSpPr>
          <p:cNvPr id="16" name="Shape 11"/>
          <p:cNvSpPr/>
          <p:nvPr/>
        </p:nvSpPr>
        <p:spPr>
          <a:xfrm>
            <a:off x="3390824" y="4846320"/>
            <a:ext cx="2567864" cy="1097280"/>
          </a:xfrm>
          <a:prstGeom prst="roundRect">
            <a:avLst>
              <a:gd name="adj" fmla="val 10000"/>
            </a:avLst>
          </a:prstGeom>
          <a:solidFill>
            <a:srgbClr val="EEF2FF"/>
          </a:solidFill>
          <a:ln/>
        </p:spPr>
      </p:sp>
      <p:sp>
        <p:nvSpPr>
          <p:cNvPr id="17" name="Shape 12"/>
          <p:cNvSpPr/>
          <p:nvPr/>
        </p:nvSpPr>
        <p:spPr>
          <a:xfrm>
            <a:off x="3573704" y="5029200"/>
            <a:ext cx="457200" cy="457200"/>
          </a:xfrm>
          <a:prstGeom prst="ellipse">
            <a:avLst/>
          </a:prstGeom>
          <a:solidFill>
            <a:srgbClr val="4F46E5"/>
          </a:solidFill>
          <a:ln/>
        </p:spPr>
      </p:sp>
      <p:pic>
        <p:nvPicPr>
          <p:cNvPr id="18" name="Image 3" descr="C:\Users\Sardor\Desktop\diplom ish\diplom\generator\slides-cache\icons\lightbulb-FFFFFF.png">    </p:cNvPr>
          <p:cNvPicPr>
            <a:picLocks noChangeAspect="1"/>
          </p:cNvPicPr>
          <p:nvPr/>
        </p:nvPicPr>
        <p:blipFill>
          <a:blip r:embed="rId4"/>
          <a:stretch>
            <a:fillRect/>
          </a:stretch>
        </p:blipFill>
        <p:spPr>
          <a:xfrm>
            <a:off x="3688004" y="5143500"/>
            <a:ext cx="228600" cy="228600"/>
          </a:xfrm>
          <a:prstGeom prst="rect">
            <a:avLst/>
          </a:prstGeom>
        </p:spPr>
      </p:pic>
      <p:sp>
        <p:nvSpPr>
          <p:cNvPr id="19" name="Text 13"/>
          <p:cNvSpPr txBox="1"/>
          <p:nvPr/>
        </p:nvSpPr>
        <p:spPr>
          <a:xfrm>
            <a:off x="4168064" y="4956048"/>
            <a:ext cx="1699184" cy="45720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421 lk</a:t>
            </a:r>
            <a:endParaRPr lang="en-US" sz="2000" dirty="0"/>
          </a:p>
        </p:txBody>
      </p:sp>
      <p:sp>
        <p:nvSpPr>
          <p:cNvPr id="20" name="Text 14"/>
          <p:cNvSpPr txBox="1"/>
          <p:nvPr/>
        </p:nvSpPr>
        <p:spPr>
          <a:xfrm>
            <a:off x="4168064" y="5413248"/>
            <a:ext cx="1699184" cy="5486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12 ta LED panel (me’yor 400 lk)</a:t>
            </a:r>
            <a:endParaRPr lang="en-US" sz="1200" dirty="0"/>
          </a:p>
        </p:txBody>
      </p:sp>
      <p:sp>
        <p:nvSpPr>
          <p:cNvPr id="21" name="Shape 15"/>
          <p:cNvSpPr/>
          <p:nvPr/>
        </p:nvSpPr>
        <p:spPr>
          <a:xfrm>
            <a:off x="6233008" y="4846320"/>
            <a:ext cx="2567864" cy="1097280"/>
          </a:xfrm>
          <a:prstGeom prst="roundRect">
            <a:avLst>
              <a:gd name="adj" fmla="val 10000"/>
            </a:avLst>
          </a:prstGeom>
          <a:solidFill>
            <a:srgbClr val="EEF2FF"/>
          </a:solidFill>
          <a:ln/>
        </p:spPr>
      </p:sp>
      <p:sp>
        <p:nvSpPr>
          <p:cNvPr id="22" name="Shape 16"/>
          <p:cNvSpPr/>
          <p:nvPr/>
        </p:nvSpPr>
        <p:spPr>
          <a:xfrm>
            <a:off x="6415888" y="5029200"/>
            <a:ext cx="457200" cy="457200"/>
          </a:xfrm>
          <a:prstGeom prst="ellipse">
            <a:avLst/>
          </a:prstGeom>
          <a:solidFill>
            <a:srgbClr val="4F46E5"/>
          </a:solidFill>
          <a:ln/>
        </p:spPr>
      </p:sp>
      <p:pic>
        <p:nvPicPr>
          <p:cNvPr id="23" name="Image 4" descr="C:\Users\Sardor\Desktop\diplom ish\diplom\generator\slides-cache\icons\wind-FFFFFF.png">    </p:cNvPr>
          <p:cNvPicPr>
            <a:picLocks noChangeAspect="1"/>
          </p:cNvPicPr>
          <p:nvPr/>
        </p:nvPicPr>
        <p:blipFill>
          <a:blip r:embed="rId5"/>
          <a:stretch>
            <a:fillRect/>
          </a:stretch>
        </p:blipFill>
        <p:spPr>
          <a:xfrm>
            <a:off x="6530188" y="5143500"/>
            <a:ext cx="228600" cy="228600"/>
          </a:xfrm>
          <a:prstGeom prst="rect">
            <a:avLst/>
          </a:prstGeom>
        </p:spPr>
      </p:pic>
      <p:sp>
        <p:nvSpPr>
          <p:cNvPr id="24" name="Text 17"/>
          <p:cNvSpPr txBox="1"/>
          <p:nvPr/>
        </p:nvSpPr>
        <p:spPr>
          <a:xfrm>
            <a:off x="7010248" y="4956048"/>
            <a:ext cx="1699184" cy="45720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150 m³/soat</a:t>
            </a:r>
            <a:endParaRPr lang="en-US" sz="2000" dirty="0"/>
          </a:p>
        </p:txBody>
      </p:sp>
      <p:sp>
        <p:nvSpPr>
          <p:cNvPr id="25" name="Text 18"/>
          <p:cNvSpPr txBox="1"/>
          <p:nvPr/>
        </p:nvSpPr>
        <p:spPr>
          <a:xfrm>
            <a:off x="7010248" y="5413248"/>
            <a:ext cx="1699184" cy="5486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toza havo, 5 xodim uchun</a:t>
            </a:r>
            <a:endParaRPr lang="en-US" sz="1200" dirty="0"/>
          </a:p>
        </p:txBody>
      </p:sp>
      <p:sp>
        <p:nvSpPr>
          <p:cNvPr id="26" name="Shape 19"/>
          <p:cNvSpPr/>
          <p:nvPr/>
        </p:nvSpPr>
        <p:spPr>
          <a:xfrm>
            <a:off x="9075191" y="4846320"/>
            <a:ext cx="2567864" cy="1097280"/>
          </a:xfrm>
          <a:prstGeom prst="roundRect">
            <a:avLst>
              <a:gd name="adj" fmla="val 10000"/>
            </a:avLst>
          </a:prstGeom>
          <a:solidFill>
            <a:srgbClr val="EEF2FF"/>
          </a:solidFill>
          <a:ln/>
        </p:spPr>
      </p:sp>
      <p:sp>
        <p:nvSpPr>
          <p:cNvPr id="27" name="Shape 20"/>
          <p:cNvSpPr/>
          <p:nvPr/>
        </p:nvSpPr>
        <p:spPr>
          <a:xfrm>
            <a:off x="9258071" y="5029200"/>
            <a:ext cx="457200" cy="457200"/>
          </a:xfrm>
          <a:prstGeom prst="ellipse">
            <a:avLst/>
          </a:prstGeom>
          <a:solidFill>
            <a:srgbClr val="4F46E5"/>
          </a:solidFill>
          <a:ln/>
        </p:spPr>
      </p:sp>
      <p:pic>
        <p:nvPicPr>
          <p:cNvPr id="28" name="Image 5" descr="C:\Users\Sardor\Desktop\diplom ish\diplom\generator\slides-cache\icons\door-open-FFFFFF.png">    </p:cNvPr>
          <p:cNvPicPr>
            <a:picLocks noChangeAspect="1"/>
          </p:cNvPicPr>
          <p:nvPr/>
        </p:nvPicPr>
        <p:blipFill>
          <a:blip r:embed="rId6"/>
          <a:stretch>
            <a:fillRect/>
          </a:stretch>
        </p:blipFill>
        <p:spPr>
          <a:xfrm>
            <a:off x="9372371" y="5143500"/>
            <a:ext cx="228600" cy="228600"/>
          </a:xfrm>
          <a:prstGeom prst="rect">
            <a:avLst/>
          </a:prstGeom>
        </p:spPr>
      </p:pic>
      <p:sp>
        <p:nvSpPr>
          <p:cNvPr id="29" name="Text 21"/>
          <p:cNvSpPr txBox="1"/>
          <p:nvPr/>
        </p:nvSpPr>
        <p:spPr>
          <a:xfrm>
            <a:off x="9852431" y="4956048"/>
            <a:ext cx="1699184" cy="457200"/>
          </a:xfrm>
          <a:prstGeom prst="rect">
            <a:avLst/>
          </a:prstGeom>
          <a:noFill/>
          <a:ln/>
        </p:spPr>
        <p:txBody>
          <a:bodyPr wrap="square" lIns="0" tIns="0" rIns="0" bIns="0" rtlCol="0" anchor="ctr"/>
          <a:lstStyle/>
          <a:p>
            <a:pPr indent="0" marL="0">
              <a:buNone/>
            </a:pPr>
            <a:r>
              <a:rPr lang="en-US" sz="2000" b="1" dirty="0">
                <a:solidFill>
                  <a:srgbClr val="1E1B4B"/>
                </a:solidFill>
                <a:latin typeface="Arial" pitchFamily="34" charset="0"/>
                <a:ea typeface="Arial" pitchFamily="34" charset="-122"/>
                <a:cs typeface="Arial" pitchFamily="34" charset="-120"/>
              </a:rPr>
              <a:t>≈ 50 soniya</a:t>
            </a:r>
            <a:endParaRPr lang="en-US" sz="2000" dirty="0"/>
          </a:p>
        </p:txBody>
      </p:sp>
      <p:sp>
        <p:nvSpPr>
          <p:cNvPr id="30" name="Text 22"/>
          <p:cNvSpPr txBox="1"/>
          <p:nvPr/>
        </p:nvSpPr>
        <p:spPr>
          <a:xfrm>
            <a:off x="9852431" y="5413248"/>
            <a:ext cx="1699184" cy="54864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hisobiy evakuatsiya vaqti</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Xulosa va istiqbollar</a:t>
            </a:r>
            <a:endParaRPr lang="en-US" sz="3000" dirty="0"/>
          </a:p>
        </p:txBody>
      </p:sp>
      <p:sp>
        <p:nvSpPr>
          <p:cNvPr id="3" name="Text 1"/>
          <p:cNvSpPr txBox="1"/>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Arial" pitchFamily="34" charset="0"/>
                <a:ea typeface="Arial" pitchFamily="34" charset="-122"/>
                <a:cs typeface="Arial" pitchFamily="34" charset="-120"/>
              </a:rPr>
              <a:t>Real vaqtda xabar almashish imkonini beruvchi “Milliy” xabarchi ishlab chiqish</a:t>
            </a:r>
            <a:endParaRPr lang="en-US" sz="1000" dirty="0"/>
          </a:p>
        </p:txBody>
      </p:sp>
      <p:sp>
        <p:nvSpPr>
          <p:cNvPr id="4" name="Text 2"/>
          <p:cNvSpPr txBox="1"/>
          <p:nvPr/>
        </p:nvSpPr>
        <p:spPr>
          <a:xfrm>
            <a:off x="9814255" y="6382512"/>
            <a:ext cx="1828800" cy="274320"/>
          </a:xfrm>
          <a:prstGeom prst="rect">
            <a:avLst/>
          </a:prstGeom>
          <a:noFill/>
          <a:ln/>
        </p:spPr>
        <p:txBody>
          <a:bodyPr wrap="square" lIns="0" tIns="0" rIns="0" bIns="0" rtlCol="0" anchor="ctr"/>
          <a:lstStyle/>
          <a:p>
            <a:pPr algn="r" indent="0" marL="0">
              <a:buNone/>
            </a:pPr>
            <a:r>
              <a:rPr lang="en-US" sz="1000" dirty="0">
                <a:solidFill>
                  <a:srgbClr val="6B7280"/>
                </a:solidFill>
                <a:latin typeface="Arial" pitchFamily="34" charset="0"/>
                <a:ea typeface="Arial" pitchFamily="34" charset="-122"/>
                <a:cs typeface="Arial" pitchFamily="34" charset="-120"/>
              </a:rPr>
              <a:t>24 / 25</a:t>
            </a:r>
            <a:endParaRPr lang="en-US" sz="1000" dirty="0"/>
          </a:p>
        </p:txBody>
      </p:sp>
      <p:sp>
        <p:nvSpPr>
          <p:cNvPr id="5" name="Text 3"/>
          <p:cNvSpPr txBox="1"/>
          <p:nvPr/>
        </p:nvSpPr>
        <p:spPr>
          <a:xfrm>
            <a:off x="548640" y="1325880"/>
            <a:ext cx="5943600" cy="411480"/>
          </a:xfrm>
          <a:prstGeom prst="rect">
            <a:avLst/>
          </a:prstGeom>
          <a:noFill/>
          <a:ln/>
        </p:spPr>
        <p:txBody>
          <a:bodyPr wrap="square" lIns="0" tIns="0" rIns="0" bIns="0" rtlCol="0" anchor="ctr"/>
          <a:lstStyle/>
          <a:p>
            <a:pPr indent="0" marL="0">
              <a:buNone/>
            </a:pPr>
            <a:r>
              <a:rPr lang="en-US" sz="1900" b="1" dirty="0">
                <a:solidFill>
                  <a:srgbClr val="1E1B4B"/>
                </a:solidFill>
                <a:latin typeface="Arial" pitchFamily="34" charset="0"/>
                <a:ea typeface="Arial" pitchFamily="34" charset="-122"/>
                <a:cs typeface="Arial" pitchFamily="34" charset="-120"/>
              </a:rPr>
              <a:t>Erishilgan natijalar</a:t>
            </a:r>
            <a:endParaRPr lang="en-US" sz="1900" dirty="0"/>
          </a:p>
        </p:txBody>
      </p:sp>
      <p:pic>
        <p:nvPicPr>
          <p:cNvPr id="6" name="Image 0" descr="C:\Users\Sardor\Desktop\diplom ish\diplom\generator\slides-cache\icons\check-059669.png">    </p:cNvPr>
          <p:cNvPicPr>
            <a:picLocks noChangeAspect="1"/>
          </p:cNvPicPr>
          <p:nvPr/>
        </p:nvPicPr>
        <p:blipFill>
          <a:blip r:embed="rId1"/>
          <a:stretch>
            <a:fillRect/>
          </a:stretch>
        </p:blipFill>
        <p:spPr>
          <a:xfrm>
            <a:off x="548640" y="1856232"/>
            <a:ext cx="310896" cy="310896"/>
          </a:xfrm>
          <a:prstGeom prst="rect">
            <a:avLst/>
          </a:prstGeom>
        </p:spPr>
      </p:pic>
      <p:sp>
        <p:nvSpPr>
          <p:cNvPr id="7" name="Text 4"/>
          <p:cNvSpPr txBox="1"/>
          <p:nvPr/>
        </p:nvSpPr>
        <p:spPr>
          <a:xfrm>
            <a:off x="1005840" y="18745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Messenjerlar va real vaqt texnologiyalari tahlil qilindi, SignalR tanlandi</a:t>
            </a:r>
            <a:endParaRPr lang="en-US" sz="1500" dirty="0"/>
          </a:p>
        </p:txBody>
      </p:sp>
      <p:pic>
        <p:nvPicPr>
          <p:cNvPr id="8" name="Image 1" descr="C:\Users\Sardor\Desktop\diplom ish\diplom\generator\slides-cache\icons\check-059669.png">    </p:cNvPr>
          <p:cNvPicPr>
            <a:picLocks noChangeAspect="1"/>
          </p:cNvPicPr>
          <p:nvPr/>
        </p:nvPicPr>
        <p:blipFill>
          <a:blip r:embed="rId2"/>
          <a:stretch>
            <a:fillRect/>
          </a:stretch>
        </p:blipFill>
        <p:spPr>
          <a:xfrm>
            <a:off x="548640" y="2542032"/>
            <a:ext cx="310896" cy="310896"/>
          </a:xfrm>
          <a:prstGeom prst="rect">
            <a:avLst/>
          </a:prstGeom>
        </p:spPr>
      </p:pic>
      <p:sp>
        <p:nvSpPr>
          <p:cNvPr id="9" name="Text 5"/>
          <p:cNvSpPr txBox="1"/>
          <p:nvPr/>
        </p:nvSpPr>
        <p:spPr>
          <a:xfrm>
            <a:off x="1005840" y="25603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Clean Architecture, 43 jadval, 104 endpoint, 720 ta test</a:t>
            </a:r>
            <a:endParaRPr lang="en-US" sz="1500" dirty="0"/>
          </a:p>
        </p:txBody>
      </p:sp>
      <p:pic>
        <p:nvPicPr>
          <p:cNvPr id="10" name="Image 2" descr="C:\Users\Sardor\Desktop\diplom ish\diplom\generator\slides-cache\icons\check-059669.png">    </p:cNvPr>
          <p:cNvPicPr>
            <a:picLocks noChangeAspect="1"/>
          </p:cNvPicPr>
          <p:nvPr/>
        </p:nvPicPr>
        <p:blipFill>
          <a:blip r:embed="rId3"/>
          <a:stretch>
            <a:fillRect/>
          </a:stretch>
        </p:blipFill>
        <p:spPr>
          <a:xfrm>
            <a:off x="548640" y="3227832"/>
            <a:ext cx="310896" cy="310896"/>
          </a:xfrm>
          <a:prstGeom prst="rect">
            <a:avLst/>
          </a:prstGeom>
        </p:spPr>
      </p:pic>
      <p:sp>
        <p:nvSpPr>
          <p:cNvPr id="11" name="Text 6"/>
          <p:cNvSpPr txBox="1"/>
          <p:nvPr/>
        </p:nvSpPr>
        <p:spPr>
          <a:xfrm>
            <a:off x="1005840" y="32461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Chatlar, guruhlar, reaksiyalar, lavhalar, forum — real vaqtda</a:t>
            </a:r>
            <a:endParaRPr lang="en-US" sz="1500" dirty="0"/>
          </a:p>
        </p:txBody>
      </p:sp>
      <p:pic>
        <p:nvPicPr>
          <p:cNvPr id="12" name="Image 3" descr="C:\Users\Sardor\Desktop\diplom ish\diplom\generator\slides-cache\icons\check-059669.png">    </p:cNvPr>
          <p:cNvPicPr>
            <a:picLocks noChangeAspect="1"/>
          </p:cNvPicPr>
          <p:nvPr/>
        </p:nvPicPr>
        <p:blipFill>
          <a:blip r:embed="rId4"/>
          <a:stretch>
            <a:fillRect/>
          </a:stretch>
        </p:blipFill>
        <p:spPr>
          <a:xfrm>
            <a:off x="548640" y="3913632"/>
            <a:ext cx="310896" cy="310896"/>
          </a:xfrm>
          <a:prstGeom prst="rect">
            <a:avLst/>
          </a:prstGeom>
        </p:spPr>
      </p:pic>
      <p:sp>
        <p:nvSpPr>
          <p:cNvPr id="13" name="Text 7"/>
          <p:cNvSpPr txBox="1"/>
          <p:nvPr/>
        </p:nvSpPr>
        <p:spPr>
          <a:xfrm>
            <a:off x="1005840" y="39319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Lotin↔kirill ko‘rinish va yozuvdan qat’i nazar qidiruv</a:t>
            </a:r>
            <a:endParaRPr lang="en-US" sz="1500" dirty="0"/>
          </a:p>
        </p:txBody>
      </p:sp>
      <p:pic>
        <p:nvPicPr>
          <p:cNvPr id="14" name="Image 4" descr="C:\Users\Sardor\Desktop\diplom ish\diplom\generator\slides-cache\icons\check-059669.png">    </p:cNvPr>
          <p:cNvPicPr>
            <a:picLocks noChangeAspect="1"/>
          </p:cNvPicPr>
          <p:nvPr/>
        </p:nvPicPr>
        <p:blipFill>
          <a:blip r:embed="rId5"/>
          <a:stretch>
            <a:fillRect/>
          </a:stretch>
        </p:blipFill>
        <p:spPr>
          <a:xfrm>
            <a:off x="548640" y="4599432"/>
            <a:ext cx="310896" cy="310896"/>
          </a:xfrm>
          <a:prstGeom prst="rect">
            <a:avLst/>
          </a:prstGeom>
        </p:spPr>
      </p:pic>
      <p:sp>
        <p:nvSpPr>
          <p:cNvPr id="15" name="Text 8"/>
          <p:cNvSpPr txBox="1"/>
          <p:nvPr/>
        </p:nvSpPr>
        <p:spPr>
          <a:xfrm>
            <a:off x="1005840" y="46177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Tashkilot rejimi: domen orqali tasdiq, yopiq guruhlar</a:t>
            </a:r>
            <a:endParaRPr lang="en-US" sz="1500" dirty="0"/>
          </a:p>
        </p:txBody>
      </p:sp>
      <p:pic>
        <p:nvPicPr>
          <p:cNvPr id="16" name="Image 5" descr="C:\Users\Sardor\Desktop\diplom ish\diplom\generator\slides-cache\icons\check-059669.png">    </p:cNvPr>
          <p:cNvPicPr>
            <a:picLocks noChangeAspect="1"/>
          </p:cNvPicPr>
          <p:nvPr/>
        </p:nvPicPr>
        <p:blipFill>
          <a:blip r:embed="rId6"/>
          <a:stretch>
            <a:fillRect/>
          </a:stretch>
        </p:blipFill>
        <p:spPr>
          <a:xfrm>
            <a:off x="548640" y="5285232"/>
            <a:ext cx="310896" cy="310896"/>
          </a:xfrm>
          <a:prstGeom prst="rect">
            <a:avLst/>
          </a:prstGeom>
        </p:spPr>
      </p:pic>
      <p:sp>
        <p:nvSpPr>
          <p:cNvPr id="17" name="Text 9"/>
          <p:cNvSpPr txBox="1"/>
          <p:nvPr/>
        </p:nvSpPr>
        <p:spPr>
          <a:xfrm>
            <a:off x="1005840" y="5303520"/>
            <a:ext cx="5669280" cy="59436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Maxfiy chatlar: E2E, oldinga maxfiylik, kalit izi</a:t>
            </a:r>
            <a:endParaRPr lang="en-US" sz="1500" dirty="0"/>
          </a:p>
        </p:txBody>
      </p:sp>
      <p:sp>
        <p:nvSpPr>
          <p:cNvPr id="18" name="Shape 10"/>
          <p:cNvSpPr/>
          <p:nvPr/>
        </p:nvSpPr>
        <p:spPr>
          <a:xfrm>
            <a:off x="6949440" y="1325880"/>
            <a:ext cx="4693615" cy="4754880"/>
          </a:xfrm>
          <a:prstGeom prst="roundRect">
            <a:avLst>
              <a:gd name="adj" fmla="val 2338"/>
            </a:avLst>
          </a:prstGeom>
          <a:solidFill>
            <a:srgbClr val="1E1B4B"/>
          </a:solidFill>
          <a:ln/>
        </p:spPr>
      </p:sp>
      <p:sp>
        <p:nvSpPr>
          <p:cNvPr id="19" name="Text 11"/>
          <p:cNvSpPr txBox="1"/>
          <p:nvPr/>
        </p:nvSpPr>
        <p:spPr>
          <a:xfrm>
            <a:off x="7269480" y="1508760"/>
            <a:ext cx="4053535"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Istiqbollar</a:t>
            </a:r>
            <a:endParaRPr lang="en-US" sz="1900" dirty="0"/>
          </a:p>
        </p:txBody>
      </p:sp>
      <p:sp>
        <p:nvSpPr>
          <p:cNvPr id="20" name="Shape 12"/>
          <p:cNvSpPr/>
          <p:nvPr/>
        </p:nvSpPr>
        <p:spPr>
          <a:xfrm>
            <a:off x="7269480" y="2103120"/>
            <a:ext cx="438912" cy="438912"/>
          </a:xfrm>
          <a:prstGeom prst="ellipse">
            <a:avLst/>
          </a:prstGeom>
          <a:solidFill>
            <a:srgbClr val="4F46E5"/>
          </a:solidFill>
          <a:ln/>
        </p:spPr>
      </p:sp>
      <p:pic>
        <p:nvPicPr>
          <p:cNvPr id="21" name="Image 6" descr="C:\Users\Sardor\Desktop\diplom ish\diplom\generator\slides-cache\icons\phone-FFFFFF.png">    </p:cNvPr>
          <p:cNvPicPr>
            <a:picLocks noChangeAspect="1"/>
          </p:cNvPicPr>
          <p:nvPr/>
        </p:nvPicPr>
        <p:blipFill>
          <a:blip r:embed="rId7"/>
          <a:stretch>
            <a:fillRect/>
          </a:stretch>
        </p:blipFill>
        <p:spPr>
          <a:xfrm>
            <a:off x="7379208" y="2212848"/>
            <a:ext cx="219456" cy="219456"/>
          </a:xfrm>
          <a:prstGeom prst="rect">
            <a:avLst/>
          </a:prstGeom>
        </p:spPr>
      </p:pic>
      <p:sp>
        <p:nvSpPr>
          <p:cNvPr id="22" name="Text 13"/>
          <p:cNvSpPr txBox="1"/>
          <p:nvPr/>
        </p:nvSpPr>
        <p:spPr>
          <a:xfrm>
            <a:off x="7863840" y="210312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WebRTC ovozli va video qo‘ng‘iroqlar</a:t>
            </a:r>
            <a:endParaRPr lang="en-US" sz="1500" dirty="0"/>
          </a:p>
        </p:txBody>
      </p:sp>
      <p:sp>
        <p:nvSpPr>
          <p:cNvPr id="23" name="Shape 14"/>
          <p:cNvSpPr/>
          <p:nvPr/>
        </p:nvSpPr>
        <p:spPr>
          <a:xfrm>
            <a:off x="7269480" y="2743200"/>
            <a:ext cx="438912" cy="438912"/>
          </a:xfrm>
          <a:prstGeom prst="ellipse">
            <a:avLst/>
          </a:prstGeom>
          <a:solidFill>
            <a:srgbClr val="4F46E5"/>
          </a:solidFill>
          <a:ln/>
        </p:spPr>
      </p:sp>
      <p:pic>
        <p:nvPicPr>
          <p:cNvPr id="24" name="Image 7" descr="C:\Users\Sardor\Desktop\diplom ish\diplom\generator\slides-cache\icons\badge-check-FFFFFF.png">    </p:cNvPr>
          <p:cNvPicPr>
            <a:picLocks noChangeAspect="1"/>
          </p:cNvPicPr>
          <p:nvPr/>
        </p:nvPicPr>
        <p:blipFill>
          <a:blip r:embed="rId8"/>
          <a:stretch>
            <a:fillRect/>
          </a:stretch>
        </p:blipFill>
        <p:spPr>
          <a:xfrm>
            <a:off x="7379208" y="2852928"/>
            <a:ext cx="219456" cy="219456"/>
          </a:xfrm>
          <a:prstGeom prst="rect">
            <a:avLst/>
          </a:prstGeom>
        </p:spPr>
      </p:pic>
      <p:sp>
        <p:nvSpPr>
          <p:cNvPr id="25" name="Text 15"/>
          <p:cNvSpPr txBox="1"/>
          <p:nvPr/>
        </p:nvSpPr>
        <p:spPr>
          <a:xfrm>
            <a:off x="7863840" y="274320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OneID orqali shaxsni tasdiqlash</a:t>
            </a:r>
            <a:endParaRPr lang="en-US" sz="1500" dirty="0"/>
          </a:p>
        </p:txBody>
      </p:sp>
      <p:sp>
        <p:nvSpPr>
          <p:cNvPr id="26" name="Shape 16"/>
          <p:cNvSpPr/>
          <p:nvPr/>
        </p:nvSpPr>
        <p:spPr>
          <a:xfrm>
            <a:off x="7269480" y="3383280"/>
            <a:ext cx="438912" cy="438912"/>
          </a:xfrm>
          <a:prstGeom prst="ellipse">
            <a:avLst/>
          </a:prstGeom>
          <a:solidFill>
            <a:srgbClr val="4F46E5"/>
          </a:solidFill>
          <a:ln/>
        </p:spPr>
      </p:sp>
      <p:pic>
        <p:nvPicPr>
          <p:cNvPr id="27" name="Image 8" descr="C:\Users\Sardor\Desktop\diplom ish\diplom\generator\slides-cache\icons\bot-FFFFFF.png">    </p:cNvPr>
          <p:cNvPicPr>
            <a:picLocks noChangeAspect="1"/>
          </p:cNvPicPr>
          <p:nvPr/>
        </p:nvPicPr>
        <p:blipFill>
          <a:blip r:embed="rId9"/>
          <a:stretch>
            <a:fillRect/>
          </a:stretch>
        </p:blipFill>
        <p:spPr>
          <a:xfrm>
            <a:off x="7379208" y="3493008"/>
            <a:ext cx="219456" cy="219456"/>
          </a:xfrm>
          <a:prstGeom prst="rect">
            <a:avLst/>
          </a:prstGeom>
        </p:spPr>
      </p:pic>
      <p:sp>
        <p:nvSpPr>
          <p:cNvPr id="28" name="Text 17"/>
          <p:cNvSpPr txBox="1"/>
          <p:nvPr/>
        </p:nvSpPr>
        <p:spPr>
          <a:xfrm>
            <a:off x="7863840" y="338328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Kanallar va botlar platformasi</a:t>
            </a:r>
            <a:endParaRPr lang="en-US" sz="1500" dirty="0"/>
          </a:p>
        </p:txBody>
      </p:sp>
      <p:sp>
        <p:nvSpPr>
          <p:cNvPr id="29" name="Shape 18"/>
          <p:cNvSpPr/>
          <p:nvPr/>
        </p:nvSpPr>
        <p:spPr>
          <a:xfrm>
            <a:off x="7269480" y="4023360"/>
            <a:ext cx="438912" cy="438912"/>
          </a:xfrm>
          <a:prstGeom prst="ellipse">
            <a:avLst/>
          </a:prstGeom>
          <a:solidFill>
            <a:srgbClr val="4F46E5"/>
          </a:solidFill>
          <a:ln/>
        </p:spPr>
      </p:sp>
      <p:pic>
        <p:nvPicPr>
          <p:cNvPr id="30" name="Image 9" descr="C:\Users\Sardor\Desktop\diplom ish\diplom\generator\slides-cache\icons\bell-FFFFFF.png">    </p:cNvPr>
          <p:cNvPicPr>
            <a:picLocks noChangeAspect="1"/>
          </p:cNvPicPr>
          <p:nvPr/>
        </p:nvPicPr>
        <p:blipFill>
          <a:blip r:embed="rId10"/>
          <a:stretch>
            <a:fillRect/>
          </a:stretch>
        </p:blipFill>
        <p:spPr>
          <a:xfrm>
            <a:off x="7379208" y="4133088"/>
            <a:ext cx="219456" cy="219456"/>
          </a:xfrm>
          <a:prstGeom prst="rect">
            <a:avLst/>
          </a:prstGeom>
        </p:spPr>
      </p:pic>
      <p:sp>
        <p:nvSpPr>
          <p:cNvPr id="31" name="Text 19"/>
          <p:cNvSpPr txBox="1"/>
          <p:nvPr/>
        </p:nvSpPr>
        <p:spPr>
          <a:xfrm>
            <a:off x="7863840" y="402336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Ilova yopiq bo‘lganda ham push-bildirishnomalar</a:t>
            </a:r>
            <a:endParaRPr lang="en-US" sz="1500" dirty="0"/>
          </a:p>
        </p:txBody>
      </p:sp>
      <p:sp>
        <p:nvSpPr>
          <p:cNvPr id="32" name="Shape 20"/>
          <p:cNvSpPr/>
          <p:nvPr/>
        </p:nvSpPr>
        <p:spPr>
          <a:xfrm>
            <a:off x="7269480" y="4663440"/>
            <a:ext cx="438912" cy="438912"/>
          </a:xfrm>
          <a:prstGeom prst="ellipse">
            <a:avLst/>
          </a:prstGeom>
          <a:solidFill>
            <a:srgbClr val="4F46E5"/>
          </a:solidFill>
          <a:ln/>
        </p:spPr>
      </p:sp>
      <p:pic>
        <p:nvPicPr>
          <p:cNvPr id="33" name="Image 10" descr="C:\Users\Sardor\Desktop\diplom ish\diplom\generator\slides-cache\icons\smartphone-FFFFFF.png">    </p:cNvPr>
          <p:cNvPicPr>
            <a:picLocks noChangeAspect="1"/>
          </p:cNvPicPr>
          <p:nvPr/>
        </p:nvPicPr>
        <p:blipFill>
          <a:blip r:embed="rId11"/>
          <a:stretch>
            <a:fillRect/>
          </a:stretch>
        </p:blipFill>
        <p:spPr>
          <a:xfrm>
            <a:off x="7379208" y="4773168"/>
            <a:ext cx="219456" cy="219456"/>
          </a:xfrm>
          <a:prstGeom prst="rect">
            <a:avLst/>
          </a:prstGeom>
        </p:spPr>
      </p:pic>
      <p:sp>
        <p:nvSpPr>
          <p:cNvPr id="34" name="Text 21"/>
          <p:cNvSpPr txBox="1"/>
          <p:nvPr/>
        </p:nvSpPr>
        <p:spPr>
          <a:xfrm>
            <a:off x="7863840" y="466344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Android va iOS ilovalari</a:t>
            </a:r>
            <a:endParaRPr lang="en-US" sz="1500" dirty="0"/>
          </a:p>
        </p:txBody>
      </p:sp>
      <p:sp>
        <p:nvSpPr>
          <p:cNvPr id="35" name="Shape 22"/>
          <p:cNvSpPr/>
          <p:nvPr/>
        </p:nvSpPr>
        <p:spPr>
          <a:xfrm>
            <a:off x="7269480" y="5303520"/>
            <a:ext cx="438912" cy="438912"/>
          </a:xfrm>
          <a:prstGeom prst="ellipse">
            <a:avLst/>
          </a:prstGeom>
          <a:solidFill>
            <a:srgbClr val="4F46E5"/>
          </a:solidFill>
          <a:ln/>
        </p:spPr>
      </p:sp>
      <p:pic>
        <p:nvPicPr>
          <p:cNvPr id="36" name="Image 11" descr="C:\Users\Sardor\Desktop\diplom ish\diplom\generator\slides-cache\icons\trending-up-FFFFFF.png">    </p:cNvPr>
          <p:cNvPicPr>
            <a:picLocks noChangeAspect="1"/>
          </p:cNvPicPr>
          <p:nvPr/>
        </p:nvPicPr>
        <p:blipFill>
          <a:blip r:embed="rId12"/>
          <a:stretch>
            <a:fillRect/>
          </a:stretch>
        </p:blipFill>
        <p:spPr>
          <a:xfrm>
            <a:off x="7379208" y="5413248"/>
            <a:ext cx="219456" cy="219456"/>
          </a:xfrm>
          <a:prstGeom prst="rect">
            <a:avLst/>
          </a:prstGeom>
        </p:spPr>
      </p:pic>
      <p:sp>
        <p:nvSpPr>
          <p:cNvPr id="37" name="Text 23"/>
          <p:cNvSpPr txBox="1"/>
          <p:nvPr/>
        </p:nvSpPr>
        <p:spPr>
          <a:xfrm>
            <a:off x="7863840" y="5303520"/>
            <a:ext cx="3596335" cy="438912"/>
          </a:xfrm>
          <a:prstGeom prst="rect">
            <a:avLst/>
          </a:prstGeom>
          <a:noFill/>
          <a:ln/>
        </p:spPr>
        <p:txBody>
          <a:bodyPr wrap="square" lIns="0" tIns="0" rIns="0" bIns="0" rtlCol="0" anchor="ctr"/>
          <a:lstStyle/>
          <a:p>
            <a:pPr indent="0" marL="0">
              <a:buNone/>
            </a:pPr>
            <a:r>
              <a:rPr lang="en-US" sz="1500" dirty="0">
                <a:solidFill>
                  <a:srgbClr val="E0E7FF"/>
                </a:solidFill>
                <a:latin typeface="Arial" pitchFamily="34" charset="0"/>
                <a:ea typeface="Arial" pitchFamily="34" charset="-122"/>
                <a:cs typeface="Arial" pitchFamily="34" charset="-120"/>
              </a:rPr>
              <a:t>Redis bilan gorizontal kengaytirish</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5638648" y="1463040"/>
            <a:ext cx="914400" cy="914400"/>
          </a:xfrm>
          <a:prstGeom prst="ellipse">
            <a:avLst/>
          </a:prstGeom>
          <a:solidFill>
            <a:srgbClr val="4F46E5"/>
          </a:solidFill>
          <a:ln/>
        </p:spPr>
      </p:sp>
      <p:pic>
        <p:nvPicPr>
          <p:cNvPr id="3" name="Image 0" descr="C:\Users\Sardor\Desktop\diplom ish\diplom\generator\slides-cache\icons\check-FFFFFF.png">    </p:cNvPr>
          <p:cNvPicPr>
            <a:picLocks noChangeAspect="1"/>
          </p:cNvPicPr>
          <p:nvPr/>
        </p:nvPicPr>
        <p:blipFill>
          <a:blip r:embed="rId1"/>
          <a:stretch>
            <a:fillRect/>
          </a:stretch>
        </p:blipFill>
        <p:spPr>
          <a:xfrm>
            <a:off x="5867248" y="1691640"/>
            <a:ext cx="457200" cy="457200"/>
          </a:xfrm>
          <a:prstGeom prst="rect">
            <a:avLst/>
          </a:prstGeom>
        </p:spPr>
      </p:pic>
      <p:sp>
        <p:nvSpPr>
          <p:cNvPr id="4" name="Text 1"/>
          <p:cNvSpPr txBox="1"/>
          <p:nvPr/>
        </p:nvSpPr>
        <p:spPr>
          <a:xfrm>
            <a:off x="548640" y="2651760"/>
            <a:ext cx="1109441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E’tiboringiz uchun rahmat!</a:t>
            </a:r>
            <a:endParaRPr lang="en-US" sz="4400" dirty="0"/>
          </a:p>
        </p:txBody>
      </p:sp>
      <p:sp>
        <p:nvSpPr>
          <p:cNvPr id="5" name="Text 2"/>
          <p:cNvSpPr txBox="1"/>
          <p:nvPr/>
        </p:nvSpPr>
        <p:spPr>
          <a:xfrm>
            <a:off x="548640" y="3611880"/>
            <a:ext cx="11094415" cy="457200"/>
          </a:xfrm>
          <a:prstGeom prst="rect">
            <a:avLst/>
          </a:prstGeom>
          <a:noFill/>
          <a:ln/>
        </p:spPr>
        <p:txBody>
          <a:bodyPr wrap="square" lIns="0" tIns="0" rIns="0" bIns="0" rtlCol="0" anchor="ctr"/>
          <a:lstStyle/>
          <a:p>
            <a:pPr algn="ctr" indent="0" marL="0">
              <a:buNone/>
            </a:pPr>
            <a:r>
              <a:rPr lang="en-US" sz="2000" dirty="0">
                <a:solidFill>
                  <a:srgbClr val="C7D2FE"/>
                </a:solidFill>
                <a:latin typeface="Arial" pitchFamily="34" charset="0"/>
                <a:ea typeface="Arial" pitchFamily="34" charset="-122"/>
                <a:cs typeface="Arial" pitchFamily="34" charset="-120"/>
              </a:rPr>
              <a:t>Real vaqtda xabar almashish imkonini beruvchi “Milliy” xabarchi ishlab chiqish</a:t>
            </a:r>
            <a:endParaRPr lang="en-US" sz="2000" dirty="0"/>
          </a:p>
        </p:txBody>
      </p:sp>
      <p:sp>
        <p:nvSpPr>
          <p:cNvPr id="6" name="Text 3"/>
          <p:cNvSpPr txBox="1"/>
          <p:nvPr/>
        </p:nvSpPr>
        <p:spPr>
          <a:xfrm>
            <a:off x="548640" y="4846320"/>
            <a:ext cx="11094415"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S.O. Sohinazarov</a:t>
            </a:r>
            <a:endParaRPr lang="en-US" sz="1600" dirty="0"/>
          </a:p>
        </p:txBody>
      </p:sp>
      <p:sp>
        <p:nvSpPr>
          <p:cNvPr id="7" name="Text 4"/>
          <p:cNvSpPr txBox="1"/>
          <p:nvPr/>
        </p:nvSpPr>
        <p:spPr>
          <a:xfrm>
            <a:off x="548640" y="5257800"/>
            <a:ext cx="11094415" cy="365760"/>
          </a:xfrm>
          <a:prstGeom prst="rect">
            <a:avLst/>
          </a:prstGeom>
          <a:noFill/>
          <a:ln/>
        </p:spPr>
        <p:txBody>
          <a:bodyPr wrap="square" lIns="0" tIns="0" rIns="0" bIns="0" rtlCol="0" anchor="ctr"/>
          <a:lstStyle/>
          <a:p>
            <a:pPr algn="ctr" indent="0" marL="0">
              <a:buNone/>
            </a:pPr>
            <a:r>
              <a:rPr lang="en-US" sz="1400" dirty="0">
                <a:solidFill>
                  <a:srgbClr val="A5B4FC"/>
                </a:solidFill>
                <a:latin typeface="Arial" pitchFamily="34" charset="0"/>
                <a:ea typeface="Arial" pitchFamily="34" charset="-122"/>
                <a:cs typeface="Arial" pitchFamily="34" charset="-120"/>
              </a:rPr>
              <a:t>Toshkent –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vaqtda xabar almashish imkonini beruvchi “Milliy” xabarchi ishlab chiqish</dc:title>
  <dc:subject>PptxGenJS Presentation</dc:subject>
  <dc:creator>Sohinazarov Sardorbek</dc:creator>
  <cp:lastModifiedBy>Sohinazarov Sardorbek</cp:lastModifiedBy>
  <cp:revision>1</cp:revision>
  <dcterms:created xsi:type="dcterms:W3CDTF">2026-10-17T06:56:05Z</dcterms:created>
  <dcterms:modified xsi:type="dcterms:W3CDTF">2026-10-17T06:56:05Z</dcterms:modified>
</cp:coreProperties>
</file>