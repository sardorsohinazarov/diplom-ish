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Assalomu alaykum, hurmatli komissiya a’zolari! Mening ismim Sohinazarov Sardor. Bitiruv malakaviy ishimning mavzusi — “Milliy chat” dasturini ishlab chiqish. Ish doirasida Telegramga o‘xshash, foydalanuvchi ma’lumotlarini o‘z serverida saqlaydigan veb-messenjer loyihalandi va to‘liq ishlaydigan holatga keltirildi. Ekranning o‘ng tomonida dasturning haqiqiy interfeysi ko‘rsatilgan.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Mavzuning dolzarbligi uchta omilga asoslanadi. Birinchidan, “Raqamli O‘zbekiston – 2030” strategiyasi mahalliy dasturiy mahsulotlarni rivojlantirishni ustuvor vazifa qilib belgilagan. Ikkinchidan, “Shaxsga doir ma’lumotlar to‘g‘risida”gi Qonunga ko‘ra fuqarolarimizning ma’lumotlari respublika hududida saqlanishi kerak. Uchinchidan, bugun keng qo‘llanayotgan messenjerlarning barchasi xorijiy kompaniyalarga tegishli va ma’lumotlarni chet elda saqlaydi. “Milliy chat” aynan shu muammoga yechim: ma’lumotlar o‘z serverida, interfeys o‘zbek tilida, kod esa mahalliy nazoratda.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Ishning maqsadi — ma’lumotlarni o‘z serverida saqlaydigan va real vaqtda ishlaydigan veb-messenjer yaratish. Bunga erishish uchun oltita vazifa qo‘yildi: mavjud yechimlar va texnologiyalarni tahlil qilish, talablarni aniqlash, tizimni loyihalash, xavfsiz autentifikatsiyani yaratish, server va klient qismlarini ishlab chiqish va nihoyat, dasturni bulutga joylashtirib sinash hamda hayot faoliyati xavfsizligi talablarini ishlab chiqish.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Ishning birinchi bobida mashhur messenjerlar besh mezon bo‘yicha taqqoslandi. Jadvaldan ko‘rinib turibdiki, ularning barchasi xorijiy kompaniyalarga tegishli va ma’lumotlarni mamlakatdan tashqarida saqlaydi. “Milliy chat” esa istalgan serverga, jumladan O‘zbekistondagi data-markazga joylashtirilishi mumkin. Ro‘yxatdan o‘tish SMS o‘rniga elektron pochta va Google orqali amalga oshiriladi. Foydalanish qulayligi va funksionallik bo‘yicha eng yaxshi muvozanatga ega bo‘lgani uchun interfeys namunasi sifatida Telegram tanlandi.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Messenjer uchun eng muhim talab — xabarlarni kechikishsiz yetkazish. Shu sababli real vaqtda aloqa texnologiyalari taqqoslandi: short polling, long polling, Server-Sent Events, WebSocket va SignalR. Tanlov SignalR’ga tushdi. U WebSocket tezligini beradi, WebSocket ishlamaydigan tarmoqlarda esa avtomatik ravishda SSE yoki long polling’ga o‘tadi. Bundan tashqari, guruhlar, JWT orqali autentifikatsiya va qayta ulanish kabi messenjerga kerakli imkoniyatlar SignalR’da tayyor holda mavjud.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Tahlil asosida tizimga 12 ta funksional va 7 guruh nofunksional talab qo‘yildi. Funksional talablar — bu foydalanuvchi ko‘radigan imkoniyatlar: kirish, chatlar, xabarlar, media fayllar, real vaqt belgilari va hikoyalar. Nofunksional talablar esa tizim sifatini belgilaydi: masalan, xabar bir soniyadan kam vaqtda yetib borishi, barcha kodlar va tokenlar xesh ko‘rinishida saqlanishi, tizim Docker’da istalgan serverga ko‘chirilishi. Tizimda uchta aktor bor: mehmon, ro‘yxatdan o‘tgan foydalanuvchi va guruh egasi. Ularning to‘liq use-case diagrammasi diplom ishining ikkinchi bobida keltirilgan.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Server qismi .NET 8 platformasida, ASP.NET Core freymvorkida yozilgan. Real vaqt aloqasi SignalR orqali, ma’lumotlar bazasi bilan ishlash Entity Framework Core orqali amalga oshiriladi. Ma’lumotlar bazasi — PostgreSQL. Klient qismi Angular 22 freymvorkida, holatni boshqarish uchun signals mexanizmidan foydalanilgan. Infratuzilmada Docker, Render bulut platformasi, kodlarni yuborish uchun SMTP, yuklanayotgan fayllarni tekshirish uchun ClamAV antivirusi ishlatilgan. Barcha texnologiyalar ochiq kodli va bepul.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Server qismi Clean Architecture tamoyillari asosida to‘rtta qatlamga ajratilgan. Markazda Domain qatlami — biznes obyektlari. Uning atrofida Application — biznes-mantiq va servislar. Infrastructure qatlamida ma’lumotlar bazasi, kriptografiya, pochta va antivirus kabi texnik adapterlar joylashgan. Tashqi qatlam — API: controllerlar va SignalR habi. Bog‘liqliklar faqat ichkariga yo‘nalgan, shuning uchun, masalan, ma’lumotlar bazasini almashtirish biznes-mantiqqa ta’sir qilmaydi. O‘ng tomonda joylashtirish diagrammasi: brauzer REST va WebSocket orqali Docker konteyneridagi serverga ulanadi, server esa PostgreSQL, fayl ombori va tashqi xizmatlar bilan ishlaydi.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Ma’lumotlar bazasi PostgreSQL’da 9 ta sxemaga guruhlangan 32 ta jadvaldan iborat. Ekranda foydalanuvchilar, sessiyalar, chatlar va guruhlar qismining ER-diagrammasi ko‘rsatilgan. Barcha vaqt qiymatlari UTC’da saqlanadi. Xabarlar va chatlar ro‘yxati uchun sahifa raqamli emas, kursorli sahifalash qo‘llanilgan: klient oxirgi ko‘rgan xabar identifikatorini yuboradi va server undan oldingi xabarlarni indeks bo‘yicha tez qaytaradi. Bu usul chatga yangi xabarlar qo‘shilayotganda ham xabarlar takrorlanmasligini yoki tushib qolmasligini ta’minlaydi.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Tizimda parolsiz autentifikatsiya qo‘llanilgan. Foydalanuvchi elektron pochtasiga 6 xonali bir martalik kod oladi, bazada esa bu kodning faqat PBKDF2 xeshi saqlanadi. Google hisobi orqali kirish ham mumkin. Kirgandan so‘ng 15 daqiqalik JWT access token va 30 kunlik refresh token beriladi. Refresh token HttpOnly cookie’da saqlanadi, bazada uning HMAC xeshi turadi va har yangilanishda yangisiga almashtiriladi. O‘ng tomondagi diagrammada token muddati tugaganda uni avtomatik yangilash jarayoni ko‘rsatilgan. Bundan tashqari, har bir so‘rovda foydalanuvchining chat a’zosi ekanligi tekshiriladi, yuklangan fayllar esa antivirusdan o‘tkaziladi.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ketma-ketlik diagrammasi xabar qanday yetkazilishini ko‘rsatadi. Qabul qiluvchi brauzer oldindan JWT bilan SignalR habiga ulanib turadi. Jo‘natuvchi xabarni REST so‘rovi orqali yuboradi. Servis uni tekshiradi, foydalanuvchining chat a’zosi ekanini aniqlaydi va bazaga yozadi. So‘ng ChatHub orqali xabar chatning barcha a’zolariga darhol yuboriladi. Qabul qiluvchi xabarni o‘qiganda jo‘natuvchida ikki belgi paydo bo‘ladi, yozish boshlanganda esa “yozmoqda” holati ko‘rinadi. Xabarni saqlash REST orqali bajarilgani uchun ulanish uzilganda ham xabar yo‘qolmaydi.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Endi dasturning o‘zini ko‘rsataman. Tizimga kirish uch qadamdan iborat. Foydalanuvchi elektron pochtasini kiritadi yoki Google tugmasini bosadi. Pochtaga 6 xonali kod keladi va u kiritiladi. Agar foydalanuvchi yangi bo‘lsa, ism va username kiritib ro‘yxatdan o‘tadi. Parol umuman ishlatilmagani uchun uni o‘g‘irlash yoki bazadan sizdirib olish xavfi yo‘q.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shaxsiy chat oynasi. Chap tomonda chatlar ro‘yxati: oxirgi xabar, vaqt va o‘qilmagan xabarlar soni ko‘rinadi. Tepada hikoyalar paneli joylashgan. Suhbatdosh yozayotganda sarlavhada “yozmoqda” yozuvi chiqadi, o‘qilgan xabarlar ikkita belgi bilan ko‘rsatiladi. Xabarga javob berish, o‘z xabarini tahrirlash va o‘chirish, rasm, video va fayl yuborish mumkin. O‘ng tomonda javob berish va rasmni to‘liq ekranda ko‘rish oynalari ko‘rsatilgan.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Guruh chatlarida uchta rol mavjud: egasi, administrator va oddiy a’zo. Har bir amaldan oldin server foydalanuvchining rolini tekshiradi. Masalan, a’zo qo‘shish faqat administrator va egaga ruxsat etilgan, guruhni o‘chirish esa faqat egaga. Ega guruhdan chiqsa, egalik avtomatik ravishda eng oldin tayinlangan administratorga o‘tadi. Guruhdagi o‘zgarishlar, masalan yangi a’zo qo‘shilgani, xizmat xabarlari ko‘rinishida barcha a’zolarga real vaqtda ko‘rsatiladi.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Dasturda Telegram foydalanuvchilariga tanish bo‘lgan boshqa imkoniyatlar ham bor. Chat ichida xabarlarni matn bo‘yicha qidirish mumkin, topilgan natija bosilganda chat o‘sha xabar atrofiga o‘tadi. Hikoyalar 24 soat davomida ko‘rinadi va muallif ularni kim ko‘rganini biladi. Profil oynasida ism, username, bio va rasmni o‘zgartirish, shuningdek faol qurilmalar ro‘yxatini ko‘rish mumkin.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Interfeys yorug‘ va qorong‘i mavzularni qo‘llab-quvvatlaydi. Ular o‘z dizayn tizimimizdagi rang o‘zgaruvchilari orqali almashtiriladi. Interfeys moslashuvchan: telefonda chatlar ro‘yxati va suhbat alohida ekranlarda ochiladi. Shunday qilib, bitta veb-ilova kompyuterda ham, telefonda ham qulay ishlaydi.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Server 56 ta REST endpoint va SignalR habidan iborat. U ko‘p bosqichli Docker obraziga yig‘iladi va Render bulut platformasida ishlaydi. GitHub’ga yangi kod yuborilganda obraz avtomatik qayta yig‘iladi, maxfiy kalitlar esa muhit o‘zgaruvchilarida saqlanadi. Dasturning to‘g‘riligi 39 ta unit test bilan tekshirildi va ularning barchasi muvaffaqiyatli o‘tdi. Bundan tashqari, API darajasida 43 ta integratsion tekshiruv va qo‘lda sinov ssenariylari o‘tkazildi.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Hayot faoliyati xavfsizligi bo‘limida ikki masala ko‘rib chiqildi. Birinchisi — dasturchining ergonomik ish joyi. Stol, stul va monitorning to‘g‘ri o‘lchamlari keltirildi va 6 ga 6 metrli xona uchun hisob-kitob qilindi: xonaga 5 ta ish joyi joylashadi, 12 ta LED panel 421 lyuks yoritilganlik beradi, bu me’yordagi 400 lyuksdan yuqori. Havo almashinuvi soatiga 150 kub metr. Ikkinchi masala — evakuatsiya. IT-ofis qavati uchun evakuatsiya reja-sxemasi ishlab chiqildi, hisobiy evakuatsiya vaqti taxminan 50 soniya chiqdi. Yong‘in sodir bo‘lganda xodimlarning harakatlar tartibi ham belgilandi.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Xulosa qilib aytganda, ishda qo‘yilgan barcha vazifalar bajarildi. Mavjud yechimlar tahlil qilindi, tizim loyihalandi, parolsiz autentifikatsiyaga ega, real vaqtda ishlaydigan messenjer yaratildi va bulutga joylashtirildi. “Milliy chat”ni tashkilotlar, ta’lim muassasalari va davlat idoralari o‘z serverlarida ichki aloqa vositasi sifatida qo‘llashi mumkin. Kelajakda ovozli va video qo‘ng‘iroqlar, uchdan-uchgacha shifrlash, kanallar va botlar hamda mobil ilovalarni qo‘shish rejalashtirilgan. Ma’lumotlar bazasi sxemasida bu imkoniyatlar uchun joy oldindan ajratilgan.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E’tiboringiz uchun rahmat! Savollaringiz bo‘lsa, javob berishga tayyorman.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4.png"/><Relationship Id="rId6" Type="http://schemas.openxmlformats.org/officeDocument/2006/relationships/image" Target="../media/image-2-4.png"/><Relationship Id="rId7" Type="http://schemas.openxmlformats.org/officeDocument/2006/relationships/image" Target="../media/image-2-4.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2.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jpg"/><Relationship Id="rId5" Type="http://schemas.openxmlformats.org/officeDocument/2006/relationships/image" Target="../media/image-14-5.jp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jpg"/><Relationship Id="rId3" Type="http://schemas.openxmlformats.org/officeDocument/2006/relationships/image" Target="../media/image-15-3.png"/><Relationship Id="rId4" Type="http://schemas.openxmlformats.org/officeDocument/2006/relationships/image" Target="../media/image-15-4.jpg"/><Relationship Id="rId5" Type="http://schemas.openxmlformats.org/officeDocument/2006/relationships/image" Target="../media/image-15-5.png"/><Relationship Id="rId6" Type="http://schemas.openxmlformats.org/officeDocument/2006/relationships/image" Target="../media/image-15-6.jp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image" Target="../media/image-16-3.jp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1.png"/><Relationship Id="rId3" Type="http://schemas.openxmlformats.org/officeDocument/2006/relationships/image" Target="../media/image-19-1.png"/><Relationship Id="rId4" Type="http://schemas.openxmlformats.org/officeDocument/2006/relationships/image" Target="../media/image-19-1.png"/><Relationship Id="rId5" Type="http://schemas.openxmlformats.org/officeDocument/2006/relationships/image" Target="../media/image-19-1.png"/><Relationship Id="rId6" Type="http://schemas.openxmlformats.org/officeDocument/2006/relationships/image" Target="../media/image-19-1.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slideLayout" Target="../slideLayouts/slideLayout1.xml"/><Relationship Id="rId1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548640" y="320040"/>
            <a:ext cx="11094415" cy="868680"/>
          </a:xfrm>
          <a:prstGeom prst="rect">
            <a:avLst/>
          </a:prstGeom>
          <a:noFill/>
          <a:ln/>
        </p:spPr>
        <p:txBody>
          <a:bodyPr wrap="square" lIns="0" tIns="0" rIns="0" bIns="0" rtlCol="0" anchor="ctr"/>
          <a:lstStyle/>
          <a:p>
            <a:pPr algn="ctr" indent="0" marL="0">
              <a:lnSpc>
                <a:spcPct val="115000"/>
              </a:lnSpc>
              <a:buNone/>
            </a:pPr>
            <a:r>
              <a:rPr lang="en-US" sz="1300" dirty="0">
                <a:solidFill>
                  <a:srgbClr val="C7D2FE"/>
                </a:solidFill>
                <a:latin typeface="Arial" pitchFamily="34" charset="0"/>
                <a:ea typeface="Arial" pitchFamily="34" charset="-122"/>
                <a:cs typeface="Arial" pitchFamily="34" charset="-120"/>
              </a:rPr>
              <a:t>O‘ZBEKISTON RESPUBLIKASI RAQAMLI TEXNOLOGIYALAR VAZIRLIGI</a:t>
            </a:r>
            <a:endParaRPr lang="en-US" sz="1300" dirty="0"/>
          </a:p>
          <a:p>
            <a:pPr algn="ctr" indent="0" marL="0">
              <a:lnSpc>
                <a:spcPct val="115000"/>
              </a:lnSpc>
              <a:buNone/>
            </a:pPr>
            <a:r>
              <a:rPr lang="en-US" sz="1300" dirty="0">
                <a:solidFill>
                  <a:srgbClr val="C7D2FE"/>
                </a:solidFill>
                <a:latin typeface="Arial" pitchFamily="34" charset="0"/>
                <a:ea typeface="Arial" pitchFamily="34" charset="-122"/>
                <a:cs typeface="Arial" pitchFamily="34" charset="-120"/>
              </a:rPr>
              <a:t>MUHAMMAD AL-XORAZMIY NOMIDAGI TOSHKENT AXBOROT TEXNOLOGIYALARI UNIVERSITETI</a:t>
            </a:r>
            <a:endParaRPr lang="en-US" sz="1300" dirty="0"/>
          </a:p>
          <a:p>
            <a:pPr algn="ctr" indent="0" marL="0">
              <a:lnSpc>
                <a:spcPct val="115000"/>
              </a:lnSpc>
              <a:buNone/>
            </a:pPr>
            <a:r>
              <a:rPr lang="en-US" sz="1300" dirty="0">
                <a:solidFill>
                  <a:srgbClr val="C7D2FE"/>
                </a:solidFill>
                <a:latin typeface="Arial" pitchFamily="34" charset="0"/>
                <a:ea typeface="Arial" pitchFamily="34" charset="-122"/>
                <a:cs typeface="Arial" pitchFamily="34" charset="-120"/>
              </a:rPr>
              <a:t>“Tizimli va amaliy dasturlash” kafedrasi</a:t>
            </a:r>
            <a:endParaRPr lang="en-US" sz="1300" dirty="0"/>
          </a:p>
        </p:txBody>
      </p:sp>
      <p:sp>
        <p:nvSpPr>
          <p:cNvPr id="3" name="Text 1"/>
          <p:cNvSpPr txBox="1"/>
          <p:nvPr/>
        </p:nvSpPr>
        <p:spPr>
          <a:xfrm>
            <a:off x="548640" y="1783080"/>
            <a:ext cx="6035040" cy="365760"/>
          </a:xfrm>
          <a:prstGeom prst="rect">
            <a:avLst/>
          </a:prstGeom>
          <a:noFill/>
          <a:ln/>
        </p:spPr>
        <p:txBody>
          <a:bodyPr wrap="square" lIns="0" tIns="0" rIns="0" bIns="0" rtlCol="0" anchor="ctr"/>
          <a:lstStyle/>
          <a:p>
            <a:pPr indent="0" marL="0">
              <a:buNone/>
            </a:pPr>
            <a:r>
              <a:rPr lang="en-US" sz="1600" b="1" spc="300" kern="0" dirty="0">
                <a:solidFill>
                  <a:srgbClr val="A5B4FC"/>
                </a:solidFill>
                <a:latin typeface="Arial" pitchFamily="34" charset="0"/>
                <a:ea typeface="Arial" pitchFamily="34" charset="-122"/>
                <a:cs typeface="Arial" pitchFamily="34" charset="-120"/>
              </a:rPr>
              <a:t>BITIRUV MALAKAVIY ISHI</a:t>
            </a:r>
            <a:endParaRPr lang="en-US" sz="1600" dirty="0"/>
          </a:p>
        </p:txBody>
      </p:sp>
      <p:sp>
        <p:nvSpPr>
          <p:cNvPr id="4" name="Text 2"/>
          <p:cNvSpPr txBox="1"/>
          <p:nvPr/>
        </p:nvSpPr>
        <p:spPr>
          <a:xfrm>
            <a:off x="548640" y="2194560"/>
            <a:ext cx="6035040" cy="155448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“Milliy chat” dasturini ishlab chiqish</a:t>
            </a:r>
            <a:endParaRPr lang="en-US" sz="4000" dirty="0"/>
          </a:p>
        </p:txBody>
      </p:sp>
      <p:sp>
        <p:nvSpPr>
          <p:cNvPr id="5" name="Text 3"/>
          <p:cNvSpPr txBox="1"/>
          <p:nvPr/>
        </p:nvSpPr>
        <p:spPr>
          <a:xfrm>
            <a:off x="548640" y="3794760"/>
            <a:ext cx="6035040" cy="411480"/>
          </a:xfrm>
          <a:prstGeom prst="rect">
            <a:avLst/>
          </a:prstGeom>
          <a:noFill/>
          <a:ln/>
        </p:spPr>
        <p:txBody>
          <a:bodyPr wrap="square" lIns="0" tIns="0" rIns="0" bIns="0" rtlCol="0" anchor="ctr"/>
          <a:lstStyle/>
          <a:p>
            <a:pPr indent="0" marL="0">
              <a:buNone/>
            </a:pPr>
            <a:r>
              <a:rPr lang="en-US" sz="2000" dirty="0">
                <a:solidFill>
                  <a:srgbClr val="C7D2FE"/>
                </a:solidFill>
                <a:latin typeface="Arial" pitchFamily="34" charset="0"/>
                <a:ea typeface="Arial" pitchFamily="34" charset="-122"/>
                <a:cs typeface="Arial" pitchFamily="34" charset="-120"/>
              </a:rPr>
              <a:t>Telegramga o‘xshash milliy veb-messenjer</a:t>
            </a:r>
            <a:endParaRPr lang="en-US" sz="2000" dirty="0"/>
          </a:p>
        </p:txBody>
      </p:sp>
      <p:sp>
        <p:nvSpPr>
          <p:cNvPr id="6" name="Text 4"/>
          <p:cNvSpPr txBox="1"/>
          <p:nvPr/>
        </p:nvSpPr>
        <p:spPr>
          <a:xfrm>
            <a:off x="548640" y="4617720"/>
            <a:ext cx="6035040" cy="822960"/>
          </a:xfrm>
          <a:prstGeom prst="rect">
            <a:avLst/>
          </a:prstGeom>
          <a:noFill/>
          <a:ln/>
        </p:spPr>
        <p:txBody>
          <a:bodyPr wrap="square" lIns="0" tIns="0" rIns="0" bIns="0" rtlCol="0" anchor="ctr"/>
          <a:lstStyle/>
          <a:p>
            <a:pPr indent="0" marL="0">
              <a:lnSpc>
                <a:spcPct val="140000"/>
              </a:lnSpc>
              <a:buNone/>
            </a:pPr>
            <a:r>
              <a:rPr lang="en-US" sz="1600" dirty="0">
                <a:solidFill>
                  <a:srgbClr val="A5B4FC"/>
                </a:solidFill>
                <a:latin typeface="Arial" pitchFamily="34" charset="0"/>
                <a:ea typeface="Arial" pitchFamily="34" charset="-122"/>
                <a:cs typeface="Arial" pitchFamily="34" charset="-120"/>
              </a:rPr>
              <a:t>Bajardi:  </a:t>
            </a:r>
            <a:pPr indent="0" marL="0">
              <a:lnSpc>
                <a:spcPct val="140000"/>
              </a:lnSpc>
              <a:buNone/>
            </a:pPr>
            <a:r>
              <a:rPr lang="en-US" sz="1600" b="1" dirty="0">
                <a:solidFill>
                  <a:srgbClr val="FFFFFF"/>
                </a:solidFill>
                <a:latin typeface="Arial" pitchFamily="34" charset="0"/>
                <a:ea typeface="Arial" pitchFamily="34" charset="-122"/>
                <a:cs typeface="Arial" pitchFamily="34" charset="-120"/>
              </a:rPr>
              <a:t>S.O. Sohinazarov</a:t>
            </a:r>
            <a:endParaRPr lang="en-US" sz="1600" dirty="0"/>
          </a:p>
          <a:p>
            <a:pPr indent="0" marL="0">
              <a:lnSpc>
                <a:spcPct val="140000"/>
              </a:lnSpc>
              <a:buNone/>
            </a:pPr>
            <a:r>
              <a:rPr lang="en-US" sz="1600" dirty="0">
                <a:solidFill>
                  <a:srgbClr val="A5B4FC"/>
                </a:solidFill>
                <a:latin typeface="Arial" pitchFamily="34" charset="0"/>
                <a:ea typeface="Arial" pitchFamily="34" charset="-122"/>
                <a:cs typeface="Arial" pitchFamily="34" charset="-120"/>
              </a:rPr>
              <a:t>Ilmiy rahbar:  </a:t>
            </a:r>
            <a:pPr indent="0" marL="0">
              <a:lnSpc>
                <a:spcPct val="140000"/>
              </a:lnSpc>
              <a:buNone/>
            </a:pPr>
            <a:r>
              <a:rPr lang="en-US" sz="1600" b="1" dirty="0">
                <a:solidFill>
                  <a:srgbClr val="FFFFFF"/>
                </a:solidFill>
                <a:latin typeface="Arial" pitchFamily="34" charset="0"/>
                <a:ea typeface="Arial" pitchFamily="34" charset="-122"/>
                <a:cs typeface="Arial" pitchFamily="34" charset="-120"/>
              </a:rPr>
              <a:t>________________</a:t>
            </a:r>
            <a:endParaRPr lang="en-US" sz="1600" dirty="0"/>
          </a:p>
        </p:txBody>
      </p:sp>
      <p:pic>
        <p:nvPicPr>
          <p:cNvPr id="7" name="Image 0" descr="C:\Users\Sardor\Desktop\diplom ish\diplom\generator\rasmlar\3-05-private-chat.jpg">    </p:cNvPr>
          <p:cNvPicPr>
            <a:picLocks noChangeAspect="1"/>
          </p:cNvPicPr>
          <p:nvPr/>
        </p:nvPicPr>
        <p:blipFill>
          <a:blip r:embed="rId1"/>
          <a:stretch>
            <a:fillRect/>
          </a:stretch>
        </p:blipFill>
        <p:spPr>
          <a:xfrm>
            <a:off x="6796735" y="1783080"/>
            <a:ext cx="4846320" cy="3028950"/>
          </a:xfrm>
          <a:prstGeom prst="rect">
            <a:avLst/>
          </a:prstGeom>
          <a:effectLst>
            <a:outerShdw sx="100000" sy="100000" kx="0" ky="0" algn="bl" rotWithShape="0" blurRad="177800" dist="50800" dir="5400000">
              <a:srgbClr val="000000">
                <a:alpha val="35000"/>
              </a:srgbClr>
            </a:outerShdw>
          </a:effectLst>
        </p:spPr>
      </p:pic>
      <p:sp>
        <p:nvSpPr>
          <p:cNvPr id="8" name="Text 5"/>
          <p:cNvSpPr txBox="1"/>
          <p:nvPr/>
        </p:nvSpPr>
        <p:spPr>
          <a:xfrm>
            <a:off x="548640" y="6172200"/>
            <a:ext cx="11094415" cy="365760"/>
          </a:xfrm>
          <a:prstGeom prst="rect">
            <a:avLst/>
          </a:prstGeom>
          <a:noFill/>
          <a:ln/>
        </p:spPr>
        <p:txBody>
          <a:bodyPr wrap="square" lIns="0" tIns="0" rIns="0" bIns="0" rtlCol="0" anchor="ctr"/>
          <a:lstStyle/>
          <a:p>
            <a:pPr algn="ctr" indent="0" marL="0">
              <a:buNone/>
            </a:pPr>
            <a:r>
              <a:rPr lang="en-US" sz="1400" b="1" dirty="0">
                <a:solidFill>
                  <a:srgbClr val="C7D2FE"/>
                </a:solidFill>
                <a:latin typeface="Arial" pitchFamily="34" charset="0"/>
                <a:ea typeface="Arial" pitchFamily="34" charset="-122"/>
                <a:cs typeface="Arial" pitchFamily="34" charset="-120"/>
              </a:rPr>
              <a:t>Toshkent –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Mavzuning dolzarbligi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2 / 20</a:t>
            </a:r>
            <a:endParaRPr lang="en-US" sz="1000" dirty="0"/>
          </a:p>
        </p:txBody>
      </p:sp>
      <p:sp>
        <p:nvSpPr>
          <p:cNvPr id="5" name="Shape 3"/>
          <p:cNvSpPr/>
          <p:nvPr/>
        </p:nvSpPr>
        <p:spPr>
          <a:xfrm>
            <a:off x="548640" y="1508760"/>
            <a:ext cx="640080" cy="640080"/>
          </a:xfrm>
          <a:prstGeom prst="ellipse">
            <a:avLst/>
          </a:prstGeom>
          <a:solidFill>
            <a:srgbClr val="4F46E5"/>
          </a:solidFill>
          <a:ln/>
        </p:spPr>
      </p:sp>
      <p:pic>
        <p:nvPicPr>
          <p:cNvPr id="6" name="Image 0" descr="C:\Users\Sardor\Desktop\diplom ish\diplom\generator\slides-cache\icons\landmark-FFFFFF.png">    </p:cNvPr>
          <p:cNvPicPr>
            <a:picLocks noChangeAspect="1"/>
          </p:cNvPicPr>
          <p:nvPr/>
        </p:nvPicPr>
        <p:blipFill>
          <a:blip r:embed="rId1"/>
          <a:stretch>
            <a:fillRect/>
          </a:stretch>
        </p:blipFill>
        <p:spPr>
          <a:xfrm>
            <a:off x="708660" y="1668780"/>
            <a:ext cx="320040" cy="320040"/>
          </a:xfrm>
          <a:prstGeom prst="rect">
            <a:avLst/>
          </a:prstGeom>
        </p:spPr>
      </p:pic>
      <p:sp>
        <p:nvSpPr>
          <p:cNvPr id="7" name="Text 4"/>
          <p:cNvSpPr txBox="1"/>
          <p:nvPr/>
        </p:nvSpPr>
        <p:spPr>
          <a:xfrm>
            <a:off x="1417320" y="1490472"/>
            <a:ext cx="5532120" cy="329184"/>
          </a:xfrm>
          <a:prstGeom prst="rect">
            <a:avLst/>
          </a:prstGeom>
          <a:noFill/>
          <a:ln/>
        </p:spPr>
        <p:txBody>
          <a:bodyPr wrap="square" lIns="0" tIns="0" rIns="0" bIns="0" rtlCol="0" anchor="ctr"/>
          <a:lstStyle/>
          <a:p>
            <a:pPr indent="0" marL="0">
              <a:buNone/>
            </a:pPr>
            <a:r>
              <a:rPr lang="en-US" sz="1700" b="1" dirty="0">
                <a:solidFill>
                  <a:srgbClr val="1E1B4B"/>
                </a:solidFill>
                <a:latin typeface="Arial" pitchFamily="34" charset="0"/>
                <a:ea typeface="Arial" pitchFamily="34" charset="-122"/>
                <a:cs typeface="Arial" pitchFamily="34" charset="-120"/>
              </a:rPr>
              <a:t>“Raqamli O‘zbekiston – 2030” strategiyasi</a:t>
            </a:r>
            <a:endParaRPr lang="en-US" sz="1700" dirty="0"/>
          </a:p>
        </p:txBody>
      </p:sp>
      <p:sp>
        <p:nvSpPr>
          <p:cNvPr id="8" name="Text 5"/>
          <p:cNvSpPr txBox="1"/>
          <p:nvPr/>
        </p:nvSpPr>
        <p:spPr>
          <a:xfrm>
            <a:off x="1417320" y="1837944"/>
            <a:ext cx="5532120" cy="566928"/>
          </a:xfrm>
          <a:prstGeom prst="rect">
            <a:avLst/>
          </a:prstGeom>
          <a:noFill/>
          <a:ln/>
        </p:spPr>
        <p:txBody>
          <a:bodyPr wrap="square" lIns="0" tIns="0" rIns="0" bIns="0" rtlCol="0" anchor="t"/>
          <a:lstStyle/>
          <a:p>
            <a:pPr indent="0" marL="0">
              <a:buNone/>
            </a:pPr>
            <a:r>
              <a:rPr lang="en-US" sz="1400" dirty="0">
                <a:solidFill>
                  <a:srgbClr val="6B7280"/>
                </a:solidFill>
                <a:latin typeface="Arial" pitchFamily="34" charset="0"/>
                <a:ea typeface="Arial" pitchFamily="34" charset="-122"/>
                <a:cs typeface="Arial" pitchFamily="34" charset="-120"/>
              </a:rPr>
              <a:t>PF-6079-son Farmon: mahalliy dasturiy mahsulotlar va axborot xavfsizligi ustuvor vazifa</a:t>
            </a:r>
            <a:endParaRPr lang="en-US" sz="1400" dirty="0"/>
          </a:p>
        </p:txBody>
      </p:sp>
      <p:sp>
        <p:nvSpPr>
          <p:cNvPr id="9" name="Shape 6"/>
          <p:cNvSpPr/>
          <p:nvPr/>
        </p:nvSpPr>
        <p:spPr>
          <a:xfrm>
            <a:off x="548640" y="2971800"/>
            <a:ext cx="640080" cy="640080"/>
          </a:xfrm>
          <a:prstGeom prst="ellipse">
            <a:avLst/>
          </a:prstGeom>
          <a:solidFill>
            <a:srgbClr val="4F46E5"/>
          </a:solidFill>
          <a:ln/>
        </p:spPr>
      </p:sp>
      <p:pic>
        <p:nvPicPr>
          <p:cNvPr id="10" name="Image 1" descr="C:\Users\Sardor\Desktop\diplom ish\diplom\generator\slides-cache\icons\database-FFFFFF.png">    </p:cNvPr>
          <p:cNvPicPr>
            <a:picLocks noChangeAspect="1"/>
          </p:cNvPicPr>
          <p:nvPr/>
        </p:nvPicPr>
        <p:blipFill>
          <a:blip r:embed="rId2"/>
          <a:stretch>
            <a:fillRect/>
          </a:stretch>
        </p:blipFill>
        <p:spPr>
          <a:xfrm>
            <a:off x="708660" y="3131820"/>
            <a:ext cx="320040" cy="320040"/>
          </a:xfrm>
          <a:prstGeom prst="rect">
            <a:avLst/>
          </a:prstGeom>
        </p:spPr>
      </p:pic>
      <p:sp>
        <p:nvSpPr>
          <p:cNvPr id="11" name="Text 7"/>
          <p:cNvSpPr txBox="1"/>
          <p:nvPr/>
        </p:nvSpPr>
        <p:spPr>
          <a:xfrm>
            <a:off x="1417320" y="2953512"/>
            <a:ext cx="5532120" cy="329184"/>
          </a:xfrm>
          <a:prstGeom prst="rect">
            <a:avLst/>
          </a:prstGeom>
          <a:noFill/>
          <a:ln/>
        </p:spPr>
        <p:txBody>
          <a:bodyPr wrap="square" lIns="0" tIns="0" rIns="0" bIns="0" rtlCol="0" anchor="ctr"/>
          <a:lstStyle/>
          <a:p>
            <a:pPr indent="0" marL="0">
              <a:buNone/>
            </a:pPr>
            <a:r>
              <a:rPr lang="en-US" sz="1700" b="1" dirty="0">
                <a:solidFill>
                  <a:srgbClr val="1E1B4B"/>
                </a:solidFill>
                <a:latin typeface="Arial" pitchFamily="34" charset="0"/>
                <a:ea typeface="Arial" pitchFamily="34" charset="-122"/>
                <a:cs typeface="Arial" pitchFamily="34" charset="-120"/>
              </a:rPr>
              <a:t>Ma’lumotlarni lokalizatsiya qilish talabi</a:t>
            </a:r>
            <a:endParaRPr lang="en-US" sz="1700" dirty="0"/>
          </a:p>
        </p:txBody>
      </p:sp>
      <p:sp>
        <p:nvSpPr>
          <p:cNvPr id="12" name="Text 8"/>
          <p:cNvSpPr txBox="1"/>
          <p:nvPr/>
        </p:nvSpPr>
        <p:spPr>
          <a:xfrm>
            <a:off x="1417320" y="3300984"/>
            <a:ext cx="5532120" cy="566928"/>
          </a:xfrm>
          <a:prstGeom prst="rect">
            <a:avLst/>
          </a:prstGeom>
          <a:noFill/>
          <a:ln/>
        </p:spPr>
        <p:txBody>
          <a:bodyPr wrap="square" lIns="0" tIns="0" rIns="0" bIns="0" rtlCol="0" anchor="t"/>
          <a:lstStyle/>
          <a:p>
            <a:pPr indent="0" marL="0">
              <a:buNone/>
            </a:pPr>
            <a:r>
              <a:rPr lang="en-US" sz="1400" dirty="0">
                <a:solidFill>
                  <a:srgbClr val="6B7280"/>
                </a:solidFill>
                <a:latin typeface="Arial" pitchFamily="34" charset="0"/>
                <a:ea typeface="Arial" pitchFamily="34" charset="-122"/>
                <a:cs typeface="Arial" pitchFamily="34" charset="-120"/>
              </a:rPr>
              <a:t>“Shaxsga doir ma’lumotlar to‘g‘risida”gi Qonun: fuqarolar ma’lumotlari respublika hududida saqlanishi kerak</a:t>
            </a:r>
            <a:endParaRPr lang="en-US" sz="1400" dirty="0"/>
          </a:p>
        </p:txBody>
      </p:sp>
      <p:sp>
        <p:nvSpPr>
          <p:cNvPr id="13" name="Shape 9"/>
          <p:cNvSpPr/>
          <p:nvPr/>
        </p:nvSpPr>
        <p:spPr>
          <a:xfrm>
            <a:off x="548640" y="4434840"/>
            <a:ext cx="640080" cy="640080"/>
          </a:xfrm>
          <a:prstGeom prst="ellipse">
            <a:avLst/>
          </a:prstGeom>
          <a:solidFill>
            <a:srgbClr val="4F46E5"/>
          </a:solidFill>
          <a:ln/>
        </p:spPr>
      </p:sp>
      <p:pic>
        <p:nvPicPr>
          <p:cNvPr id="14" name="Image 2" descr="C:\Users\Sardor\Desktop\diplom ish\diplom\generator\slides-cache\icons\globe-FFFFFF.png">    </p:cNvPr>
          <p:cNvPicPr>
            <a:picLocks noChangeAspect="1"/>
          </p:cNvPicPr>
          <p:nvPr/>
        </p:nvPicPr>
        <p:blipFill>
          <a:blip r:embed="rId3"/>
          <a:stretch>
            <a:fillRect/>
          </a:stretch>
        </p:blipFill>
        <p:spPr>
          <a:xfrm>
            <a:off x="708660" y="4594860"/>
            <a:ext cx="320040" cy="320040"/>
          </a:xfrm>
          <a:prstGeom prst="rect">
            <a:avLst/>
          </a:prstGeom>
        </p:spPr>
      </p:pic>
      <p:sp>
        <p:nvSpPr>
          <p:cNvPr id="15" name="Text 10"/>
          <p:cNvSpPr txBox="1"/>
          <p:nvPr/>
        </p:nvSpPr>
        <p:spPr>
          <a:xfrm>
            <a:off x="1417320" y="4416552"/>
            <a:ext cx="5532120" cy="329184"/>
          </a:xfrm>
          <a:prstGeom prst="rect">
            <a:avLst/>
          </a:prstGeom>
          <a:noFill/>
          <a:ln/>
        </p:spPr>
        <p:txBody>
          <a:bodyPr wrap="square" lIns="0" tIns="0" rIns="0" bIns="0" rtlCol="0" anchor="ctr"/>
          <a:lstStyle/>
          <a:p>
            <a:pPr indent="0" marL="0">
              <a:buNone/>
            </a:pPr>
            <a:r>
              <a:rPr lang="en-US" sz="1700" b="1" dirty="0">
                <a:solidFill>
                  <a:srgbClr val="1E1B4B"/>
                </a:solidFill>
                <a:latin typeface="Arial" pitchFamily="34" charset="0"/>
                <a:ea typeface="Arial" pitchFamily="34" charset="-122"/>
                <a:cs typeface="Arial" pitchFamily="34" charset="-120"/>
              </a:rPr>
              <a:t>Xorijiy messenjerlarga bog‘liqlik</a:t>
            </a:r>
            <a:endParaRPr lang="en-US" sz="1700" dirty="0"/>
          </a:p>
        </p:txBody>
      </p:sp>
      <p:sp>
        <p:nvSpPr>
          <p:cNvPr id="16" name="Text 11"/>
          <p:cNvSpPr txBox="1"/>
          <p:nvPr/>
        </p:nvSpPr>
        <p:spPr>
          <a:xfrm>
            <a:off x="1417320" y="4764024"/>
            <a:ext cx="5532120" cy="566928"/>
          </a:xfrm>
          <a:prstGeom prst="rect">
            <a:avLst/>
          </a:prstGeom>
          <a:noFill/>
          <a:ln/>
        </p:spPr>
        <p:txBody>
          <a:bodyPr wrap="square" lIns="0" tIns="0" rIns="0" bIns="0" rtlCol="0" anchor="t"/>
          <a:lstStyle/>
          <a:p>
            <a:pPr indent="0" marL="0">
              <a:buNone/>
            </a:pPr>
            <a:r>
              <a:rPr lang="en-US" sz="1400" dirty="0">
                <a:solidFill>
                  <a:srgbClr val="6B7280"/>
                </a:solidFill>
                <a:latin typeface="Arial" pitchFamily="34" charset="0"/>
                <a:ea typeface="Arial" pitchFamily="34" charset="-122"/>
                <a:cs typeface="Arial" pitchFamily="34" charset="-120"/>
              </a:rPr>
              <a:t>Telegram, WhatsApp, Signal, WeChat — barchasi xorijiy yurisdiksiyada, ma’lumotlar mamlakatdan tashqarida</a:t>
            </a:r>
            <a:endParaRPr lang="en-US" sz="1400" dirty="0"/>
          </a:p>
        </p:txBody>
      </p:sp>
      <p:sp>
        <p:nvSpPr>
          <p:cNvPr id="17" name="Shape 12"/>
          <p:cNvSpPr/>
          <p:nvPr/>
        </p:nvSpPr>
        <p:spPr>
          <a:xfrm>
            <a:off x="7498080" y="1417320"/>
            <a:ext cx="4144975" cy="4526280"/>
          </a:xfrm>
          <a:prstGeom prst="roundRect">
            <a:avLst>
              <a:gd name="adj" fmla="val 2647"/>
            </a:avLst>
          </a:prstGeom>
          <a:solidFill>
            <a:srgbClr val="EEF2FF"/>
          </a:solidFill>
          <a:ln/>
        </p:spPr>
      </p:sp>
      <p:sp>
        <p:nvSpPr>
          <p:cNvPr id="18" name="Text 13"/>
          <p:cNvSpPr txBox="1"/>
          <p:nvPr/>
        </p:nvSpPr>
        <p:spPr>
          <a:xfrm>
            <a:off x="7818120" y="1691640"/>
            <a:ext cx="3657600" cy="411480"/>
          </a:xfrm>
          <a:prstGeom prst="rect">
            <a:avLst/>
          </a:prstGeom>
          <a:noFill/>
          <a:ln/>
        </p:spPr>
        <p:txBody>
          <a:bodyPr wrap="square" lIns="0" tIns="0" rIns="0" bIns="0" rtlCol="0" anchor="ctr"/>
          <a:lstStyle/>
          <a:p>
            <a:pPr indent="0" marL="0">
              <a:buNone/>
            </a:pPr>
            <a:r>
              <a:rPr lang="en-US" sz="2000" b="1" dirty="0">
                <a:solidFill>
                  <a:srgbClr val="1E1B4B"/>
                </a:solidFill>
                <a:latin typeface="Arial" pitchFamily="34" charset="0"/>
                <a:ea typeface="Arial" pitchFamily="34" charset="-122"/>
                <a:cs typeface="Arial" pitchFamily="34" charset="-120"/>
              </a:rPr>
              <a:t>Yechim — “Milliy chat”</a:t>
            </a:r>
            <a:endParaRPr lang="en-US" sz="2000" dirty="0"/>
          </a:p>
        </p:txBody>
      </p:sp>
      <p:pic>
        <p:nvPicPr>
          <p:cNvPr id="19" name="Image 3" descr="C:\Users\Sardor\Desktop\diplom ish\diplom\generator\slides-cache\icons\check-059669.png">    </p:cNvPr>
          <p:cNvPicPr>
            <a:picLocks noChangeAspect="1"/>
          </p:cNvPicPr>
          <p:nvPr/>
        </p:nvPicPr>
        <p:blipFill>
          <a:blip r:embed="rId4"/>
          <a:stretch>
            <a:fillRect/>
          </a:stretch>
        </p:blipFill>
        <p:spPr>
          <a:xfrm>
            <a:off x="7818120" y="2487168"/>
            <a:ext cx="310896" cy="310896"/>
          </a:xfrm>
          <a:prstGeom prst="rect">
            <a:avLst/>
          </a:prstGeom>
        </p:spPr>
      </p:pic>
      <p:sp>
        <p:nvSpPr>
          <p:cNvPr id="20" name="Text 14"/>
          <p:cNvSpPr txBox="1"/>
          <p:nvPr/>
        </p:nvSpPr>
        <p:spPr>
          <a:xfrm>
            <a:off x="8275320" y="2423160"/>
            <a:ext cx="3200400" cy="64008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Ma’lumotlar O‘zbekistondagi serverda saqlanadi</a:t>
            </a:r>
            <a:endParaRPr lang="en-US" sz="1500" dirty="0"/>
          </a:p>
        </p:txBody>
      </p:sp>
      <p:pic>
        <p:nvPicPr>
          <p:cNvPr id="21" name="Image 4" descr="C:\Users\Sardor\Desktop\diplom ish\diplom\generator\slides-cache\icons\check-059669.png">    </p:cNvPr>
          <p:cNvPicPr>
            <a:picLocks noChangeAspect="1"/>
          </p:cNvPicPr>
          <p:nvPr/>
        </p:nvPicPr>
        <p:blipFill>
          <a:blip r:embed="rId5"/>
          <a:stretch>
            <a:fillRect/>
          </a:stretch>
        </p:blipFill>
        <p:spPr>
          <a:xfrm>
            <a:off x="7818120" y="3310128"/>
            <a:ext cx="310896" cy="310896"/>
          </a:xfrm>
          <a:prstGeom prst="rect">
            <a:avLst/>
          </a:prstGeom>
        </p:spPr>
      </p:pic>
      <p:sp>
        <p:nvSpPr>
          <p:cNvPr id="22" name="Text 15"/>
          <p:cNvSpPr txBox="1"/>
          <p:nvPr/>
        </p:nvSpPr>
        <p:spPr>
          <a:xfrm>
            <a:off x="8275320" y="3246120"/>
            <a:ext cx="3200400" cy="64008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O‘zbek tilidagi tanish interfeys</a:t>
            </a:r>
            <a:endParaRPr lang="en-US" sz="1500" dirty="0"/>
          </a:p>
        </p:txBody>
      </p:sp>
      <p:pic>
        <p:nvPicPr>
          <p:cNvPr id="23" name="Image 5" descr="C:\Users\Sardor\Desktop\diplom ish\diplom\generator\slides-cache\icons\check-059669.png">    </p:cNvPr>
          <p:cNvPicPr>
            <a:picLocks noChangeAspect="1"/>
          </p:cNvPicPr>
          <p:nvPr/>
        </p:nvPicPr>
        <p:blipFill>
          <a:blip r:embed="rId6"/>
          <a:stretch>
            <a:fillRect/>
          </a:stretch>
        </p:blipFill>
        <p:spPr>
          <a:xfrm>
            <a:off x="7818120" y="4133088"/>
            <a:ext cx="310896" cy="310896"/>
          </a:xfrm>
          <a:prstGeom prst="rect">
            <a:avLst/>
          </a:prstGeom>
        </p:spPr>
      </p:pic>
      <p:sp>
        <p:nvSpPr>
          <p:cNvPr id="24" name="Text 16"/>
          <p:cNvSpPr txBox="1"/>
          <p:nvPr/>
        </p:nvSpPr>
        <p:spPr>
          <a:xfrm>
            <a:off x="8275320" y="4069080"/>
            <a:ext cx="3200400" cy="64008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Kod va arxitektura mahalliy nazoratda</a:t>
            </a:r>
            <a:endParaRPr lang="en-US" sz="1500" dirty="0"/>
          </a:p>
        </p:txBody>
      </p:sp>
      <p:pic>
        <p:nvPicPr>
          <p:cNvPr id="25" name="Image 6" descr="C:\Users\Sardor\Desktop\diplom ish\diplom\generator\slides-cache\icons\check-059669.png">    </p:cNvPr>
          <p:cNvPicPr>
            <a:picLocks noChangeAspect="1"/>
          </p:cNvPicPr>
          <p:nvPr/>
        </p:nvPicPr>
        <p:blipFill>
          <a:blip r:embed="rId7"/>
          <a:stretch>
            <a:fillRect/>
          </a:stretch>
        </p:blipFill>
        <p:spPr>
          <a:xfrm>
            <a:off x="7818120" y="4956048"/>
            <a:ext cx="310896" cy="310896"/>
          </a:xfrm>
          <a:prstGeom prst="rect">
            <a:avLst/>
          </a:prstGeom>
        </p:spPr>
      </p:pic>
      <p:sp>
        <p:nvSpPr>
          <p:cNvPr id="26" name="Text 17"/>
          <p:cNvSpPr txBox="1"/>
          <p:nvPr/>
        </p:nvSpPr>
        <p:spPr>
          <a:xfrm>
            <a:off x="8275320" y="4892040"/>
            <a:ext cx="3200400" cy="64008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Tashkilotlar uchun ichki aloqa vositasi</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Ishning maqsadi va vazifalari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3 / 20</a:t>
            </a:r>
            <a:endParaRPr lang="en-US" sz="1000" dirty="0"/>
          </a:p>
        </p:txBody>
      </p:sp>
      <p:sp>
        <p:nvSpPr>
          <p:cNvPr id="5" name="Shape 3"/>
          <p:cNvSpPr/>
          <p:nvPr/>
        </p:nvSpPr>
        <p:spPr>
          <a:xfrm>
            <a:off x="548640" y="1325880"/>
            <a:ext cx="11094415" cy="1005840"/>
          </a:xfrm>
          <a:prstGeom prst="roundRect">
            <a:avLst>
              <a:gd name="adj" fmla="val 10909"/>
            </a:avLst>
          </a:prstGeom>
          <a:solidFill>
            <a:srgbClr val="1E1B4B"/>
          </a:solidFill>
          <a:ln/>
        </p:spPr>
      </p:sp>
      <p:sp>
        <p:nvSpPr>
          <p:cNvPr id="6" name="Shape 4"/>
          <p:cNvSpPr/>
          <p:nvPr/>
        </p:nvSpPr>
        <p:spPr>
          <a:xfrm>
            <a:off x="822960" y="1554480"/>
            <a:ext cx="548640" cy="548640"/>
          </a:xfrm>
          <a:prstGeom prst="ellipse">
            <a:avLst/>
          </a:prstGeom>
          <a:solidFill>
            <a:srgbClr val="4F46E5"/>
          </a:solidFill>
          <a:ln/>
        </p:spPr>
      </p:sp>
      <p:pic>
        <p:nvPicPr>
          <p:cNvPr id="7" name="Image 0" descr="C:\Users\Sardor\Desktop\diplom ish\diplom\generator\slides-cache\icons\target-FFFFFF.png">    </p:cNvPr>
          <p:cNvPicPr>
            <a:picLocks noChangeAspect="1"/>
          </p:cNvPicPr>
          <p:nvPr/>
        </p:nvPicPr>
        <p:blipFill>
          <a:blip r:embed="rId1"/>
          <a:stretch>
            <a:fillRect/>
          </a:stretch>
        </p:blipFill>
        <p:spPr>
          <a:xfrm>
            <a:off x="960120" y="1691640"/>
            <a:ext cx="274320" cy="274320"/>
          </a:xfrm>
          <a:prstGeom prst="rect">
            <a:avLst/>
          </a:prstGeom>
        </p:spPr>
      </p:pic>
      <p:sp>
        <p:nvSpPr>
          <p:cNvPr id="8" name="Text 5"/>
          <p:cNvSpPr txBox="1"/>
          <p:nvPr/>
        </p:nvSpPr>
        <p:spPr>
          <a:xfrm>
            <a:off x="1600200" y="1371600"/>
            <a:ext cx="9814255" cy="914400"/>
          </a:xfrm>
          <a:prstGeom prst="rect">
            <a:avLst/>
          </a:prstGeom>
          <a:noFill/>
          <a:ln/>
        </p:spPr>
        <p:txBody>
          <a:bodyPr wrap="square" lIns="0" tIns="0" rIns="0" bIns="0" rtlCol="0" anchor="ctr"/>
          <a:lstStyle/>
          <a:p>
            <a:pPr indent="0" marL="0">
              <a:buNone/>
            </a:pPr>
            <a:r>
              <a:rPr lang="en-US" sz="1600" dirty="0">
                <a:solidFill>
                  <a:srgbClr val="FFFFFF"/>
                </a:solidFill>
                <a:latin typeface="Arial" pitchFamily="34" charset="0"/>
                <a:ea typeface="Arial" pitchFamily="34" charset="-122"/>
                <a:cs typeface="Arial" pitchFamily="34" charset="-120"/>
              </a:rPr>
              <a:t>Maqsad: foydalanuvchi ma’lumotlarini o‘z serverida saqlaydigan, shaxsiy va guruh yozishmalarini real vaqtda ta’minlaydigan “Milliy chat” veb-messenjerini loyihalash va ishlab chiqish.</a:t>
            </a:r>
            <a:endParaRPr lang="en-US" sz="1600" dirty="0"/>
          </a:p>
        </p:txBody>
      </p:sp>
      <p:sp>
        <p:nvSpPr>
          <p:cNvPr id="9" name="Shape 6"/>
          <p:cNvSpPr/>
          <p:nvPr/>
        </p:nvSpPr>
        <p:spPr>
          <a:xfrm>
            <a:off x="548640" y="2606040"/>
            <a:ext cx="3515258" cy="1554480"/>
          </a:xfrm>
          <a:prstGeom prst="roundRect">
            <a:avLst>
              <a:gd name="adj" fmla="val 7059"/>
            </a:avLst>
          </a:prstGeom>
          <a:solidFill>
            <a:srgbClr val="EEF2FF"/>
          </a:solidFill>
          <a:ln/>
        </p:spPr>
      </p:sp>
      <p:sp>
        <p:nvSpPr>
          <p:cNvPr id="10" name="Text 7"/>
          <p:cNvSpPr txBox="1"/>
          <p:nvPr/>
        </p:nvSpPr>
        <p:spPr>
          <a:xfrm>
            <a:off x="822960" y="2788920"/>
            <a:ext cx="914400" cy="457200"/>
          </a:xfrm>
          <a:prstGeom prst="rect">
            <a:avLst/>
          </a:prstGeom>
          <a:noFill/>
          <a:ln/>
        </p:spPr>
        <p:txBody>
          <a:bodyPr wrap="square" lIns="0" tIns="0" rIns="0" bIns="0" rtlCol="0" anchor="ctr"/>
          <a:lstStyle/>
          <a:p>
            <a:pPr indent="0" marL="0">
              <a:buNone/>
            </a:pPr>
            <a:r>
              <a:rPr lang="en-US" sz="2600" b="1" dirty="0">
                <a:solidFill>
                  <a:srgbClr val="4F46E5"/>
                </a:solidFill>
                <a:latin typeface="Arial" pitchFamily="34" charset="0"/>
                <a:ea typeface="Arial" pitchFamily="34" charset="-122"/>
                <a:cs typeface="Arial" pitchFamily="34" charset="-120"/>
              </a:rPr>
              <a:t>01</a:t>
            </a:r>
            <a:endParaRPr lang="en-US" sz="2600" dirty="0"/>
          </a:p>
        </p:txBody>
      </p:sp>
      <p:sp>
        <p:nvSpPr>
          <p:cNvPr id="11" name="Text 8"/>
          <p:cNvSpPr txBox="1"/>
          <p:nvPr/>
        </p:nvSpPr>
        <p:spPr>
          <a:xfrm>
            <a:off x="822960" y="3291840"/>
            <a:ext cx="2966618" cy="73152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Mavjud messenjerlar va real vaqt texnologiyalarini tahlil qilish</a:t>
            </a:r>
            <a:endParaRPr lang="en-US" sz="1500" dirty="0"/>
          </a:p>
        </p:txBody>
      </p:sp>
      <p:sp>
        <p:nvSpPr>
          <p:cNvPr id="12" name="Shape 9"/>
          <p:cNvSpPr/>
          <p:nvPr/>
        </p:nvSpPr>
        <p:spPr>
          <a:xfrm>
            <a:off x="4338218" y="2606040"/>
            <a:ext cx="3515258" cy="1554480"/>
          </a:xfrm>
          <a:prstGeom prst="roundRect">
            <a:avLst>
              <a:gd name="adj" fmla="val 7059"/>
            </a:avLst>
          </a:prstGeom>
          <a:solidFill>
            <a:srgbClr val="EEF2FF"/>
          </a:solidFill>
          <a:ln/>
        </p:spPr>
      </p:sp>
      <p:sp>
        <p:nvSpPr>
          <p:cNvPr id="13" name="Text 10"/>
          <p:cNvSpPr txBox="1"/>
          <p:nvPr/>
        </p:nvSpPr>
        <p:spPr>
          <a:xfrm>
            <a:off x="4612538" y="2788920"/>
            <a:ext cx="914400" cy="457200"/>
          </a:xfrm>
          <a:prstGeom prst="rect">
            <a:avLst/>
          </a:prstGeom>
          <a:noFill/>
          <a:ln/>
        </p:spPr>
        <p:txBody>
          <a:bodyPr wrap="square" lIns="0" tIns="0" rIns="0" bIns="0" rtlCol="0" anchor="ctr"/>
          <a:lstStyle/>
          <a:p>
            <a:pPr indent="0" marL="0">
              <a:buNone/>
            </a:pPr>
            <a:r>
              <a:rPr lang="en-US" sz="2600" b="1" dirty="0">
                <a:solidFill>
                  <a:srgbClr val="4F46E5"/>
                </a:solidFill>
                <a:latin typeface="Arial" pitchFamily="34" charset="0"/>
                <a:ea typeface="Arial" pitchFamily="34" charset="-122"/>
                <a:cs typeface="Arial" pitchFamily="34" charset="-120"/>
              </a:rPr>
              <a:t>02</a:t>
            </a:r>
            <a:endParaRPr lang="en-US" sz="2600" dirty="0"/>
          </a:p>
        </p:txBody>
      </p:sp>
      <p:sp>
        <p:nvSpPr>
          <p:cNvPr id="14" name="Text 11"/>
          <p:cNvSpPr txBox="1"/>
          <p:nvPr/>
        </p:nvSpPr>
        <p:spPr>
          <a:xfrm>
            <a:off x="4612538" y="3291840"/>
            <a:ext cx="2966618" cy="73152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Tizimga funksional va nofunksional talablarni aniqlash</a:t>
            </a:r>
            <a:endParaRPr lang="en-US" sz="1500" dirty="0"/>
          </a:p>
        </p:txBody>
      </p:sp>
      <p:sp>
        <p:nvSpPr>
          <p:cNvPr id="15" name="Shape 12"/>
          <p:cNvSpPr/>
          <p:nvPr/>
        </p:nvSpPr>
        <p:spPr>
          <a:xfrm>
            <a:off x="8127797" y="2606040"/>
            <a:ext cx="3515258" cy="1554480"/>
          </a:xfrm>
          <a:prstGeom prst="roundRect">
            <a:avLst>
              <a:gd name="adj" fmla="val 7059"/>
            </a:avLst>
          </a:prstGeom>
          <a:solidFill>
            <a:srgbClr val="EEF2FF"/>
          </a:solidFill>
          <a:ln/>
        </p:spPr>
      </p:sp>
      <p:sp>
        <p:nvSpPr>
          <p:cNvPr id="16" name="Text 13"/>
          <p:cNvSpPr txBox="1"/>
          <p:nvPr/>
        </p:nvSpPr>
        <p:spPr>
          <a:xfrm>
            <a:off x="8402117" y="2788920"/>
            <a:ext cx="914400" cy="457200"/>
          </a:xfrm>
          <a:prstGeom prst="rect">
            <a:avLst/>
          </a:prstGeom>
          <a:noFill/>
          <a:ln/>
        </p:spPr>
        <p:txBody>
          <a:bodyPr wrap="square" lIns="0" tIns="0" rIns="0" bIns="0" rtlCol="0" anchor="ctr"/>
          <a:lstStyle/>
          <a:p>
            <a:pPr indent="0" marL="0">
              <a:buNone/>
            </a:pPr>
            <a:r>
              <a:rPr lang="en-US" sz="2600" b="1" dirty="0">
                <a:solidFill>
                  <a:srgbClr val="4F46E5"/>
                </a:solidFill>
                <a:latin typeface="Arial" pitchFamily="34" charset="0"/>
                <a:ea typeface="Arial" pitchFamily="34" charset="-122"/>
                <a:cs typeface="Arial" pitchFamily="34" charset="-120"/>
              </a:rPr>
              <a:t>03</a:t>
            </a:r>
            <a:endParaRPr lang="en-US" sz="2600" dirty="0"/>
          </a:p>
        </p:txBody>
      </p:sp>
      <p:sp>
        <p:nvSpPr>
          <p:cNvPr id="17" name="Text 14"/>
          <p:cNvSpPr txBox="1"/>
          <p:nvPr/>
        </p:nvSpPr>
        <p:spPr>
          <a:xfrm>
            <a:off x="8402117" y="3291840"/>
            <a:ext cx="2966618" cy="73152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Arxitektura, ma’lumotlar bazasi va UML modellarini loyihalash</a:t>
            </a:r>
            <a:endParaRPr lang="en-US" sz="1500" dirty="0"/>
          </a:p>
        </p:txBody>
      </p:sp>
      <p:sp>
        <p:nvSpPr>
          <p:cNvPr id="18" name="Shape 15"/>
          <p:cNvSpPr/>
          <p:nvPr/>
        </p:nvSpPr>
        <p:spPr>
          <a:xfrm>
            <a:off x="548640" y="4389120"/>
            <a:ext cx="3515258" cy="1554480"/>
          </a:xfrm>
          <a:prstGeom prst="roundRect">
            <a:avLst>
              <a:gd name="adj" fmla="val 7059"/>
            </a:avLst>
          </a:prstGeom>
          <a:solidFill>
            <a:srgbClr val="EEF2FF"/>
          </a:solidFill>
          <a:ln/>
        </p:spPr>
      </p:sp>
      <p:sp>
        <p:nvSpPr>
          <p:cNvPr id="19" name="Text 16"/>
          <p:cNvSpPr txBox="1"/>
          <p:nvPr/>
        </p:nvSpPr>
        <p:spPr>
          <a:xfrm>
            <a:off x="822960" y="4572000"/>
            <a:ext cx="914400" cy="457200"/>
          </a:xfrm>
          <a:prstGeom prst="rect">
            <a:avLst/>
          </a:prstGeom>
          <a:noFill/>
          <a:ln/>
        </p:spPr>
        <p:txBody>
          <a:bodyPr wrap="square" lIns="0" tIns="0" rIns="0" bIns="0" rtlCol="0" anchor="ctr"/>
          <a:lstStyle/>
          <a:p>
            <a:pPr indent="0" marL="0">
              <a:buNone/>
            </a:pPr>
            <a:r>
              <a:rPr lang="en-US" sz="2600" b="1" dirty="0">
                <a:solidFill>
                  <a:srgbClr val="4F46E5"/>
                </a:solidFill>
                <a:latin typeface="Arial" pitchFamily="34" charset="0"/>
                <a:ea typeface="Arial" pitchFamily="34" charset="-122"/>
                <a:cs typeface="Arial" pitchFamily="34" charset="-120"/>
              </a:rPr>
              <a:t>04</a:t>
            </a:r>
            <a:endParaRPr lang="en-US" sz="2600" dirty="0"/>
          </a:p>
        </p:txBody>
      </p:sp>
      <p:sp>
        <p:nvSpPr>
          <p:cNvPr id="20" name="Text 17"/>
          <p:cNvSpPr txBox="1"/>
          <p:nvPr/>
        </p:nvSpPr>
        <p:spPr>
          <a:xfrm>
            <a:off x="822960" y="5074920"/>
            <a:ext cx="2966618" cy="73152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Xavfsiz autentifikatsiya va sessiyalar tizimini yaratish</a:t>
            </a:r>
            <a:endParaRPr lang="en-US" sz="1500" dirty="0"/>
          </a:p>
        </p:txBody>
      </p:sp>
      <p:sp>
        <p:nvSpPr>
          <p:cNvPr id="21" name="Shape 18"/>
          <p:cNvSpPr/>
          <p:nvPr/>
        </p:nvSpPr>
        <p:spPr>
          <a:xfrm>
            <a:off x="4338218" y="4389120"/>
            <a:ext cx="3515258" cy="1554480"/>
          </a:xfrm>
          <a:prstGeom prst="roundRect">
            <a:avLst>
              <a:gd name="adj" fmla="val 7059"/>
            </a:avLst>
          </a:prstGeom>
          <a:solidFill>
            <a:srgbClr val="EEF2FF"/>
          </a:solidFill>
          <a:ln/>
        </p:spPr>
      </p:sp>
      <p:sp>
        <p:nvSpPr>
          <p:cNvPr id="22" name="Text 19"/>
          <p:cNvSpPr txBox="1"/>
          <p:nvPr/>
        </p:nvSpPr>
        <p:spPr>
          <a:xfrm>
            <a:off x="4612538" y="4572000"/>
            <a:ext cx="914400" cy="457200"/>
          </a:xfrm>
          <a:prstGeom prst="rect">
            <a:avLst/>
          </a:prstGeom>
          <a:noFill/>
          <a:ln/>
        </p:spPr>
        <p:txBody>
          <a:bodyPr wrap="square" lIns="0" tIns="0" rIns="0" bIns="0" rtlCol="0" anchor="ctr"/>
          <a:lstStyle/>
          <a:p>
            <a:pPr indent="0" marL="0">
              <a:buNone/>
            </a:pPr>
            <a:r>
              <a:rPr lang="en-US" sz="2600" b="1" dirty="0">
                <a:solidFill>
                  <a:srgbClr val="4F46E5"/>
                </a:solidFill>
                <a:latin typeface="Arial" pitchFamily="34" charset="0"/>
                <a:ea typeface="Arial" pitchFamily="34" charset="-122"/>
                <a:cs typeface="Arial" pitchFamily="34" charset="-120"/>
              </a:rPr>
              <a:t>05</a:t>
            </a:r>
            <a:endParaRPr lang="en-US" sz="2600" dirty="0"/>
          </a:p>
        </p:txBody>
      </p:sp>
      <p:sp>
        <p:nvSpPr>
          <p:cNvPr id="23" name="Text 20"/>
          <p:cNvSpPr txBox="1"/>
          <p:nvPr/>
        </p:nvSpPr>
        <p:spPr>
          <a:xfrm>
            <a:off x="4612538" y="5074920"/>
            <a:ext cx="2966618" cy="73152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Server (.NET 8) va klient (Angular) qismlarini ishlab chiqish</a:t>
            </a:r>
            <a:endParaRPr lang="en-US" sz="1500" dirty="0"/>
          </a:p>
        </p:txBody>
      </p:sp>
      <p:sp>
        <p:nvSpPr>
          <p:cNvPr id="24" name="Shape 21"/>
          <p:cNvSpPr/>
          <p:nvPr/>
        </p:nvSpPr>
        <p:spPr>
          <a:xfrm>
            <a:off x="8127797" y="4389120"/>
            <a:ext cx="3515258" cy="1554480"/>
          </a:xfrm>
          <a:prstGeom prst="roundRect">
            <a:avLst>
              <a:gd name="adj" fmla="val 7059"/>
            </a:avLst>
          </a:prstGeom>
          <a:solidFill>
            <a:srgbClr val="EEF2FF"/>
          </a:solidFill>
          <a:ln/>
        </p:spPr>
      </p:sp>
      <p:sp>
        <p:nvSpPr>
          <p:cNvPr id="25" name="Text 22"/>
          <p:cNvSpPr txBox="1"/>
          <p:nvPr/>
        </p:nvSpPr>
        <p:spPr>
          <a:xfrm>
            <a:off x="8402117" y="4572000"/>
            <a:ext cx="914400" cy="457200"/>
          </a:xfrm>
          <a:prstGeom prst="rect">
            <a:avLst/>
          </a:prstGeom>
          <a:noFill/>
          <a:ln/>
        </p:spPr>
        <p:txBody>
          <a:bodyPr wrap="square" lIns="0" tIns="0" rIns="0" bIns="0" rtlCol="0" anchor="ctr"/>
          <a:lstStyle/>
          <a:p>
            <a:pPr indent="0" marL="0">
              <a:buNone/>
            </a:pPr>
            <a:r>
              <a:rPr lang="en-US" sz="2600" b="1" dirty="0">
                <a:solidFill>
                  <a:srgbClr val="4F46E5"/>
                </a:solidFill>
                <a:latin typeface="Arial" pitchFamily="34" charset="0"/>
                <a:ea typeface="Arial" pitchFamily="34" charset="-122"/>
                <a:cs typeface="Arial" pitchFamily="34" charset="-120"/>
              </a:rPr>
              <a:t>06</a:t>
            </a:r>
            <a:endParaRPr lang="en-US" sz="2600" dirty="0"/>
          </a:p>
        </p:txBody>
      </p:sp>
      <p:sp>
        <p:nvSpPr>
          <p:cNvPr id="26" name="Text 23"/>
          <p:cNvSpPr txBox="1"/>
          <p:nvPr/>
        </p:nvSpPr>
        <p:spPr>
          <a:xfrm>
            <a:off x="8402117" y="5074920"/>
            <a:ext cx="2966618" cy="73152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Bulutga joylashtirish, sinash va HFX talablarini ishlab chiqish</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Mavjud messenjerlar tahlili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4 / 20</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011680"/>
                <a:gridCol w="1737360"/>
                <a:gridCol w="1737360"/>
                <a:gridCol w="1737360"/>
                <a:gridCol w="1737360"/>
                <a:gridCol w="2130552"/>
              </a:tblGrid>
              <a:tr h="512064">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Mezon</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Telegram</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WhatsApp</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Signal</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WeChat</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Milliy chat</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4F46E5"/>
                    </a:solidFill>
                  </a:tcPr>
                </a:tc>
              </a:tr>
              <a:tr h="512064">
                <a:tc>
                  <a:txBody>
                    <a:bodyPr/>
                    <a:lstStyle/>
                    <a:p>
                      <a:pPr algn="l" indent="0" marL="0">
                        <a:buNone/>
                      </a:pPr>
                      <a:r>
                        <a:rPr lang="en-US" sz="1300" b="1" dirty="0">
                          <a:solidFill>
                            <a:srgbClr val="1F2937"/>
                          </a:solidFill>
                          <a:latin typeface="Arial" pitchFamily="34" charset="0"/>
                          <a:ea typeface="Arial" pitchFamily="34" charset="-122"/>
                          <a:cs typeface="Arial" pitchFamily="34" charset="-120"/>
                        </a:rPr>
                        <a:t>Egasi (davlat)</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BAA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Meta (AQSh)</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AQSh</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Tencent (Xitoy)</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1B4B"/>
                          </a:solidFill>
                          <a:latin typeface="Arial" pitchFamily="34" charset="0"/>
                          <a:ea typeface="Arial" pitchFamily="34" charset="-122"/>
                          <a:cs typeface="Arial" pitchFamily="34" charset="-120"/>
                        </a:rPr>
                        <a:t>Mahalliy</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r>
              <a:tr h="512064">
                <a:tc>
                  <a:txBody>
                    <a:bodyPr/>
                    <a:lstStyle/>
                    <a:p>
                      <a:pPr algn="l" indent="0" marL="0">
                        <a:buNone/>
                      </a:pPr>
                      <a:r>
                        <a:rPr lang="en-US" sz="1300" b="1" dirty="0">
                          <a:solidFill>
                            <a:srgbClr val="1F2937"/>
                          </a:solidFill>
                          <a:latin typeface="Arial" pitchFamily="34" charset="0"/>
                          <a:ea typeface="Arial" pitchFamily="34" charset="-122"/>
                          <a:cs typeface="Arial" pitchFamily="34" charset="-120"/>
                        </a:rPr>
                        <a:t>Ro‘yxatdan o‘tish</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Telefon raqami</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Telefon raqami</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Telefon raqami</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Telefon raqami</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b="1" dirty="0">
                          <a:solidFill>
                            <a:srgbClr val="1E1B4B"/>
                          </a:solidFill>
                          <a:latin typeface="Arial" pitchFamily="34" charset="0"/>
                          <a:ea typeface="Arial" pitchFamily="34" charset="-122"/>
                          <a:cs typeface="Arial" pitchFamily="34" charset="-120"/>
                        </a:rPr>
                        <a:t>E-pochta kodi, Google</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r>
              <a:tr h="512064">
                <a:tc>
                  <a:txBody>
                    <a:bodyPr/>
                    <a:lstStyle/>
                    <a:p>
                      <a:pPr algn="l" indent="0" marL="0">
                        <a:buNone/>
                      </a:pPr>
                      <a:r>
                        <a:rPr lang="en-US" sz="1300" b="1" dirty="0">
                          <a:solidFill>
                            <a:srgbClr val="1F2937"/>
                          </a:solidFill>
                          <a:latin typeface="Arial" pitchFamily="34" charset="0"/>
                          <a:ea typeface="Arial" pitchFamily="34" charset="-122"/>
                          <a:cs typeface="Arial" pitchFamily="34" charset="-120"/>
                        </a:rPr>
                        <a:t>E2E shifrlash</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Faqat maxfiy chatlarda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Sukut bo‘yicha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Sukut bo‘yicha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Yo‘q</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1B4B"/>
                          </a:solidFill>
                          <a:latin typeface="Arial" pitchFamily="34" charset="0"/>
                          <a:ea typeface="Arial" pitchFamily="34" charset="-122"/>
                          <a:cs typeface="Arial" pitchFamily="34" charset="-120"/>
                        </a:rPr>
                        <a:t>Rejalashtirilgan (TLS bor)</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r>
              <a:tr h="512064">
                <a:tc>
                  <a:txBody>
                    <a:bodyPr/>
                    <a:lstStyle/>
                    <a:p>
                      <a:pPr algn="l" indent="0" marL="0">
                        <a:buNone/>
                      </a:pPr>
                      <a:r>
                        <a:rPr lang="en-US" sz="1300" b="1" dirty="0">
                          <a:solidFill>
                            <a:srgbClr val="1F2937"/>
                          </a:solidFill>
                          <a:latin typeface="Arial" pitchFamily="34" charset="0"/>
                          <a:ea typeface="Arial" pitchFamily="34" charset="-122"/>
                          <a:cs typeface="Arial" pitchFamily="34" charset="-120"/>
                        </a:rPr>
                        <a:t>Yozishmalar</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Bulutda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Qurilmada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Qurilmada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Serverda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b="1" dirty="0">
                          <a:solidFill>
                            <a:srgbClr val="1E1B4B"/>
                          </a:solidFill>
                          <a:latin typeface="Arial" pitchFamily="34" charset="0"/>
                          <a:ea typeface="Arial" pitchFamily="34" charset="-122"/>
                          <a:cs typeface="Arial" pitchFamily="34" charset="-120"/>
                        </a:rPr>
                        <a:t>O‘z serverida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r>
              <a:tr h="512064">
                <a:tc>
                  <a:txBody>
                    <a:bodyPr/>
                    <a:lstStyle/>
                    <a:p>
                      <a:pPr algn="l" indent="0" marL="0">
                        <a:buNone/>
                      </a:pPr>
                      <a:r>
                        <a:rPr lang="en-US" sz="1300" b="1" dirty="0">
                          <a:solidFill>
                            <a:srgbClr val="1F2937"/>
                          </a:solidFill>
                          <a:latin typeface="Arial" pitchFamily="34" charset="0"/>
                          <a:ea typeface="Arial" pitchFamily="34" charset="-122"/>
                          <a:cs typeface="Arial" pitchFamily="34" charset="-120"/>
                        </a:rPr>
                        <a:t>Server kodi</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Yopiq</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Yopiq</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Ochiq</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Yopiq</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1B4B"/>
                          </a:solidFill>
                          <a:latin typeface="Arial" pitchFamily="34" charset="0"/>
                          <a:ea typeface="Arial" pitchFamily="34" charset="-122"/>
                          <a:cs typeface="Arial" pitchFamily="34" charset="-120"/>
                        </a:rPr>
                        <a:t>Mahalliy nazoratda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r>
              <a:tr h="512064">
                <a:tc>
                  <a:txBody>
                    <a:bodyPr/>
                    <a:lstStyle/>
                    <a:p>
                      <a:pPr algn="l" indent="0" marL="0">
                        <a:buNone/>
                      </a:pPr>
                      <a:r>
                        <a:rPr lang="en-US" sz="1300" b="1" dirty="0">
                          <a:solidFill>
                            <a:srgbClr val="1F2937"/>
                          </a:solidFill>
                          <a:latin typeface="Arial" pitchFamily="34" charset="0"/>
                          <a:ea typeface="Arial" pitchFamily="34" charset="-122"/>
                          <a:cs typeface="Arial" pitchFamily="34" charset="-120"/>
                        </a:rPr>
                        <a:t>Ma’lumotlar joyi</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Xorijda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Xorijda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Xorijda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Xitoyda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b="1" dirty="0">
                          <a:solidFill>
                            <a:srgbClr val="1E1B4B"/>
                          </a:solidFill>
                          <a:latin typeface="Arial" pitchFamily="34" charset="0"/>
                          <a:ea typeface="Arial" pitchFamily="34" charset="-122"/>
                          <a:cs typeface="Arial" pitchFamily="34" charset="-120"/>
                        </a:rPr>
                        <a:t>O‘zbekistonda ham mumkin</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r>
            </a:tbl>
          </a:graphicData>
        </a:graphic>
      </p:graphicFrame>
      <p:sp>
        <p:nvSpPr>
          <p:cNvPr id="6" name="Shape 3"/>
          <p:cNvSpPr/>
          <p:nvPr/>
        </p:nvSpPr>
        <p:spPr>
          <a:xfrm>
            <a:off x="548640" y="5212080"/>
            <a:ext cx="11094415" cy="868680"/>
          </a:xfrm>
          <a:prstGeom prst="roundRect">
            <a:avLst>
              <a:gd name="adj" fmla="val 12632"/>
            </a:avLst>
          </a:prstGeom>
          <a:solidFill>
            <a:srgbClr val="EEF2FF"/>
          </a:solidFill>
          <a:ln/>
        </p:spPr>
      </p:sp>
      <p:sp>
        <p:nvSpPr>
          <p:cNvPr id="7" name="Shape 4"/>
          <p:cNvSpPr/>
          <p:nvPr/>
        </p:nvSpPr>
        <p:spPr>
          <a:xfrm>
            <a:off x="777240" y="5367528"/>
            <a:ext cx="548640" cy="548640"/>
          </a:xfrm>
          <a:prstGeom prst="ellipse">
            <a:avLst/>
          </a:prstGeom>
          <a:solidFill>
            <a:srgbClr val="4F46E5"/>
          </a:solidFill>
          <a:ln/>
        </p:spPr>
      </p:sp>
      <p:pic>
        <p:nvPicPr>
          <p:cNvPr id="8" name="Image 0" descr="C:\Users\Sardor\Desktop\diplom ish\diplom\generator\slides-cache\icons\globe-FFFFFF.png">    </p:cNvPr>
          <p:cNvPicPr>
            <a:picLocks noChangeAspect="1"/>
          </p:cNvPicPr>
          <p:nvPr/>
        </p:nvPicPr>
        <p:blipFill>
          <a:blip r:embed="rId1"/>
          <a:stretch>
            <a:fillRect/>
          </a:stretch>
        </p:blipFill>
        <p:spPr>
          <a:xfrm>
            <a:off x="914400" y="5504688"/>
            <a:ext cx="274320" cy="274320"/>
          </a:xfrm>
          <a:prstGeom prst="rect">
            <a:avLst/>
          </a:prstGeom>
        </p:spPr>
      </p:pic>
      <p:sp>
        <p:nvSpPr>
          <p:cNvPr id="9" name="Text 5"/>
          <p:cNvSpPr txBox="1"/>
          <p:nvPr/>
        </p:nvSpPr>
        <p:spPr>
          <a:xfrm>
            <a:off x="1554480" y="5230368"/>
            <a:ext cx="9859975" cy="822960"/>
          </a:xfrm>
          <a:prstGeom prst="rect">
            <a:avLst/>
          </a:prstGeom>
          <a:noFill/>
          <a:ln/>
        </p:spPr>
        <p:txBody>
          <a:bodyPr wrap="square" lIns="0" tIns="0" rIns="0" bIns="0" rtlCol="0" anchor="ctr"/>
          <a:lstStyle/>
          <a:p>
            <a:pPr indent="0" marL="0">
              <a:buNone/>
            </a:pPr>
            <a:r>
              <a:rPr lang="en-US" sz="1500" dirty="0">
                <a:solidFill>
                  <a:srgbClr val="1E1B4B"/>
                </a:solidFill>
                <a:latin typeface="Arial" pitchFamily="34" charset="0"/>
                <a:ea typeface="Arial" pitchFamily="34" charset="-122"/>
                <a:cs typeface="Arial" pitchFamily="34" charset="-120"/>
              </a:rPr>
              <a:t>Barcha mashhur messenjerlar ma’lumotlarni xorijda saqlaydi. Foydalanish qulayligi bo‘yicha namuna sifatida Telegram tanlandi.</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Real vaqtda aloqa texnologiyalari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5 / 20</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2011680"/>
                <a:gridCol w="1828800"/>
                <a:gridCol w="1280160"/>
                <a:gridCol w="1645920"/>
              </a:tblGrid>
              <a:tr h="731520">
                <a:tc>
                  <a:txBody>
                    <a:bodyPr/>
                    <a:lstStyle/>
                    <a:p>
                      <a:pPr algn="l" indent="0" marL="0">
                        <a:buNone/>
                      </a:pPr>
                      <a:r>
                        <a:rPr lang="en-US" sz="1400" b="1" dirty="0">
                          <a:solidFill>
                            <a:srgbClr val="FFFFFF"/>
                          </a:solidFill>
                          <a:latin typeface="Arial" pitchFamily="34" charset="0"/>
                          <a:ea typeface="Arial" pitchFamily="34" charset="-122"/>
                          <a:cs typeface="Arial" pitchFamily="34" charset="-120"/>
                        </a:rPr>
                        <a:t>Texnologiya</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Yo‘nalish</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Kechikish</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Brauzerlar</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r>
              <a:tr h="731520">
                <a:tc>
                  <a:txBody>
                    <a:bodyPr/>
                    <a:lstStyle/>
                    <a:p>
                      <a:pPr algn="l" indent="0" marL="0">
                        <a:buNone/>
                      </a:pPr>
                      <a:r>
                        <a:rPr lang="en-US" sz="1400" dirty="0">
                          <a:solidFill>
                            <a:srgbClr val="1F2937"/>
                          </a:solidFill>
                          <a:latin typeface="Arial" pitchFamily="34" charset="0"/>
                          <a:ea typeface="Arial" pitchFamily="34" charset="-122"/>
                          <a:cs typeface="Arial" pitchFamily="34" charset="-120"/>
                        </a:rPr>
                        <a:t>Short polling</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Mijoz → server</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Yuqori</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Barchasi</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731520">
                <a:tc>
                  <a:txBody>
                    <a:bodyPr/>
                    <a:lstStyle/>
                    <a:p>
                      <a:pPr algn="l" indent="0" marL="0">
                        <a:buNone/>
                      </a:pPr>
                      <a:r>
                        <a:rPr lang="en-US" sz="1400" dirty="0">
                          <a:solidFill>
                            <a:srgbClr val="1F2937"/>
                          </a:solidFill>
                          <a:latin typeface="Arial" pitchFamily="34" charset="0"/>
                          <a:ea typeface="Arial" pitchFamily="34" charset="-122"/>
                          <a:cs typeface="Arial" pitchFamily="34" charset="-120"/>
                        </a:rPr>
                        <a:t>Long polling</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Mijoz → server</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O‘rtacha</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Barchasi</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731520">
                <a:tc>
                  <a:txBody>
                    <a:bodyPr/>
                    <a:lstStyle/>
                    <a:p>
                      <a:pPr algn="l" indent="0" marL="0">
                        <a:buNone/>
                      </a:pPr>
                      <a:r>
                        <a:rPr lang="en-US" sz="1400" dirty="0">
                          <a:solidFill>
                            <a:srgbClr val="1F2937"/>
                          </a:solidFill>
                          <a:latin typeface="Arial" pitchFamily="34" charset="0"/>
                          <a:ea typeface="Arial" pitchFamily="34" charset="-122"/>
                          <a:cs typeface="Arial" pitchFamily="34" charset="-120"/>
                        </a:rPr>
                        <a:t>Server-Sent Events</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Server → mijoz</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Past</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Zamonaviy</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731520">
                <a:tc>
                  <a:txBody>
                    <a:bodyPr/>
                    <a:lstStyle/>
                    <a:p>
                      <a:pPr algn="l" indent="0" marL="0">
                        <a:buNone/>
                      </a:pPr>
                      <a:r>
                        <a:rPr lang="en-US" sz="1400" dirty="0">
                          <a:solidFill>
                            <a:srgbClr val="1F2937"/>
                          </a:solidFill>
                          <a:latin typeface="Arial" pitchFamily="34" charset="0"/>
                          <a:ea typeface="Arial" pitchFamily="34" charset="-122"/>
                          <a:cs typeface="Arial" pitchFamily="34" charset="-120"/>
                        </a:rPr>
                        <a:t>WebSocket</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Ikki tomonlama</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Juda past</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Zamonaviy</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731520">
                <a:tc>
                  <a:txBody>
                    <a:bodyPr/>
                    <a:lstStyle/>
                    <a:p>
                      <a:pPr algn="l" indent="0" marL="0">
                        <a:buNone/>
                      </a:pPr>
                      <a:r>
                        <a:rPr lang="en-US" sz="1400" b="1" dirty="0">
                          <a:solidFill>
                            <a:srgbClr val="1E1B4B"/>
                          </a:solidFill>
                          <a:latin typeface="Arial" pitchFamily="34" charset="0"/>
                          <a:ea typeface="Arial" pitchFamily="34" charset="-122"/>
                          <a:cs typeface="Arial" pitchFamily="34" charset="-120"/>
                        </a:rPr>
                        <a:t>SignalR</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c>
                  <a:txBody>
                    <a:bodyPr/>
                    <a:lstStyle/>
                    <a:p>
                      <a:pPr algn="ctr" indent="0" marL="0">
                        <a:buNone/>
                      </a:pPr>
                      <a:r>
                        <a:rPr lang="en-US" sz="1400" b="1" dirty="0">
                          <a:solidFill>
                            <a:srgbClr val="1E1B4B"/>
                          </a:solidFill>
                          <a:latin typeface="Arial" pitchFamily="34" charset="0"/>
                          <a:ea typeface="Arial" pitchFamily="34" charset="-122"/>
                          <a:cs typeface="Arial" pitchFamily="34" charset="-120"/>
                        </a:rPr>
                        <a:t>Ikki tomonlama</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c>
                  <a:txBody>
                    <a:bodyPr/>
                    <a:lstStyle/>
                    <a:p>
                      <a:pPr algn="ctr" indent="0" marL="0">
                        <a:buNone/>
                      </a:pPr>
                      <a:r>
                        <a:rPr lang="en-US" sz="1400" b="1" dirty="0">
                          <a:solidFill>
                            <a:srgbClr val="1E1B4B"/>
                          </a:solidFill>
                          <a:latin typeface="Arial" pitchFamily="34" charset="0"/>
                          <a:ea typeface="Arial" pitchFamily="34" charset="-122"/>
                          <a:cs typeface="Arial" pitchFamily="34" charset="-120"/>
                        </a:rPr>
                        <a:t>Juda past</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c>
                  <a:txBody>
                    <a:bodyPr/>
                    <a:lstStyle/>
                    <a:p>
                      <a:pPr algn="ctr" indent="0" marL="0">
                        <a:buNone/>
                      </a:pPr>
                      <a:r>
                        <a:rPr lang="en-US" sz="1400" b="1" dirty="0">
                          <a:solidFill>
                            <a:srgbClr val="1E1B4B"/>
                          </a:solidFill>
                          <a:latin typeface="Arial" pitchFamily="34" charset="0"/>
                          <a:ea typeface="Arial" pitchFamily="34" charset="-122"/>
                          <a:cs typeface="Arial" pitchFamily="34" charset="-120"/>
                        </a:rPr>
                        <a:t>Barchasi (fallback)</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r>
            </a:tbl>
          </a:graphicData>
        </a:graphic>
      </p:graphicFrame>
      <p:sp>
        <p:nvSpPr>
          <p:cNvPr id="6" name="Shape 3"/>
          <p:cNvSpPr/>
          <p:nvPr/>
        </p:nvSpPr>
        <p:spPr>
          <a:xfrm>
            <a:off x="7680960" y="1417320"/>
            <a:ext cx="3962095" cy="4389120"/>
          </a:xfrm>
          <a:prstGeom prst="roundRect">
            <a:avLst>
              <a:gd name="adj" fmla="val 2769"/>
            </a:avLst>
          </a:prstGeom>
          <a:solidFill>
            <a:srgbClr val="EEF2FF"/>
          </a:solidFill>
          <a:ln/>
        </p:spPr>
      </p:sp>
      <p:sp>
        <p:nvSpPr>
          <p:cNvPr id="7" name="Shape 4"/>
          <p:cNvSpPr/>
          <p:nvPr/>
        </p:nvSpPr>
        <p:spPr>
          <a:xfrm>
            <a:off x="7955280" y="1645920"/>
            <a:ext cx="548640" cy="548640"/>
          </a:xfrm>
          <a:prstGeom prst="ellipse">
            <a:avLst/>
          </a:prstGeom>
          <a:solidFill>
            <a:srgbClr val="4F46E5"/>
          </a:solidFill>
          <a:ln/>
        </p:spPr>
      </p:sp>
      <p:pic>
        <p:nvPicPr>
          <p:cNvPr id="8" name="Image 0" descr="C:\Users\Sardor\Desktop\diplom ish\diplom\generator\slides-cache\icons\zap-FFFFFF.png">    </p:cNvPr>
          <p:cNvPicPr>
            <a:picLocks noChangeAspect="1"/>
          </p:cNvPicPr>
          <p:nvPr/>
        </p:nvPicPr>
        <p:blipFill>
          <a:blip r:embed="rId1"/>
          <a:stretch>
            <a:fillRect/>
          </a:stretch>
        </p:blipFill>
        <p:spPr>
          <a:xfrm>
            <a:off x="8092440" y="1783080"/>
            <a:ext cx="274320" cy="274320"/>
          </a:xfrm>
          <a:prstGeom prst="rect">
            <a:avLst/>
          </a:prstGeom>
        </p:spPr>
      </p:pic>
      <p:sp>
        <p:nvSpPr>
          <p:cNvPr id="9" name="Text 5"/>
          <p:cNvSpPr txBox="1"/>
          <p:nvPr/>
        </p:nvSpPr>
        <p:spPr>
          <a:xfrm>
            <a:off x="8686800" y="1691640"/>
            <a:ext cx="2773375" cy="457200"/>
          </a:xfrm>
          <a:prstGeom prst="rect">
            <a:avLst/>
          </a:prstGeom>
          <a:noFill/>
          <a:ln/>
        </p:spPr>
        <p:txBody>
          <a:bodyPr wrap="square" lIns="0" tIns="0" rIns="0" bIns="0" rtlCol="0" anchor="ctr"/>
          <a:lstStyle/>
          <a:p>
            <a:pPr indent="0" marL="0">
              <a:buNone/>
            </a:pPr>
            <a:r>
              <a:rPr lang="en-US" sz="2000" b="1" dirty="0">
                <a:solidFill>
                  <a:srgbClr val="1E1B4B"/>
                </a:solidFill>
                <a:latin typeface="Arial" pitchFamily="34" charset="0"/>
                <a:ea typeface="Arial" pitchFamily="34" charset="-122"/>
                <a:cs typeface="Arial" pitchFamily="34" charset="-120"/>
              </a:rPr>
              <a:t>Nega SignalR?</a:t>
            </a:r>
            <a:endParaRPr lang="en-US" sz="2000" dirty="0"/>
          </a:p>
        </p:txBody>
      </p:sp>
      <p:sp>
        <p:nvSpPr>
          <p:cNvPr id="10" name="Shape 6"/>
          <p:cNvSpPr/>
          <p:nvPr/>
        </p:nvSpPr>
        <p:spPr>
          <a:xfrm>
            <a:off x="7955280" y="2514600"/>
            <a:ext cx="1051560" cy="384048"/>
          </a:xfrm>
          <a:prstGeom prst="roundRect">
            <a:avLst>
              <a:gd name="adj" fmla="val 50000"/>
            </a:avLst>
          </a:prstGeom>
          <a:solidFill>
            <a:srgbClr val="FFFFFF"/>
          </a:solidFill>
          <a:ln w="12700">
            <a:solidFill>
              <a:srgbClr val="4F46E5"/>
            </a:solidFill>
            <a:prstDash val="solid"/>
          </a:ln>
        </p:spPr>
      </p:sp>
      <p:sp>
        <p:nvSpPr>
          <p:cNvPr id="11" name="Text 7"/>
          <p:cNvSpPr txBox="1"/>
          <p:nvPr/>
        </p:nvSpPr>
        <p:spPr>
          <a:xfrm>
            <a:off x="7955280" y="2514600"/>
            <a:ext cx="1051560" cy="384048"/>
          </a:xfrm>
          <a:prstGeom prst="rect">
            <a:avLst/>
          </a:prstGeom>
          <a:noFill/>
          <a:ln/>
        </p:spPr>
        <p:txBody>
          <a:bodyPr wrap="square" lIns="0" tIns="0" rIns="0" bIns="0" rtlCol="0" anchor="ctr"/>
          <a:lstStyle/>
          <a:p>
            <a:pPr algn="ctr" indent="0" marL="0">
              <a:buNone/>
            </a:pPr>
            <a:r>
              <a:rPr lang="en-US" sz="1100" b="1" dirty="0">
                <a:solidFill>
                  <a:srgbClr val="4F46E5"/>
                </a:solidFill>
                <a:latin typeface="Arial" pitchFamily="34" charset="0"/>
                <a:ea typeface="Arial" pitchFamily="34" charset="-122"/>
                <a:cs typeface="Arial" pitchFamily="34" charset="-120"/>
              </a:rPr>
              <a:t>WebSocket</a:t>
            </a:r>
            <a:endParaRPr lang="en-US" sz="1100" dirty="0"/>
          </a:p>
        </p:txBody>
      </p:sp>
      <p:pic>
        <p:nvPicPr>
          <p:cNvPr id="12" name="Image 1" descr="C:\Users\Sardor\Desktop\diplom ish\diplom\generator\slides-cache\icons\arrow-right-4F46E5.png">    </p:cNvPr>
          <p:cNvPicPr>
            <a:picLocks noChangeAspect="1"/>
          </p:cNvPicPr>
          <p:nvPr/>
        </p:nvPicPr>
        <p:blipFill>
          <a:blip r:embed="rId2"/>
          <a:stretch>
            <a:fillRect/>
          </a:stretch>
        </p:blipFill>
        <p:spPr>
          <a:xfrm>
            <a:off x="9052560" y="2606040"/>
            <a:ext cx="201168" cy="201168"/>
          </a:xfrm>
          <a:prstGeom prst="rect">
            <a:avLst/>
          </a:prstGeom>
        </p:spPr>
      </p:pic>
      <p:sp>
        <p:nvSpPr>
          <p:cNvPr id="13" name="Shape 8"/>
          <p:cNvSpPr/>
          <p:nvPr/>
        </p:nvSpPr>
        <p:spPr>
          <a:xfrm>
            <a:off x="9299448" y="2514600"/>
            <a:ext cx="566928" cy="384048"/>
          </a:xfrm>
          <a:prstGeom prst="roundRect">
            <a:avLst>
              <a:gd name="adj" fmla="val 50000"/>
            </a:avLst>
          </a:prstGeom>
          <a:solidFill>
            <a:srgbClr val="FFFFFF"/>
          </a:solidFill>
          <a:ln w="12700">
            <a:solidFill>
              <a:srgbClr val="4F46E5"/>
            </a:solidFill>
            <a:prstDash val="solid"/>
          </a:ln>
        </p:spPr>
      </p:sp>
      <p:sp>
        <p:nvSpPr>
          <p:cNvPr id="14" name="Text 9"/>
          <p:cNvSpPr txBox="1"/>
          <p:nvPr/>
        </p:nvSpPr>
        <p:spPr>
          <a:xfrm>
            <a:off x="9299448" y="2514600"/>
            <a:ext cx="566928" cy="384048"/>
          </a:xfrm>
          <a:prstGeom prst="rect">
            <a:avLst/>
          </a:prstGeom>
          <a:noFill/>
          <a:ln/>
        </p:spPr>
        <p:txBody>
          <a:bodyPr wrap="square" lIns="0" tIns="0" rIns="0" bIns="0" rtlCol="0" anchor="ctr"/>
          <a:lstStyle/>
          <a:p>
            <a:pPr algn="ctr" indent="0" marL="0">
              <a:buNone/>
            </a:pPr>
            <a:r>
              <a:rPr lang="en-US" sz="1100" b="1" dirty="0">
                <a:solidFill>
                  <a:srgbClr val="4F46E5"/>
                </a:solidFill>
                <a:latin typeface="Arial" pitchFamily="34" charset="0"/>
                <a:ea typeface="Arial" pitchFamily="34" charset="-122"/>
                <a:cs typeface="Arial" pitchFamily="34" charset="-120"/>
              </a:rPr>
              <a:t>SSE</a:t>
            </a:r>
            <a:endParaRPr lang="en-US" sz="1100" dirty="0"/>
          </a:p>
        </p:txBody>
      </p:sp>
      <p:pic>
        <p:nvPicPr>
          <p:cNvPr id="15" name="Image 2" descr="C:\Users\Sardor\Desktop\diplom ish\diplom\generator\slides-cache\icons\arrow-right-4F46E5.png">    </p:cNvPr>
          <p:cNvPicPr>
            <a:picLocks noChangeAspect="1"/>
          </p:cNvPicPr>
          <p:nvPr/>
        </p:nvPicPr>
        <p:blipFill>
          <a:blip r:embed="rId3"/>
          <a:stretch>
            <a:fillRect/>
          </a:stretch>
        </p:blipFill>
        <p:spPr>
          <a:xfrm>
            <a:off x="9912096" y="2606040"/>
            <a:ext cx="201168" cy="201168"/>
          </a:xfrm>
          <a:prstGeom prst="rect">
            <a:avLst/>
          </a:prstGeom>
        </p:spPr>
      </p:pic>
      <p:sp>
        <p:nvSpPr>
          <p:cNvPr id="16" name="Shape 10"/>
          <p:cNvSpPr/>
          <p:nvPr/>
        </p:nvSpPr>
        <p:spPr>
          <a:xfrm>
            <a:off x="10158984" y="2514600"/>
            <a:ext cx="1143000" cy="384048"/>
          </a:xfrm>
          <a:prstGeom prst="roundRect">
            <a:avLst>
              <a:gd name="adj" fmla="val 50000"/>
            </a:avLst>
          </a:prstGeom>
          <a:solidFill>
            <a:srgbClr val="FFFFFF"/>
          </a:solidFill>
          <a:ln w="12700">
            <a:solidFill>
              <a:srgbClr val="4F46E5"/>
            </a:solidFill>
            <a:prstDash val="solid"/>
          </a:ln>
        </p:spPr>
      </p:sp>
      <p:sp>
        <p:nvSpPr>
          <p:cNvPr id="17" name="Text 11"/>
          <p:cNvSpPr txBox="1"/>
          <p:nvPr/>
        </p:nvSpPr>
        <p:spPr>
          <a:xfrm>
            <a:off x="10158984" y="2514600"/>
            <a:ext cx="1143000" cy="384048"/>
          </a:xfrm>
          <a:prstGeom prst="rect">
            <a:avLst/>
          </a:prstGeom>
          <a:noFill/>
          <a:ln/>
        </p:spPr>
        <p:txBody>
          <a:bodyPr wrap="square" lIns="0" tIns="0" rIns="0" bIns="0" rtlCol="0" anchor="ctr"/>
          <a:lstStyle/>
          <a:p>
            <a:pPr algn="ctr" indent="0" marL="0">
              <a:buNone/>
            </a:pPr>
            <a:r>
              <a:rPr lang="en-US" sz="1100" b="1" dirty="0">
                <a:solidFill>
                  <a:srgbClr val="4F46E5"/>
                </a:solidFill>
                <a:latin typeface="Arial" pitchFamily="34" charset="0"/>
                <a:ea typeface="Arial" pitchFamily="34" charset="-122"/>
                <a:cs typeface="Arial" pitchFamily="34" charset="-120"/>
              </a:rPr>
              <a:t>Long polling</a:t>
            </a:r>
            <a:endParaRPr lang="en-US" sz="1100" dirty="0"/>
          </a:p>
        </p:txBody>
      </p:sp>
      <p:sp>
        <p:nvSpPr>
          <p:cNvPr id="18" name="Text 12"/>
          <p:cNvSpPr txBox="1"/>
          <p:nvPr/>
        </p:nvSpPr>
        <p:spPr>
          <a:xfrm>
            <a:off x="7955280" y="2971800"/>
            <a:ext cx="3413455" cy="274320"/>
          </a:xfrm>
          <a:prstGeom prst="rect">
            <a:avLst/>
          </a:prstGeom>
          <a:noFill/>
          <a:ln/>
        </p:spPr>
        <p:txBody>
          <a:bodyPr wrap="square" lIns="0" tIns="0" rIns="0" bIns="0" rtlCol="0" anchor="ctr"/>
          <a:lstStyle/>
          <a:p>
            <a:pPr indent="0" marL="0">
              <a:buNone/>
            </a:pPr>
            <a:r>
              <a:rPr lang="en-US" sz="1200" i="1" dirty="0">
                <a:solidFill>
                  <a:srgbClr val="6B7280"/>
                </a:solidFill>
                <a:latin typeface="Arial" pitchFamily="34" charset="0"/>
                <a:ea typeface="Arial" pitchFamily="34" charset="-122"/>
                <a:cs typeface="Arial" pitchFamily="34" charset="-120"/>
              </a:rPr>
              <a:t>transport avtomatik tanlanadi</a:t>
            </a:r>
            <a:endParaRPr lang="en-US" sz="1200" dirty="0"/>
          </a:p>
        </p:txBody>
      </p:sp>
      <p:sp>
        <p:nvSpPr>
          <p:cNvPr id="19" name="Text 13"/>
          <p:cNvSpPr txBox="1"/>
          <p:nvPr/>
        </p:nvSpPr>
        <p:spPr>
          <a:xfrm>
            <a:off x="7955280" y="3429000"/>
            <a:ext cx="3413455" cy="21945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1F2937"/>
                </a:solidFill>
                <a:latin typeface="Arial" pitchFamily="34" charset="0"/>
                <a:ea typeface="Arial" pitchFamily="34" charset="-122"/>
                <a:cs typeface="Arial" pitchFamily="34" charset="-120"/>
              </a:rPr>
              <a:t>Hab (Hub) abstraksiyasi: server va mijoz bir-birining metodlarini chaqiradi</a:t>
            </a:r>
            <a:endParaRPr lang="en-US" sz="1400" dirty="0"/>
          </a:p>
          <a:p>
            <a:pPr marL="342900" indent="-342900">
              <a:spcAft>
                <a:spcPts val="1000"/>
              </a:spcAft>
              <a:buSzPct val="100000"/>
              <a:buChar char="•"/>
            </a:pPr>
            <a:r>
              <a:rPr lang="en-US" sz="1400" dirty="0">
                <a:solidFill>
                  <a:srgbClr val="1F2937"/>
                </a:solidFill>
                <a:latin typeface="Arial" pitchFamily="34" charset="0"/>
                <a:ea typeface="Arial" pitchFamily="34" charset="-122"/>
                <a:cs typeface="Arial" pitchFamily="34" charset="-120"/>
              </a:rPr>
              <a:t>Guruhlar, JWT autentifikatsiyasi va qayta ulanish tayyor holda</a:t>
            </a:r>
            <a:endParaRPr lang="en-US" sz="1400" dirty="0"/>
          </a:p>
          <a:p>
            <a:pPr marL="342900" indent="-342900">
              <a:spcAft>
                <a:spcPts val="1000"/>
              </a:spcAft>
              <a:buSzPct val="100000"/>
              <a:buChar char="•"/>
            </a:pPr>
            <a:r>
              <a:rPr lang="en-US" sz="1400" dirty="0">
                <a:solidFill>
                  <a:srgbClr val="1F2937"/>
                </a:solidFill>
                <a:latin typeface="Arial" pitchFamily="34" charset="0"/>
                <a:ea typeface="Arial" pitchFamily="34" charset="-122"/>
                <a:cs typeface="Arial" pitchFamily="34" charset="-120"/>
              </a:rPr>
              <a:t>.NET tarkibiy qismi; brauzer uchun rasmiy @microsoft/signalr</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Tizimga qo‘yilgan talablar</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6 / 20</a:t>
            </a:r>
            <a:endParaRPr lang="en-US" sz="1000" dirty="0"/>
          </a:p>
        </p:txBody>
      </p:sp>
      <p:sp>
        <p:nvSpPr>
          <p:cNvPr id="5" name="Text 3"/>
          <p:cNvSpPr txBox="1"/>
          <p:nvPr/>
        </p:nvSpPr>
        <p:spPr>
          <a:xfrm>
            <a:off x="548640" y="1325880"/>
            <a:ext cx="1316736" cy="868680"/>
          </a:xfrm>
          <a:prstGeom prst="rect">
            <a:avLst/>
          </a:prstGeom>
          <a:noFill/>
          <a:ln/>
        </p:spPr>
        <p:txBody>
          <a:bodyPr wrap="square" lIns="0" tIns="0" rIns="0" bIns="0" rtlCol="0" anchor="ctr"/>
          <a:lstStyle/>
          <a:p>
            <a:pPr indent="0" marL="0">
              <a:buNone/>
            </a:pPr>
            <a:r>
              <a:rPr lang="en-US" sz="5400" b="1" dirty="0">
                <a:solidFill>
                  <a:srgbClr val="4F46E5"/>
                </a:solidFill>
                <a:latin typeface="Arial" pitchFamily="34" charset="0"/>
                <a:ea typeface="Arial" pitchFamily="34" charset="-122"/>
                <a:cs typeface="Arial" pitchFamily="34" charset="-120"/>
              </a:rPr>
              <a:t>12</a:t>
            </a:r>
            <a:endParaRPr lang="en-US" sz="5400" dirty="0"/>
          </a:p>
        </p:txBody>
      </p:sp>
      <p:sp>
        <p:nvSpPr>
          <p:cNvPr id="6" name="Text 4"/>
          <p:cNvSpPr txBox="1"/>
          <p:nvPr/>
        </p:nvSpPr>
        <p:spPr>
          <a:xfrm>
            <a:off x="1865376" y="1417320"/>
            <a:ext cx="2615184" cy="731520"/>
          </a:xfrm>
          <a:prstGeom prst="rect">
            <a:avLst/>
          </a:prstGeom>
          <a:noFill/>
          <a:ln/>
        </p:spPr>
        <p:txBody>
          <a:bodyPr wrap="square" lIns="0" tIns="0" rIns="0" bIns="0" rtlCol="0" anchor="ctr"/>
          <a:lstStyle/>
          <a:p>
            <a:pPr indent="0" marL="0">
              <a:buNone/>
            </a:pPr>
            <a:r>
              <a:rPr lang="en-US" sz="1800" b="1" dirty="0">
                <a:solidFill>
                  <a:srgbClr val="1E1B4B"/>
                </a:solidFill>
                <a:latin typeface="Arial" pitchFamily="34" charset="0"/>
                <a:ea typeface="Arial" pitchFamily="34" charset="-122"/>
                <a:cs typeface="Arial" pitchFamily="34" charset="-120"/>
              </a:rPr>
              <a:t>funksional talab</a:t>
            </a:r>
            <a:endParaRPr lang="en-US" sz="1800" dirty="0"/>
          </a:p>
        </p:txBody>
      </p:sp>
      <p:sp>
        <p:nvSpPr>
          <p:cNvPr id="7" name="Text 5"/>
          <p:cNvSpPr txBox="1"/>
          <p:nvPr/>
        </p:nvSpPr>
        <p:spPr>
          <a:xfrm>
            <a:off x="548640" y="2377440"/>
            <a:ext cx="3931920" cy="365760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Kirish: e-pochta kodi yoki Google</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Profil va faol sessiyalar</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Shaxsiy va guruh chatlari</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Javob, tahrirlash, o‘chirish, qidiruv</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Rasm, video va fayllar</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“Yozmoqda”, o‘qildi, onlayn holat</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24 soatlik hikoyalar</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Yorug‘ / qorong‘i mavzu, mobil ko‘rinish</a:t>
            </a:r>
            <a:endParaRPr lang="en-US" sz="1400" dirty="0"/>
          </a:p>
        </p:txBody>
      </p:sp>
      <p:sp>
        <p:nvSpPr>
          <p:cNvPr id="8" name="Text 6"/>
          <p:cNvSpPr txBox="1"/>
          <p:nvPr/>
        </p:nvSpPr>
        <p:spPr>
          <a:xfrm>
            <a:off x="4754880" y="1325880"/>
            <a:ext cx="749808" cy="868680"/>
          </a:xfrm>
          <a:prstGeom prst="rect">
            <a:avLst/>
          </a:prstGeom>
          <a:noFill/>
          <a:ln/>
        </p:spPr>
        <p:txBody>
          <a:bodyPr wrap="square" lIns="0" tIns="0" rIns="0" bIns="0" rtlCol="0" anchor="ctr"/>
          <a:lstStyle/>
          <a:p>
            <a:pPr indent="0" marL="0">
              <a:buNone/>
            </a:pPr>
            <a:r>
              <a:rPr lang="en-US" sz="5400" b="1" dirty="0">
                <a:solidFill>
                  <a:srgbClr val="4F46E5"/>
                </a:solidFill>
                <a:latin typeface="Arial" pitchFamily="34" charset="0"/>
                <a:ea typeface="Arial" pitchFamily="34" charset="-122"/>
                <a:cs typeface="Arial" pitchFamily="34" charset="-120"/>
              </a:rPr>
              <a:t>7</a:t>
            </a:r>
            <a:endParaRPr lang="en-US" sz="5400" dirty="0"/>
          </a:p>
        </p:txBody>
      </p:sp>
      <p:sp>
        <p:nvSpPr>
          <p:cNvPr id="9" name="Text 7"/>
          <p:cNvSpPr txBox="1"/>
          <p:nvPr/>
        </p:nvSpPr>
        <p:spPr>
          <a:xfrm>
            <a:off x="5504688" y="1417320"/>
            <a:ext cx="2999232" cy="731520"/>
          </a:xfrm>
          <a:prstGeom prst="rect">
            <a:avLst/>
          </a:prstGeom>
          <a:noFill/>
          <a:ln/>
        </p:spPr>
        <p:txBody>
          <a:bodyPr wrap="square" lIns="0" tIns="0" rIns="0" bIns="0" rtlCol="0" anchor="ctr"/>
          <a:lstStyle/>
          <a:p>
            <a:pPr indent="0" marL="0">
              <a:buNone/>
            </a:pPr>
            <a:r>
              <a:rPr lang="en-US" sz="1800" b="1" dirty="0">
                <a:solidFill>
                  <a:srgbClr val="1E1B4B"/>
                </a:solidFill>
                <a:latin typeface="Arial" pitchFamily="34" charset="0"/>
                <a:ea typeface="Arial" pitchFamily="34" charset="-122"/>
                <a:cs typeface="Arial" pitchFamily="34" charset="-120"/>
              </a:rPr>
              <a:t>nofunksional talab</a:t>
            </a:r>
            <a:endParaRPr lang="en-US" sz="1800" dirty="0"/>
          </a:p>
        </p:txBody>
      </p:sp>
      <p:sp>
        <p:nvSpPr>
          <p:cNvPr id="10" name="Text 8"/>
          <p:cNvSpPr txBox="1"/>
          <p:nvPr/>
        </p:nvSpPr>
        <p:spPr>
          <a:xfrm>
            <a:off x="4754880" y="2377440"/>
            <a:ext cx="3749040" cy="365760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Unumdorlik: xabar &lt; 1 soniyada</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Xavfsizlik: HTTPS, xeshlar, huquqlar</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Ishonchlilik: avtomatik qayta ulanish</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Kengaytiriluvchanlik: holatsiz API</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Qo‘llab-quvvatlanuvchanlik</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Ko‘chiriluvchanlik: Docker</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Qulaylik: o‘zbek tilidagi interfeys</a:t>
            </a:r>
            <a:endParaRPr lang="en-US" sz="1400" dirty="0"/>
          </a:p>
        </p:txBody>
      </p:sp>
      <p:sp>
        <p:nvSpPr>
          <p:cNvPr id="11" name="Shape 9"/>
          <p:cNvSpPr/>
          <p:nvPr/>
        </p:nvSpPr>
        <p:spPr>
          <a:xfrm>
            <a:off x="8686800" y="1371600"/>
            <a:ext cx="2956255" cy="4663440"/>
          </a:xfrm>
          <a:prstGeom prst="roundRect">
            <a:avLst>
              <a:gd name="adj" fmla="val 3712"/>
            </a:avLst>
          </a:prstGeom>
          <a:solidFill>
            <a:srgbClr val="1E1B4B"/>
          </a:solidFill>
          <a:ln/>
        </p:spPr>
      </p:sp>
      <p:sp>
        <p:nvSpPr>
          <p:cNvPr id="12" name="Text 10"/>
          <p:cNvSpPr txBox="1"/>
          <p:nvPr/>
        </p:nvSpPr>
        <p:spPr>
          <a:xfrm>
            <a:off x="8961120" y="1600200"/>
            <a:ext cx="2407615" cy="4114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Tizim aktorlari</a:t>
            </a:r>
            <a:endParaRPr lang="en-US" sz="1800" dirty="0"/>
          </a:p>
        </p:txBody>
      </p:sp>
      <p:sp>
        <p:nvSpPr>
          <p:cNvPr id="13" name="Shape 11"/>
          <p:cNvSpPr/>
          <p:nvPr/>
        </p:nvSpPr>
        <p:spPr>
          <a:xfrm>
            <a:off x="8961120" y="2286000"/>
            <a:ext cx="548640" cy="548640"/>
          </a:xfrm>
          <a:prstGeom prst="ellipse">
            <a:avLst/>
          </a:prstGeom>
          <a:solidFill>
            <a:srgbClr val="4F46E5"/>
          </a:solidFill>
          <a:ln/>
        </p:spPr>
      </p:sp>
      <p:pic>
        <p:nvPicPr>
          <p:cNvPr id="14" name="Image 0" descr="C:\Users\Sardor\Desktop\diplom ish\diplom\generator\slides-cache\icons\user-FFFFFF.png">    </p:cNvPr>
          <p:cNvPicPr>
            <a:picLocks noChangeAspect="1"/>
          </p:cNvPicPr>
          <p:nvPr/>
        </p:nvPicPr>
        <p:blipFill>
          <a:blip r:embed="rId1"/>
          <a:stretch>
            <a:fillRect/>
          </a:stretch>
        </p:blipFill>
        <p:spPr>
          <a:xfrm>
            <a:off x="9098280" y="2423160"/>
            <a:ext cx="274320" cy="274320"/>
          </a:xfrm>
          <a:prstGeom prst="rect">
            <a:avLst/>
          </a:prstGeom>
        </p:spPr>
      </p:pic>
      <p:sp>
        <p:nvSpPr>
          <p:cNvPr id="15" name="Text 12"/>
          <p:cNvSpPr txBox="1"/>
          <p:nvPr/>
        </p:nvSpPr>
        <p:spPr>
          <a:xfrm>
            <a:off x="9692640" y="2249424"/>
            <a:ext cx="1767535" cy="329184"/>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Mehmon</a:t>
            </a:r>
            <a:endParaRPr lang="en-US" sz="1600" dirty="0"/>
          </a:p>
        </p:txBody>
      </p:sp>
      <p:sp>
        <p:nvSpPr>
          <p:cNvPr id="16" name="Text 13"/>
          <p:cNvSpPr txBox="1"/>
          <p:nvPr/>
        </p:nvSpPr>
        <p:spPr>
          <a:xfrm>
            <a:off x="9692640" y="2578608"/>
            <a:ext cx="1767535" cy="548640"/>
          </a:xfrm>
          <a:prstGeom prst="rect">
            <a:avLst/>
          </a:prstGeom>
          <a:noFill/>
          <a:ln/>
        </p:spPr>
        <p:txBody>
          <a:bodyPr wrap="square" lIns="0" tIns="0" rIns="0" bIns="0" rtlCol="0" anchor="t"/>
          <a:lstStyle/>
          <a:p>
            <a:pPr indent="0" marL="0">
              <a:buNone/>
            </a:pPr>
            <a:r>
              <a:rPr lang="en-US" sz="1300" dirty="0">
                <a:solidFill>
                  <a:srgbClr val="C7D2FE"/>
                </a:solidFill>
                <a:latin typeface="Arial" pitchFamily="34" charset="0"/>
                <a:ea typeface="Arial" pitchFamily="34" charset="-122"/>
                <a:cs typeface="Arial" pitchFamily="34" charset="-120"/>
              </a:rPr>
              <a:t>kirish, ro‘yxatdan o‘tish</a:t>
            </a:r>
            <a:endParaRPr lang="en-US" sz="1300" dirty="0"/>
          </a:p>
        </p:txBody>
      </p:sp>
      <p:sp>
        <p:nvSpPr>
          <p:cNvPr id="17" name="Shape 14"/>
          <p:cNvSpPr/>
          <p:nvPr/>
        </p:nvSpPr>
        <p:spPr>
          <a:xfrm>
            <a:off x="8961120" y="3474720"/>
            <a:ext cx="548640" cy="548640"/>
          </a:xfrm>
          <a:prstGeom prst="ellipse">
            <a:avLst/>
          </a:prstGeom>
          <a:solidFill>
            <a:srgbClr val="4F46E5"/>
          </a:solidFill>
          <a:ln/>
        </p:spPr>
      </p:sp>
      <p:pic>
        <p:nvPicPr>
          <p:cNvPr id="18" name="Image 1" descr="C:\Users\Sardor\Desktop\diplom ish\diplom\generator\slides-cache\icons\users-FFFFFF.png">    </p:cNvPr>
          <p:cNvPicPr>
            <a:picLocks noChangeAspect="1"/>
          </p:cNvPicPr>
          <p:nvPr/>
        </p:nvPicPr>
        <p:blipFill>
          <a:blip r:embed="rId2"/>
          <a:stretch>
            <a:fillRect/>
          </a:stretch>
        </p:blipFill>
        <p:spPr>
          <a:xfrm>
            <a:off x="9098280" y="3611880"/>
            <a:ext cx="274320" cy="274320"/>
          </a:xfrm>
          <a:prstGeom prst="rect">
            <a:avLst/>
          </a:prstGeom>
        </p:spPr>
      </p:pic>
      <p:sp>
        <p:nvSpPr>
          <p:cNvPr id="19" name="Text 15"/>
          <p:cNvSpPr txBox="1"/>
          <p:nvPr/>
        </p:nvSpPr>
        <p:spPr>
          <a:xfrm>
            <a:off x="9692640" y="3438144"/>
            <a:ext cx="1767535" cy="329184"/>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Foydalanuvchi</a:t>
            </a:r>
            <a:endParaRPr lang="en-US" sz="1600" dirty="0"/>
          </a:p>
        </p:txBody>
      </p:sp>
      <p:sp>
        <p:nvSpPr>
          <p:cNvPr id="20" name="Text 16"/>
          <p:cNvSpPr txBox="1"/>
          <p:nvPr/>
        </p:nvSpPr>
        <p:spPr>
          <a:xfrm>
            <a:off x="9692640" y="3767328"/>
            <a:ext cx="1767535" cy="548640"/>
          </a:xfrm>
          <a:prstGeom prst="rect">
            <a:avLst/>
          </a:prstGeom>
          <a:noFill/>
          <a:ln/>
        </p:spPr>
        <p:txBody>
          <a:bodyPr wrap="square" lIns="0" tIns="0" rIns="0" bIns="0" rtlCol="0" anchor="t"/>
          <a:lstStyle/>
          <a:p>
            <a:pPr indent="0" marL="0">
              <a:buNone/>
            </a:pPr>
            <a:r>
              <a:rPr lang="en-US" sz="1300" dirty="0">
                <a:solidFill>
                  <a:srgbClr val="C7D2FE"/>
                </a:solidFill>
                <a:latin typeface="Arial" pitchFamily="34" charset="0"/>
                <a:ea typeface="Arial" pitchFamily="34" charset="-122"/>
                <a:cs typeface="Arial" pitchFamily="34" charset="-120"/>
              </a:rPr>
              <a:t>chatlar, xabarlar, hikoyalar</a:t>
            </a:r>
            <a:endParaRPr lang="en-US" sz="1300" dirty="0"/>
          </a:p>
        </p:txBody>
      </p:sp>
      <p:sp>
        <p:nvSpPr>
          <p:cNvPr id="21" name="Shape 17"/>
          <p:cNvSpPr/>
          <p:nvPr/>
        </p:nvSpPr>
        <p:spPr>
          <a:xfrm>
            <a:off x="8961120" y="4663440"/>
            <a:ext cx="548640" cy="548640"/>
          </a:xfrm>
          <a:prstGeom prst="ellipse">
            <a:avLst/>
          </a:prstGeom>
          <a:solidFill>
            <a:srgbClr val="4F46E5"/>
          </a:solidFill>
          <a:ln/>
        </p:spPr>
      </p:sp>
      <p:pic>
        <p:nvPicPr>
          <p:cNvPr id="22" name="Image 2" descr="C:\Users\Sardor\Desktop\diplom ish\diplom\generator\slides-cache\icons\crown-FFFFFF.png">    </p:cNvPr>
          <p:cNvPicPr>
            <a:picLocks noChangeAspect="1"/>
          </p:cNvPicPr>
          <p:nvPr/>
        </p:nvPicPr>
        <p:blipFill>
          <a:blip r:embed="rId3"/>
          <a:stretch>
            <a:fillRect/>
          </a:stretch>
        </p:blipFill>
        <p:spPr>
          <a:xfrm>
            <a:off x="9098280" y="4800600"/>
            <a:ext cx="274320" cy="274320"/>
          </a:xfrm>
          <a:prstGeom prst="rect">
            <a:avLst/>
          </a:prstGeom>
        </p:spPr>
      </p:pic>
      <p:sp>
        <p:nvSpPr>
          <p:cNvPr id="23" name="Text 18"/>
          <p:cNvSpPr txBox="1"/>
          <p:nvPr/>
        </p:nvSpPr>
        <p:spPr>
          <a:xfrm>
            <a:off x="9692640" y="4626864"/>
            <a:ext cx="1767535" cy="329184"/>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Guruh egasi</a:t>
            </a:r>
            <a:endParaRPr lang="en-US" sz="1600" dirty="0"/>
          </a:p>
        </p:txBody>
      </p:sp>
      <p:sp>
        <p:nvSpPr>
          <p:cNvPr id="24" name="Text 19"/>
          <p:cNvSpPr txBox="1"/>
          <p:nvPr/>
        </p:nvSpPr>
        <p:spPr>
          <a:xfrm>
            <a:off x="9692640" y="4956048"/>
            <a:ext cx="1767535" cy="548640"/>
          </a:xfrm>
          <a:prstGeom prst="rect">
            <a:avLst/>
          </a:prstGeom>
          <a:noFill/>
          <a:ln/>
        </p:spPr>
        <p:txBody>
          <a:bodyPr wrap="square" lIns="0" tIns="0" rIns="0" bIns="0" rtlCol="0" anchor="t"/>
          <a:lstStyle/>
          <a:p>
            <a:pPr indent="0" marL="0">
              <a:buNone/>
            </a:pPr>
            <a:r>
              <a:rPr lang="en-US" sz="1300" dirty="0">
                <a:solidFill>
                  <a:srgbClr val="C7D2FE"/>
                </a:solidFill>
                <a:latin typeface="Arial" pitchFamily="34" charset="0"/>
                <a:ea typeface="Arial" pitchFamily="34" charset="-122"/>
                <a:cs typeface="Arial" pitchFamily="34" charset="-120"/>
              </a:rPr>
              <a:t>a’zolar va rollarni boshqarish</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Texnologiyalar steki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7 / 20</a:t>
            </a:r>
            <a:endParaRPr lang="en-US" sz="1000" dirty="0"/>
          </a:p>
        </p:txBody>
      </p:sp>
      <p:sp>
        <p:nvSpPr>
          <p:cNvPr id="5" name="Shape 3"/>
          <p:cNvSpPr/>
          <p:nvPr/>
        </p:nvSpPr>
        <p:spPr>
          <a:xfrm>
            <a:off x="548640" y="1371600"/>
            <a:ext cx="3484778" cy="4069080"/>
          </a:xfrm>
          <a:prstGeom prst="roundRect">
            <a:avLst>
              <a:gd name="adj" fmla="val 3149"/>
            </a:avLst>
          </a:prstGeom>
          <a:solidFill>
            <a:srgbClr val="1E1B4B"/>
          </a:solidFill>
          <a:ln/>
        </p:spPr>
      </p:sp>
      <p:sp>
        <p:nvSpPr>
          <p:cNvPr id="6" name="Shape 4"/>
          <p:cNvSpPr/>
          <p:nvPr/>
        </p:nvSpPr>
        <p:spPr>
          <a:xfrm>
            <a:off x="868680" y="1645920"/>
            <a:ext cx="640080" cy="640080"/>
          </a:xfrm>
          <a:prstGeom prst="ellipse">
            <a:avLst/>
          </a:prstGeom>
          <a:solidFill>
            <a:srgbClr val="4F46E5"/>
          </a:solidFill>
          <a:ln/>
        </p:spPr>
      </p:sp>
      <p:pic>
        <p:nvPicPr>
          <p:cNvPr id="7" name="Image 0" descr="C:\Users\Sardor\Desktop\diplom ish\diplom\generator\slides-cache\icons\server-FFFFFF.png">    </p:cNvPr>
          <p:cNvPicPr>
            <a:picLocks noChangeAspect="1"/>
          </p:cNvPicPr>
          <p:nvPr/>
        </p:nvPicPr>
        <p:blipFill>
          <a:blip r:embed="rId1"/>
          <a:stretch>
            <a:fillRect/>
          </a:stretch>
        </p:blipFill>
        <p:spPr>
          <a:xfrm>
            <a:off x="1028700" y="1805940"/>
            <a:ext cx="320040" cy="320040"/>
          </a:xfrm>
          <a:prstGeom prst="rect">
            <a:avLst/>
          </a:prstGeom>
        </p:spPr>
      </p:pic>
      <p:sp>
        <p:nvSpPr>
          <p:cNvPr id="8" name="Text 5"/>
          <p:cNvSpPr txBox="1"/>
          <p:nvPr/>
        </p:nvSpPr>
        <p:spPr>
          <a:xfrm>
            <a:off x="1691640" y="1691640"/>
            <a:ext cx="2204618" cy="54864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Server qismi</a:t>
            </a:r>
            <a:endParaRPr lang="en-US" sz="2000" dirty="0"/>
          </a:p>
        </p:txBody>
      </p:sp>
      <p:sp>
        <p:nvSpPr>
          <p:cNvPr id="9" name="Text 6"/>
          <p:cNvSpPr txBox="1"/>
          <p:nvPr/>
        </p:nvSpPr>
        <p:spPr>
          <a:xfrm>
            <a:off x="868680" y="2514600"/>
            <a:ext cx="2936138" cy="2743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0E7FF"/>
                </a:solidFill>
                <a:latin typeface="Arial" pitchFamily="34" charset="0"/>
                <a:ea typeface="Arial" pitchFamily="34" charset="-122"/>
                <a:cs typeface="Arial" pitchFamily="34" charset="-120"/>
              </a:rPr>
              <a:t>.NET 8, ASP.NET Core</a:t>
            </a:r>
            <a:endParaRPr lang="en-US" sz="1500" dirty="0"/>
          </a:p>
          <a:p>
            <a:pPr marL="342900" indent="-342900">
              <a:spcAft>
                <a:spcPts val="800"/>
              </a:spcAft>
              <a:buSzPct val="100000"/>
              <a:buChar char="•"/>
            </a:pPr>
            <a:r>
              <a:rPr lang="en-US" sz="1500" dirty="0">
                <a:solidFill>
                  <a:srgbClr val="E0E7FF"/>
                </a:solidFill>
                <a:latin typeface="Arial" pitchFamily="34" charset="0"/>
                <a:ea typeface="Arial" pitchFamily="34" charset="-122"/>
                <a:cs typeface="Arial" pitchFamily="34" charset="-120"/>
              </a:rPr>
              <a:t>SignalR — real vaqt</a:t>
            </a:r>
            <a:endParaRPr lang="en-US" sz="1500" dirty="0"/>
          </a:p>
          <a:p>
            <a:pPr marL="342900" indent="-342900">
              <a:spcAft>
                <a:spcPts val="800"/>
              </a:spcAft>
              <a:buSzPct val="100000"/>
              <a:buChar char="•"/>
            </a:pPr>
            <a:r>
              <a:rPr lang="en-US" sz="1500" dirty="0">
                <a:solidFill>
                  <a:srgbClr val="E0E7FF"/>
                </a:solidFill>
                <a:latin typeface="Arial" pitchFamily="34" charset="0"/>
                <a:ea typeface="Arial" pitchFamily="34" charset="-122"/>
                <a:cs typeface="Arial" pitchFamily="34" charset="-120"/>
              </a:rPr>
              <a:t>Entity Framework Core 8</a:t>
            </a:r>
            <a:endParaRPr lang="en-US" sz="1500" dirty="0"/>
          </a:p>
          <a:p>
            <a:pPr marL="342900" indent="-342900">
              <a:spcAft>
                <a:spcPts val="800"/>
              </a:spcAft>
              <a:buSzPct val="100000"/>
              <a:buChar char="•"/>
            </a:pPr>
            <a:r>
              <a:rPr lang="en-US" sz="1500" dirty="0">
                <a:solidFill>
                  <a:srgbClr val="E0E7FF"/>
                </a:solidFill>
                <a:latin typeface="Arial" pitchFamily="34" charset="0"/>
                <a:ea typeface="Arial" pitchFamily="34" charset="-122"/>
                <a:cs typeface="Arial" pitchFamily="34" charset="-120"/>
              </a:rPr>
              <a:t>PostgreSQL 16</a:t>
            </a:r>
            <a:endParaRPr lang="en-US" sz="1500" dirty="0"/>
          </a:p>
          <a:p>
            <a:pPr marL="342900" indent="-342900">
              <a:spcAft>
                <a:spcPts val="800"/>
              </a:spcAft>
              <a:buSzPct val="100000"/>
              <a:buChar char="•"/>
            </a:pPr>
            <a:r>
              <a:rPr lang="en-US" sz="1500" dirty="0">
                <a:solidFill>
                  <a:srgbClr val="E0E7FF"/>
                </a:solidFill>
                <a:latin typeface="Arial" pitchFamily="34" charset="0"/>
                <a:ea typeface="Arial" pitchFamily="34" charset="-122"/>
                <a:cs typeface="Arial" pitchFamily="34" charset="-120"/>
              </a:rPr>
              <a:t>FluentValidation, JWT</a:t>
            </a:r>
            <a:endParaRPr lang="en-US" sz="1500" dirty="0"/>
          </a:p>
          <a:p>
            <a:pPr marL="342900" indent="-342900">
              <a:spcAft>
                <a:spcPts val="800"/>
              </a:spcAft>
              <a:buSzPct val="100000"/>
              <a:buChar char="•"/>
            </a:pPr>
            <a:r>
              <a:rPr lang="en-US" sz="1500" dirty="0">
                <a:solidFill>
                  <a:srgbClr val="E0E7FF"/>
                </a:solidFill>
                <a:latin typeface="Arial" pitchFamily="34" charset="0"/>
                <a:ea typeface="Arial" pitchFamily="34" charset="-122"/>
                <a:cs typeface="Arial" pitchFamily="34" charset="-120"/>
              </a:rPr>
              <a:t>Redis — onlayn holat</a:t>
            </a:r>
            <a:endParaRPr lang="en-US" sz="1500" dirty="0"/>
          </a:p>
        </p:txBody>
      </p:sp>
      <p:sp>
        <p:nvSpPr>
          <p:cNvPr id="10" name="Shape 7"/>
          <p:cNvSpPr/>
          <p:nvPr/>
        </p:nvSpPr>
        <p:spPr>
          <a:xfrm>
            <a:off x="4353458" y="1371600"/>
            <a:ext cx="3484778" cy="4069080"/>
          </a:xfrm>
          <a:prstGeom prst="roundRect">
            <a:avLst>
              <a:gd name="adj" fmla="val 3149"/>
            </a:avLst>
          </a:prstGeom>
          <a:solidFill>
            <a:srgbClr val="EEF2FF"/>
          </a:solidFill>
          <a:ln/>
        </p:spPr>
      </p:sp>
      <p:sp>
        <p:nvSpPr>
          <p:cNvPr id="11" name="Shape 8"/>
          <p:cNvSpPr/>
          <p:nvPr/>
        </p:nvSpPr>
        <p:spPr>
          <a:xfrm>
            <a:off x="4673498" y="1645920"/>
            <a:ext cx="640080" cy="640080"/>
          </a:xfrm>
          <a:prstGeom prst="ellipse">
            <a:avLst/>
          </a:prstGeom>
          <a:solidFill>
            <a:srgbClr val="4F46E5"/>
          </a:solidFill>
          <a:ln/>
        </p:spPr>
      </p:sp>
      <p:pic>
        <p:nvPicPr>
          <p:cNvPr id="12" name="Image 1" descr="C:\Users\Sardor\Desktop\diplom ish\diplom\generator\slides-cache\icons\monitor-FFFFFF.png">    </p:cNvPr>
          <p:cNvPicPr>
            <a:picLocks noChangeAspect="1"/>
          </p:cNvPicPr>
          <p:nvPr/>
        </p:nvPicPr>
        <p:blipFill>
          <a:blip r:embed="rId2"/>
          <a:stretch>
            <a:fillRect/>
          </a:stretch>
        </p:blipFill>
        <p:spPr>
          <a:xfrm>
            <a:off x="4833518" y="1805940"/>
            <a:ext cx="320040" cy="320040"/>
          </a:xfrm>
          <a:prstGeom prst="rect">
            <a:avLst/>
          </a:prstGeom>
        </p:spPr>
      </p:pic>
      <p:sp>
        <p:nvSpPr>
          <p:cNvPr id="13" name="Text 9"/>
          <p:cNvSpPr txBox="1"/>
          <p:nvPr/>
        </p:nvSpPr>
        <p:spPr>
          <a:xfrm>
            <a:off x="5496458" y="1691640"/>
            <a:ext cx="2204618" cy="548640"/>
          </a:xfrm>
          <a:prstGeom prst="rect">
            <a:avLst/>
          </a:prstGeom>
          <a:noFill/>
          <a:ln/>
        </p:spPr>
        <p:txBody>
          <a:bodyPr wrap="square" lIns="0" tIns="0" rIns="0" bIns="0" rtlCol="0" anchor="ctr"/>
          <a:lstStyle/>
          <a:p>
            <a:pPr indent="0" marL="0">
              <a:buNone/>
            </a:pPr>
            <a:r>
              <a:rPr lang="en-US" sz="2000" b="1" dirty="0">
                <a:solidFill>
                  <a:srgbClr val="1E1B4B"/>
                </a:solidFill>
                <a:latin typeface="Arial" pitchFamily="34" charset="0"/>
                <a:ea typeface="Arial" pitchFamily="34" charset="-122"/>
                <a:cs typeface="Arial" pitchFamily="34" charset="-120"/>
              </a:rPr>
              <a:t>Klient qismi</a:t>
            </a:r>
            <a:endParaRPr lang="en-US" sz="2000" dirty="0"/>
          </a:p>
        </p:txBody>
      </p:sp>
      <p:sp>
        <p:nvSpPr>
          <p:cNvPr id="14" name="Text 10"/>
          <p:cNvSpPr txBox="1"/>
          <p:nvPr/>
        </p:nvSpPr>
        <p:spPr>
          <a:xfrm>
            <a:off x="4673498" y="2514600"/>
            <a:ext cx="2936138" cy="2743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Angular 22 (standalone, signals)</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TypeScript, RxJS</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@microsoft/signalr</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Google Identity Services</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O‘z dizayn tizimi (SCSS)</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Server tomonida render (SSR)</a:t>
            </a:r>
            <a:endParaRPr lang="en-US" sz="1500" dirty="0"/>
          </a:p>
        </p:txBody>
      </p:sp>
      <p:sp>
        <p:nvSpPr>
          <p:cNvPr id="15" name="Shape 11"/>
          <p:cNvSpPr/>
          <p:nvPr/>
        </p:nvSpPr>
        <p:spPr>
          <a:xfrm>
            <a:off x="8158277" y="1371600"/>
            <a:ext cx="3484778" cy="4069080"/>
          </a:xfrm>
          <a:prstGeom prst="roundRect">
            <a:avLst>
              <a:gd name="adj" fmla="val 3149"/>
            </a:avLst>
          </a:prstGeom>
          <a:solidFill>
            <a:srgbClr val="EEF2FF"/>
          </a:solidFill>
          <a:ln/>
        </p:spPr>
      </p:sp>
      <p:sp>
        <p:nvSpPr>
          <p:cNvPr id="16" name="Shape 12"/>
          <p:cNvSpPr/>
          <p:nvPr/>
        </p:nvSpPr>
        <p:spPr>
          <a:xfrm>
            <a:off x="8478317" y="1645920"/>
            <a:ext cx="640080" cy="640080"/>
          </a:xfrm>
          <a:prstGeom prst="ellipse">
            <a:avLst/>
          </a:prstGeom>
          <a:solidFill>
            <a:srgbClr val="4F46E5"/>
          </a:solidFill>
          <a:ln/>
        </p:spPr>
      </p:sp>
      <p:pic>
        <p:nvPicPr>
          <p:cNvPr id="17" name="Image 2" descr="C:\Users\Sardor\Desktop\diplom ish\diplom\generator\slides-cache\icons\container-FFFFFF.png">    </p:cNvPr>
          <p:cNvPicPr>
            <a:picLocks noChangeAspect="1"/>
          </p:cNvPicPr>
          <p:nvPr/>
        </p:nvPicPr>
        <p:blipFill>
          <a:blip r:embed="rId3"/>
          <a:stretch>
            <a:fillRect/>
          </a:stretch>
        </p:blipFill>
        <p:spPr>
          <a:xfrm>
            <a:off x="8638337" y="1805940"/>
            <a:ext cx="320040" cy="320040"/>
          </a:xfrm>
          <a:prstGeom prst="rect">
            <a:avLst/>
          </a:prstGeom>
        </p:spPr>
      </p:pic>
      <p:sp>
        <p:nvSpPr>
          <p:cNvPr id="18" name="Text 13"/>
          <p:cNvSpPr txBox="1"/>
          <p:nvPr/>
        </p:nvSpPr>
        <p:spPr>
          <a:xfrm>
            <a:off x="9301277" y="1691640"/>
            <a:ext cx="2204618" cy="548640"/>
          </a:xfrm>
          <a:prstGeom prst="rect">
            <a:avLst/>
          </a:prstGeom>
          <a:noFill/>
          <a:ln/>
        </p:spPr>
        <p:txBody>
          <a:bodyPr wrap="square" lIns="0" tIns="0" rIns="0" bIns="0" rtlCol="0" anchor="ctr"/>
          <a:lstStyle/>
          <a:p>
            <a:pPr indent="0" marL="0">
              <a:buNone/>
            </a:pPr>
            <a:r>
              <a:rPr lang="en-US" sz="2000" b="1" dirty="0">
                <a:solidFill>
                  <a:srgbClr val="1E1B4B"/>
                </a:solidFill>
                <a:latin typeface="Arial" pitchFamily="34" charset="0"/>
                <a:ea typeface="Arial" pitchFamily="34" charset="-122"/>
                <a:cs typeface="Arial" pitchFamily="34" charset="-120"/>
              </a:rPr>
              <a:t>Infratuzilma</a:t>
            </a:r>
            <a:endParaRPr lang="en-US" sz="2000" dirty="0"/>
          </a:p>
        </p:txBody>
      </p:sp>
      <p:sp>
        <p:nvSpPr>
          <p:cNvPr id="19" name="Text 14"/>
          <p:cNvSpPr txBox="1"/>
          <p:nvPr/>
        </p:nvSpPr>
        <p:spPr>
          <a:xfrm>
            <a:off x="8478317" y="2514600"/>
            <a:ext cx="2936138" cy="2743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Docker (multi-stage)</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Render bulut platformasi</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SMTP — kodlar yuborish</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ClamAV — antivirus</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ImageSharp, FFmpeg — media</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Git va GitHub</a:t>
            </a:r>
            <a:endParaRPr lang="en-US" sz="1500" dirty="0"/>
          </a:p>
        </p:txBody>
      </p:sp>
      <p:pic>
        <p:nvPicPr>
          <p:cNvPr id="20" name="Image 3" descr="C:\Users\Sardor\Desktop\diplom ish\diplom\generator\slides-cache\icons\check-059669.png">    </p:cNvPr>
          <p:cNvPicPr>
            <a:picLocks noChangeAspect="1"/>
          </p:cNvPicPr>
          <p:nvPr/>
        </p:nvPicPr>
        <p:blipFill>
          <a:blip r:embed="rId4"/>
          <a:stretch>
            <a:fillRect/>
          </a:stretch>
        </p:blipFill>
        <p:spPr>
          <a:xfrm>
            <a:off x="548640" y="5696712"/>
            <a:ext cx="310896" cy="310896"/>
          </a:xfrm>
          <a:prstGeom prst="rect">
            <a:avLst/>
          </a:prstGeom>
        </p:spPr>
      </p:pic>
      <p:sp>
        <p:nvSpPr>
          <p:cNvPr id="21" name="Text 15"/>
          <p:cNvSpPr txBox="1"/>
          <p:nvPr/>
        </p:nvSpPr>
        <p:spPr>
          <a:xfrm>
            <a:off x="1005840" y="5623560"/>
            <a:ext cx="10637215" cy="457200"/>
          </a:xfrm>
          <a:prstGeom prst="rect">
            <a:avLst/>
          </a:prstGeom>
          <a:noFill/>
          <a:ln/>
        </p:spPr>
        <p:txBody>
          <a:bodyPr wrap="square" lIns="0" tIns="0" rIns="0" bIns="0" rtlCol="0" anchor="ctr"/>
          <a:lstStyle/>
          <a:p>
            <a:pPr indent="0" marL="0">
              <a:buNone/>
            </a:pPr>
            <a:r>
              <a:rPr lang="en-US" sz="1500" dirty="0">
                <a:solidFill>
                  <a:srgbClr val="1E1B4B"/>
                </a:solidFill>
                <a:latin typeface="Arial" pitchFamily="34" charset="0"/>
                <a:ea typeface="Arial" pitchFamily="34" charset="-122"/>
                <a:cs typeface="Arial" pitchFamily="34" charset="-120"/>
              </a:rPr>
              <a:t>Barcha texnologiyalar ochiq kodli va bepul — litsenziya xarajati yo‘q.</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Tizim arxitekturasi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8 / 20</a:t>
            </a:r>
            <a:endParaRPr lang="en-US" sz="1000" dirty="0"/>
          </a:p>
        </p:txBody>
      </p:sp>
      <p:sp>
        <p:nvSpPr>
          <p:cNvPr id="5" name="Text 3"/>
          <p:cNvSpPr txBox="1"/>
          <p:nvPr/>
        </p:nvSpPr>
        <p:spPr>
          <a:xfrm>
            <a:off x="548640" y="1325880"/>
            <a:ext cx="5486400" cy="365760"/>
          </a:xfrm>
          <a:prstGeom prst="rect">
            <a:avLst/>
          </a:prstGeom>
          <a:noFill/>
          <a:ln/>
        </p:spPr>
        <p:txBody>
          <a:bodyPr wrap="square" lIns="0" tIns="0" rIns="0" bIns="0" rtlCol="0" anchor="ctr"/>
          <a:lstStyle/>
          <a:p>
            <a:pPr indent="0" marL="0">
              <a:buNone/>
            </a:pPr>
            <a:r>
              <a:rPr lang="en-US" sz="1500" b="1" dirty="0">
                <a:solidFill>
                  <a:srgbClr val="6B7280"/>
                </a:solidFill>
                <a:latin typeface="Arial" pitchFamily="34" charset="0"/>
                <a:ea typeface="Arial" pitchFamily="34" charset="-122"/>
                <a:cs typeface="Arial" pitchFamily="34" charset="-120"/>
              </a:rPr>
              <a:t>Clean Architecture — server qatlamlari</a:t>
            </a:r>
            <a:endParaRPr lang="en-US" sz="1500" dirty="0"/>
          </a:p>
        </p:txBody>
      </p:sp>
      <p:sp>
        <p:nvSpPr>
          <p:cNvPr id="6" name="Shape 4"/>
          <p:cNvSpPr/>
          <p:nvPr/>
        </p:nvSpPr>
        <p:spPr>
          <a:xfrm>
            <a:off x="1188720" y="1783080"/>
            <a:ext cx="4846320" cy="914400"/>
          </a:xfrm>
          <a:prstGeom prst="roundRect">
            <a:avLst>
              <a:gd name="adj" fmla="val 10000"/>
            </a:avLst>
          </a:prstGeom>
          <a:solidFill>
            <a:srgbClr val="E0E7FF"/>
          </a:solidFill>
          <a:ln/>
        </p:spPr>
      </p:sp>
      <p:sp>
        <p:nvSpPr>
          <p:cNvPr id="7" name="Text 5"/>
          <p:cNvSpPr txBox="1"/>
          <p:nvPr/>
        </p:nvSpPr>
        <p:spPr>
          <a:xfrm>
            <a:off x="1417320" y="1783080"/>
            <a:ext cx="4480560" cy="914400"/>
          </a:xfrm>
          <a:prstGeom prst="rect">
            <a:avLst/>
          </a:prstGeom>
          <a:noFill/>
          <a:ln/>
        </p:spPr>
        <p:txBody>
          <a:bodyPr wrap="square" lIns="0" tIns="0" rIns="0" bIns="0" rtlCol="0" anchor="ctr"/>
          <a:lstStyle/>
          <a:p>
            <a:pPr indent="0" marL="0">
              <a:buNone/>
            </a:pPr>
            <a:r>
              <a:rPr lang="en-US" sz="1700" b="1" dirty="0">
                <a:solidFill>
                  <a:srgbClr val="1E1B4B"/>
                </a:solidFill>
                <a:latin typeface="Arial" pitchFamily="34" charset="0"/>
                <a:ea typeface="Arial" pitchFamily="34" charset="-122"/>
                <a:cs typeface="Arial" pitchFamily="34" charset="-120"/>
              </a:rPr>
              <a:t>API</a:t>
            </a:r>
            <a:endParaRPr lang="en-US" sz="1700" dirty="0"/>
          </a:p>
          <a:p>
            <a:pPr indent="0" marL="0">
              <a:buNone/>
            </a:pPr>
            <a:r>
              <a:rPr lang="en-US" sz="1300" dirty="0">
                <a:solidFill>
                  <a:srgbClr val="1E1B4B"/>
                </a:solidFill>
                <a:latin typeface="Arial" pitchFamily="34" charset="0"/>
                <a:ea typeface="Arial" pitchFamily="34" charset="-122"/>
                <a:cs typeface="Arial" pitchFamily="34" charset="-120"/>
              </a:rPr>
              <a:t>Controllerlar, ChatHub (SignalR), middleware</a:t>
            </a:r>
            <a:endParaRPr lang="en-US" sz="1700" dirty="0"/>
          </a:p>
        </p:txBody>
      </p:sp>
      <p:sp>
        <p:nvSpPr>
          <p:cNvPr id="8" name="Shape 6"/>
          <p:cNvSpPr/>
          <p:nvPr/>
        </p:nvSpPr>
        <p:spPr>
          <a:xfrm>
            <a:off x="1188720" y="2862072"/>
            <a:ext cx="4846320" cy="914400"/>
          </a:xfrm>
          <a:prstGeom prst="roundRect">
            <a:avLst>
              <a:gd name="adj" fmla="val 10000"/>
            </a:avLst>
          </a:prstGeom>
          <a:solidFill>
            <a:srgbClr val="C7D2FE"/>
          </a:solidFill>
          <a:ln/>
        </p:spPr>
      </p:sp>
      <p:sp>
        <p:nvSpPr>
          <p:cNvPr id="9" name="Text 7"/>
          <p:cNvSpPr txBox="1"/>
          <p:nvPr/>
        </p:nvSpPr>
        <p:spPr>
          <a:xfrm>
            <a:off x="1417320" y="2862072"/>
            <a:ext cx="4480560" cy="914400"/>
          </a:xfrm>
          <a:prstGeom prst="rect">
            <a:avLst/>
          </a:prstGeom>
          <a:noFill/>
          <a:ln/>
        </p:spPr>
        <p:txBody>
          <a:bodyPr wrap="square" lIns="0" tIns="0" rIns="0" bIns="0" rtlCol="0" anchor="ctr"/>
          <a:lstStyle/>
          <a:p>
            <a:pPr indent="0" marL="0">
              <a:buNone/>
            </a:pPr>
            <a:r>
              <a:rPr lang="en-US" sz="1700" b="1" dirty="0">
                <a:solidFill>
                  <a:srgbClr val="1E1B4B"/>
                </a:solidFill>
                <a:latin typeface="Arial" pitchFamily="34" charset="0"/>
                <a:ea typeface="Arial" pitchFamily="34" charset="-122"/>
                <a:cs typeface="Arial" pitchFamily="34" charset="-120"/>
              </a:rPr>
              <a:t>Infrastructure</a:t>
            </a:r>
            <a:endParaRPr lang="en-US" sz="1700" dirty="0"/>
          </a:p>
          <a:p>
            <a:pPr indent="0" marL="0">
              <a:buNone/>
            </a:pPr>
            <a:r>
              <a:rPr lang="en-US" sz="1300" dirty="0">
                <a:solidFill>
                  <a:srgbClr val="1E1B4B"/>
                </a:solidFill>
                <a:latin typeface="Arial" pitchFamily="34" charset="0"/>
                <a:ea typeface="Arial" pitchFamily="34" charset="-122"/>
                <a:cs typeface="Arial" pitchFamily="34" charset="-120"/>
              </a:rPr>
              <a:t>EF Core, JWT, PBKDF2 / HMAC, SMTP, ClamAV, Redis</a:t>
            </a:r>
            <a:endParaRPr lang="en-US" sz="1700" dirty="0"/>
          </a:p>
        </p:txBody>
      </p:sp>
      <p:sp>
        <p:nvSpPr>
          <p:cNvPr id="10" name="Shape 8"/>
          <p:cNvSpPr/>
          <p:nvPr/>
        </p:nvSpPr>
        <p:spPr>
          <a:xfrm>
            <a:off x="1188720" y="3941064"/>
            <a:ext cx="4846320" cy="914400"/>
          </a:xfrm>
          <a:prstGeom prst="roundRect">
            <a:avLst>
              <a:gd name="adj" fmla="val 10000"/>
            </a:avLst>
          </a:prstGeom>
          <a:solidFill>
            <a:srgbClr val="A5B4FC"/>
          </a:solidFill>
          <a:ln/>
        </p:spPr>
      </p:sp>
      <p:sp>
        <p:nvSpPr>
          <p:cNvPr id="11" name="Text 9"/>
          <p:cNvSpPr txBox="1"/>
          <p:nvPr/>
        </p:nvSpPr>
        <p:spPr>
          <a:xfrm>
            <a:off x="1417320" y="3941064"/>
            <a:ext cx="4480560" cy="914400"/>
          </a:xfrm>
          <a:prstGeom prst="rect">
            <a:avLst/>
          </a:prstGeom>
          <a:noFill/>
          <a:ln/>
        </p:spPr>
        <p:txBody>
          <a:bodyPr wrap="square" lIns="0" tIns="0" rIns="0" bIns="0" rtlCol="0" anchor="ctr"/>
          <a:lstStyle/>
          <a:p>
            <a:pPr indent="0" marL="0">
              <a:buNone/>
            </a:pPr>
            <a:r>
              <a:rPr lang="en-US" sz="1700" b="1" dirty="0">
                <a:solidFill>
                  <a:srgbClr val="1E1B4B"/>
                </a:solidFill>
                <a:latin typeface="Arial" pitchFamily="34" charset="0"/>
                <a:ea typeface="Arial" pitchFamily="34" charset="-122"/>
                <a:cs typeface="Arial" pitchFamily="34" charset="-120"/>
              </a:rPr>
              <a:t>Application</a:t>
            </a:r>
            <a:endParaRPr lang="en-US" sz="1700" dirty="0"/>
          </a:p>
          <a:p>
            <a:pPr indent="0" marL="0">
              <a:buNone/>
            </a:pPr>
            <a:r>
              <a:rPr lang="en-US" sz="1300" dirty="0">
                <a:solidFill>
                  <a:srgbClr val="1E1B4B"/>
                </a:solidFill>
                <a:latin typeface="Arial" pitchFamily="34" charset="0"/>
                <a:ea typeface="Arial" pitchFamily="34" charset="-122"/>
                <a:cs typeface="Arial" pitchFamily="34" charset="-120"/>
              </a:rPr>
              <a:t>Servislar, DTO, FluentValidation, portlar</a:t>
            </a:r>
            <a:endParaRPr lang="en-US" sz="1700" dirty="0"/>
          </a:p>
        </p:txBody>
      </p:sp>
      <p:sp>
        <p:nvSpPr>
          <p:cNvPr id="12" name="Shape 10"/>
          <p:cNvSpPr/>
          <p:nvPr/>
        </p:nvSpPr>
        <p:spPr>
          <a:xfrm>
            <a:off x="1188720" y="5020056"/>
            <a:ext cx="4846320" cy="914400"/>
          </a:xfrm>
          <a:prstGeom prst="roundRect">
            <a:avLst>
              <a:gd name="adj" fmla="val 10000"/>
            </a:avLst>
          </a:prstGeom>
          <a:solidFill>
            <a:srgbClr val="4F46E5"/>
          </a:solidFill>
          <a:ln/>
        </p:spPr>
      </p:sp>
      <p:sp>
        <p:nvSpPr>
          <p:cNvPr id="13" name="Text 11"/>
          <p:cNvSpPr txBox="1"/>
          <p:nvPr/>
        </p:nvSpPr>
        <p:spPr>
          <a:xfrm>
            <a:off x="1417320" y="5020056"/>
            <a:ext cx="4480560" cy="9144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Domain</a:t>
            </a:r>
            <a:endParaRPr lang="en-US" sz="1700" dirty="0"/>
          </a:p>
          <a:p>
            <a:pPr indent="0" marL="0">
              <a:buNone/>
            </a:pPr>
            <a:r>
              <a:rPr lang="en-US" sz="1300" dirty="0">
                <a:solidFill>
                  <a:srgbClr val="FFFFFF"/>
                </a:solidFill>
                <a:latin typeface="Arial" pitchFamily="34" charset="0"/>
                <a:ea typeface="Arial" pitchFamily="34" charset="-122"/>
                <a:cs typeface="Arial" pitchFamily="34" charset="-120"/>
              </a:rPr>
              <a:t>User, Chat, Message, Group, Story …</a:t>
            </a:r>
            <a:endParaRPr lang="en-US" sz="1700" dirty="0"/>
          </a:p>
        </p:txBody>
      </p:sp>
      <p:sp>
        <p:nvSpPr>
          <p:cNvPr id="14" name="Shape 12"/>
          <p:cNvSpPr/>
          <p:nvPr/>
        </p:nvSpPr>
        <p:spPr>
          <a:xfrm>
            <a:off x="548640" y="1828800"/>
            <a:ext cx="411480" cy="4114800"/>
          </a:xfrm>
          <a:prstGeom prst="downArrow">
            <a:avLst/>
          </a:prstGeom>
          <a:solidFill>
            <a:srgbClr val="E0E7FF"/>
          </a:solidFill>
          <a:ln/>
        </p:spPr>
      </p:sp>
      <p:sp>
        <p:nvSpPr>
          <p:cNvPr id="15" name="Text 13"/>
          <p:cNvSpPr txBox="1"/>
          <p:nvPr/>
        </p:nvSpPr>
        <p:spPr>
          <a:xfrm rot="16200000">
            <a:off x="-1234440" y="3703320"/>
            <a:ext cx="3977640" cy="320040"/>
          </a:xfrm>
          <a:prstGeom prst="rect">
            <a:avLst/>
          </a:prstGeom>
          <a:noFill/>
          <a:ln/>
        </p:spPr>
        <p:txBody>
          <a:bodyPr wrap="square" lIns="0" tIns="0" rIns="0" bIns="0" rtlCol="0" anchor="ctr"/>
          <a:lstStyle/>
          <a:p>
            <a:pPr algn="ctr" indent="0" marL="0">
              <a:buNone/>
            </a:pPr>
            <a:r>
              <a:rPr lang="en-US" sz="1100" dirty="0">
                <a:solidFill>
                  <a:srgbClr val="1E1B4B"/>
                </a:solidFill>
                <a:latin typeface="Arial" pitchFamily="34" charset="0"/>
                <a:ea typeface="Arial" pitchFamily="34" charset="-122"/>
                <a:cs typeface="Arial" pitchFamily="34" charset="-120"/>
              </a:rPr>
              <a:t>bog‘liqlik ichkariga</a:t>
            </a:r>
            <a:endParaRPr lang="en-US" sz="1100" dirty="0"/>
          </a:p>
        </p:txBody>
      </p:sp>
      <p:sp>
        <p:nvSpPr>
          <p:cNvPr id="16" name="Text 14"/>
          <p:cNvSpPr txBox="1"/>
          <p:nvPr/>
        </p:nvSpPr>
        <p:spPr>
          <a:xfrm>
            <a:off x="6492240" y="1325880"/>
            <a:ext cx="5150815" cy="365760"/>
          </a:xfrm>
          <a:prstGeom prst="rect">
            <a:avLst/>
          </a:prstGeom>
          <a:noFill/>
          <a:ln/>
        </p:spPr>
        <p:txBody>
          <a:bodyPr wrap="square" lIns="0" tIns="0" rIns="0" bIns="0" rtlCol="0" anchor="ctr"/>
          <a:lstStyle/>
          <a:p>
            <a:pPr indent="0" marL="0">
              <a:buNone/>
            </a:pPr>
            <a:r>
              <a:rPr lang="en-US" sz="1500" b="1" dirty="0">
                <a:solidFill>
                  <a:srgbClr val="6B7280"/>
                </a:solidFill>
                <a:latin typeface="Arial" pitchFamily="34" charset="0"/>
                <a:ea typeface="Arial" pitchFamily="34" charset="-122"/>
                <a:cs typeface="Arial" pitchFamily="34" charset="-120"/>
              </a:rPr>
              <a:t>Joylashtirish diagrammasi</a:t>
            </a:r>
            <a:endParaRPr lang="en-US" sz="1500" dirty="0"/>
          </a:p>
        </p:txBody>
      </p:sp>
      <p:sp>
        <p:nvSpPr>
          <p:cNvPr id="17" name="Shape 15"/>
          <p:cNvSpPr/>
          <p:nvPr/>
        </p:nvSpPr>
        <p:spPr>
          <a:xfrm>
            <a:off x="6492240" y="1783080"/>
            <a:ext cx="5150815" cy="2280514"/>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8" name="Image 0" descr="C:\Users\Sardor\Desktop\diplom ish\diplom\generator\rasmlar\2-2-deployment.png">    </p:cNvPr>
          <p:cNvPicPr>
            <a:picLocks noChangeAspect="1"/>
          </p:cNvPicPr>
          <p:nvPr/>
        </p:nvPicPr>
        <p:blipFill>
          <a:blip r:embed="rId1"/>
          <a:stretch>
            <a:fillRect/>
          </a:stretch>
        </p:blipFill>
        <p:spPr>
          <a:xfrm>
            <a:off x="6492240" y="1783080"/>
            <a:ext cx="5150815" cy="2280514"/>
          </a:xfrm>
          <a:prstGeom prst="rect">
            <a:avLst/>
          </a:prstGeom>
        </p:spPr>
      </p:pic>
      <p:sp>
        <p:nvSpPr>
          <p:cNvPr id="19" name="Text 16"/>
          <p:cNvSpPr txBox="1"/>
          <p:nvPr/>
        </p:nvSpPr>
        <p:spPr>
          <a:xfrm>
            <a:off x="6492240" y="4434840"/>
            <a:ext cx="5150815" cy="365760"/>
          </a:xfrm>
          <a:prstGeom prst="rect">
            <a:avLst/>
          </a:prstGeom>
          <a:noFill/>
          <a:ln/>
        </p:spPr>
        <p:txBody>
          <a:bodyPr wrap="square" lIns="0" tIns="0" rIns="0" bIns="0" rtlCol="0" anchor="ctr"/>
          <a:lstStyle/>
          <a:p>
            <a:pPr indent="0" marL="0">
              <a:buNone/>
            </a:pPr>
            <a:r>
              <a:rPr lang="en-US" sz="1500" b="1" dirty="0">
                <a:solidFill>
                  <a:srgbClr val="6B7280"/>
                </a:solidFill>
                <a:latin typeface="Arial" pitchFamily="34" charset="0"/>
                <a:ea typeface="Arial" pitchFamily="34" charset="-122"/>
                <a:cs typeface="Arial" pitchFamily="34" charset="-120"/>
              </a:rPr>
              <a:t>Klient (Angular) tuzilmasi</a:t>
            </a:r>
            <a:endParaRPr lang="en-US" sz="1500" dirty="0"/>
          </a:p>
        </p:txBody>
      </p:sp>
      <p:sp>
        <p:nvSpPr>
          <p:cNvPr id="20" name="Text 17"/>
          <p:cNvSpPr txBox="1"/>
          <p:nvPr/>
        </p:nvSpPr>
        <p:spPr>
          <a:xfrm>
            <a:off x="6492240" y="4846320"/>
            <a:ext cx="5150815" cy="12801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F2937"/>
                </a:solidFill>
                <a:latin typeface="Arial" pitchFamily="34" charset="0"/>
                <a:ea typeface="Arial" pitchFamily="34" charset="-122"/>
                <a:cs typeface="Arial" pitchFamily="34" charset="-120"/>
              </a:rPr>
              <a:t>features/* — har bir bo‘lim alohida: auth, chat, groups, stories</a:t>
            </a:r>
            <a:endParaRPr lang="en-US" sz="1400" dirty="0"/>
          </a:p>
          <a:p>
            <a:pPr marL="342900" indent="-342900">
              <a:spcAft>
                <a:spcPts val="600"/>
              </a:spcAft>
              <a:buSzPct val="100000"/>
              <a:buChar char="•"/>
            </a:pPr>
            <a:r>
              <a:rPr lang="en-US" sz="1400" dirty="0">
                <a:solidFill>
                  <a:srgbClr val="1F2937"/>
                </a:solidFill>
                <a:latin typeface="Arial" pitchFamily="34" charset="0"/>
                <a:ea typeface="Arial" pitchFamily="34" charset="-122"/>
                <a:cs typeface="Arial" pitchFamily="34" charset="-120"/>
              </a:rPr>
              <a:t>data-access — HTTP va SignalR servislari</a:t>
            </a:r>
            <a:endParaRPr lang="en-US" sz="1400" dirty="0"/>
          </a:p>
          <a:p>
            <a:pPr marL="342900" indent="-342900">
              <a:spcAft>
                <a:spcPts val="600"/>
              </a:spcAft>
              <a:buSzPct val="100000"/>
              <a:buChar char="•"/>
            </a:pPr>
            <a:r>
              <a:rPr lang="en-US" sz="1400" dirty="0">
                <a:solidFill>
                  <a:srgbClr val="1F2937"/>
                </a:solidFill>
                <a:latin typeface="Arial" pitchFamily="34" charset="0"/>
                <a:ea typeface="Arial" pitchFamily="34" charset="-122"/>
                <a:cs typeface="Arial" pitchFamily="34" charset="-120"/>
              </a:rPr>
              <a:t>signals asosida holat, SSR bilan tez ochilish</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Ma’lumotlar bazasini loyihalash</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9 / 20</a:t>
            </a:r>
            <a:endParaRPr lang="en-US" sz="1000" dirty="0"/>
          </a:p>
        </p:txBody>
      </p:sp>
      <p:sp>
        <p:nvSpPr>
          <p:cNvPr id="5" name="Shape 3"/>
          <p:cNvSpPr/>
          <p:nvPr/>
        </p:nvSpPr>
        <p:spPr>
          <a:xfrm>
            <a:off x="548640" y="1371600"/>
            <a:ext cx="7772400" cy="450409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6" name="Image 0" descr="C:\Users\Sardor\Desktop\diplom ish\diplom\generator\rasmlar\2-4-er-users-chats.png">    </p:cNvPr>
          <p:cNvPicPr>
            <a:picLocks noChangeAspect="1"/>
          </p:cNvPicPr>
          <p:nvPr/>
        </p:nvPicPr>
        <p:blipFill>
          <a:blip r:embed="rId1"/>
          <a:stretch>
            <a:fillRect/>
          </a:stretch>
        </p:blipFill>
        <p:spPr>
          <a:xfrm>
            <a:off x="548640" y="1371600"/>
            <a:ext cx="7772400" cy="4504090"/>
          </a:xfrm>
          <a:prstGeom prst="rect">
            <a:avLst/>
          </a:prstGeom>
        </p:spPr>
      </p:pic>
      <p:sp>
        <p:nvSpPr>
          <p:cNvPr id="7" name="Shape 4"/>
          <p:cNvSpPr/>
          <p:nvPr/>
        </p:nvSpPr>
        <p:spPr>
          <a:xfrm>
            <a:off x="8686800" y="1371600"/>
            <a:ext cx="2956255" cy="1417320"/>
          </a:xfrm>
          <a:prstGeom prst="roundRect">
            <a:avLst>
              <a:gd name="adj" fmla="val 7742"/>
            </a:avLst>
          </a:prstGeom>
          <a:solidFill>
            <a:srgbClr val="EEF2FF"/>
          </a:solidFill>
          <a:ln/>
        </p:spPr>
      </p:sp>
      <p:sp>
        <p:nvSpPr>
          <p:cNvPr id="8" name="Text 5"/>
          <p:cNvSpPr txBox="1"/>
          <p:nvPr/>
        </p:nvSpPr>
        <p:spPr>
          <a:xfrm>
            <a:off x="8915400" y="1508760"/>
            <a:ext cx="2499055" cy="594360"/>
          </a:xfrm>
          <a:prstGeom prst="rect">
            <a:avLst/>
          </a:prstGeom>
          <a:noFill/>
          <a:ln/>
        </p:spPr>
        <p:txBody>
          <a:bodyPr wrap="square" lIns="0" tIns="0" rIns="0" bIns="0" rtlCol="0" anchor="ctr"/>
          <a:lstStyle/>
          <a:p>
            <a:pPr indent="0" marL="0">
              <a:buNone/>
            </a:pPr>
            <a:r>
              <a:rPr lang="en-US" sz="3200" b="1" dirty="0">
                <a:solidFill>
                  <a:srgbClr val="4F46E5"/>
                </a:solidFill>
                <a:latin typeface="Arial" pitchFamily="34" charset="0"/>
                <a:ea typeface="Arial" pitchFamily="34" charset="-122"/>
                <a:cs typeface="Arial" pitchFamily="34" charset="-120"/>
              </a:rPr>
              <a:t>9</a:t>
            </a:r>
            <a:endParaRPr lang="en-US" sz="3200" dirty="0"/>
          </a:p>
        </p:txBody>
      </p:sp>
      <p:sp>
        <p:nvSpPr>
          <p:cNvPr id="9" name="Text 6"/>
          <p:cNvSpPr txBox="1"/>
          <p:nvPr/>
        </p:nvSpPr>
        <p:spPr>
          <a:xfrm>
            <a:off x="8915400" y="2084832"/>
            <a:ext cx="2499055" cy="274320"/>
          </a:xfrm>
          <a:prstGeom prst="rect">
            <a:avLst/>
          </a:prstGeom>
          <a:noFill/>
          <a:ln/>
        </p:spPr>
        <p:txBody>
          <a:bodyPr wrap="square" lIns="0" tIns="0" rIns="0" bIns="0" rtlCol="0" anchor="ctr"/>
          <a:lstStyle/>
          <a:p>
            <a:pPr indent="0" marL="0">
              <a:buNone/>
            </a:pPr>
            <a:r>
              <a:rPr lang="en-US" sz="1400" b="1" dirty="0">
                <a:solidFill>
                  <a:srgbClr val="1E1B4B"/>
                </a:solidFill>
                <a:latin typeface="Arial" pitchFamily="34" charset="0"/>
                <a:ea typeface="Arial" pitchFamily="34" charset="-122"/>
                <a:cs typeface="Arial" pitchFamily="34" charset="-120"/>
              </a:rPr>
              <a:t>sxema</a:t>
            </a:r>
            <a:endParaRPr lang="en-US" sz="1400" dirty="0"/>
          </a:p>
        </p:txBody>
      </p:sp>
      <p:sp>
        <p:nvSpPr>
          <p:cNvPr id="10" name="Text 7"/>
          <p:cNvSpPr txBox="1"/>
          <p:nvPr/>
        </p:nvSpPr>
        <p:spPr>
          <a:xfrm>
            <a:off x="8915400" y="2359152"/>
            <a:ext cx="2499055" cy="320040"/>
          </a:xfrm>
          <a:prstGeom prst="rect">
            <a:avLst/>
          </a:prstGeom>
          <a:noFill/>
          <a:ln/>
        </p:spPr>
        <p:txBody>
          <a:bodyPr wrap="square" lIns="0" tIns="0" rIns="0" bIns="0" rtlCol="0" anchor="ctr"/>
          <a:lstStyle/>
          <a:p>
            <a:pPr indent="0" marL="0">
              <a:buNone/>
            </a:pPr>
            <a:r>
              <a:rPr lang="en-US" sz="1100" dirty="0">
                <a:solidFill>
                  <a:srgbClr val="6B7280"/>
                </a:solidFill>
                <a:latin typeface="Arial" pitchFamily="34" charset="0"/>
                <a:ea typeface="Arial" pitchFamily="34" charset="-122"/>
                <a:cs typeface="Arial" pitchFamily="34" charset="-120"/>
              </a:rPr>
              <a:t>identity, messaging, groups, stories …</a:t>
            </a:r>
            <a:endParaRPr lang="en-US" sz="1100" dirty="0"/>
          </a:p>
        </p:txBody>
      </p:sp>
      <p:sp>
        <p:nvSpPr>
          <p:cNvPr id="11" name="Shape 8"/>
          <p:cNvSpPr/>
          <p:nvPr/>
        </p:nvSpPr>
        <p:spPr>
          <a:xfrm>
            <a:off x="8686800" y="2971800"/>
            <a:ext cx="2956255" cy="1417320"/>
          </a:xfrm>
          <a:prstGeom prst="roundRect">
            <a:avLst>
              <a:gd name="adj" fmla="val 7742"/>
            </a:avLst>
          </a:prstGeom>
          <a:solidFill>
            <a:srgbClr val="EEF2FF"/>
          </a:solidFill>
          <a:ln/>
        </p:spPr>
      </p:sp>
      <p:sp>
        <p:nvSpPr>
          <p:cNvPr id="12" name="Text 9"/>
          <p:cNvSpPr txBox="1"/>
          <p:nvPr/>
        </p:nvSpPr>
        <p:spPr>
          <a:xfrm>
            <a:off x="8915400" y="3108960"/>
            <a:ext cx="2499055" cy="594360"/>
          </a:xfrm>
          <a:prstGeom prst="rect">
            <a:avLst/>
          </a:prstGeom>
          <a:noFill/>
          <a:ln/>
        </p:spPr>
        <p:txBody>
          <a:bodyPr wrap="square" lIns="0" tIns="0" rIns="0" bIns="0" rtlCol="0" anchor="ctr"/>
          <a:lstStyle/>
          <a:p>
            <a:pPr indent="0" marL="0">
              <a:buNone/>
            </a:pPr>
            <a:r>
              <a:rPr lang="en-US" sz="3200" b="1" dirty="0">
                <a:solidFill>
                  <a:srgbClr val="4F46E5"/>
                </a:solidFill>
                <a:latin typeface="Arial" pitchFamily="34" charset="0"/>
                <a:ea typeface="Arial" pitchFamily="34" charset="-122"/>
                <a:cs typeface="Arial" pitchFamily="34" charset="-120"/>
              </a:rPr>
              <a:t>32</a:t>
            </a:r>
            <a:endParaRPr lang="en-US" sz="3200" dirty="0"/>
          </a:p>
        </p:txBody>
      </p:sp>
      <p:sp>
        <p:nvSpPr>
          <p:cNvPr id="13" name="Text 10"/>
          <p:cNvSpPr txBox="1"/>
          <p:nvPr/>
        </p:nvSpPr>
        <p:spPr>
          <a:xfrm>
            <a:off x="8915400" y="3685032"/>
            <a:ext cx="2499055" cy="274320"/>
          </a:xfrm>
          <a:prstGeom prst="rect">
            <a:avLst/>
          </a:prstGeom>
          <a:noFill/>
          <a:ln/>
        </p:spPr>
        <p:txBody>
          <a:bodyPr wrap="square" lIns="0" tIns="0" rIns="0" bIns="0" rtlCol="0" anchor="ctr"/>
          <a:lstStyle/>
          <a:p>
            <a:pPr indent="0" marL="0">
              <a:buNone/>
            </a:pPr>
            <a:r>
              <a:rPr lang="en-US" sz="1400" b="1" dirty="0">
                <a:solidFill>
                  <a:srgbClr val="1E1B4B"/>
                </a:solidFill>
                <a:latin typeface="Arial" pitchFamily="34" charset="0"/>
                <a:ea typeface="Arial" pitchFamily="34" charset="-122"/>
                <a:cs typeface="Arial" pitchFamily="34" charset="-120"/>
              </a:rPr>
              <a:t>jadval</a:t>
            </a:r>
            <a:endParaRPr lang="en-US" sz="1400" dirty="0"/>
          </a:p>
        </p:txBody>
      </p:sp>
      <p:sp>
        <p:nvSpPr>
          <p:cNvPr id="14" name="Text 11"/>
          <p:cNvSpPr txBox="1"/>
          <p:nvPr/>
        </p:nvSpPr>
        <p:spPr>
          <a:xfrm>
            <a:off x="8915400" y="3959352"/>
            <a:ext cx="2499055" cy="320040"/>
          </a:xfrm>
          <a:prstGeom prst="rect">
            <a:avLst/>
          </a:prstGeom>
          <a:noFill/>
          <a:ln/>
        </p:spPr>
        <p:txBody>
          <a:bodyPr wrap="square" lIns="0" tIns="0" rIns="0" bIns="0" rtlCol="0" anchor="ctr"/>
          <a:lstStyle/>
          <a:p>
            <a:pPr indent="0" marL="0">
              <a:buNone/>
            </a:pPr>
            <a:r>
              <a:rPr lang="en-US" sz="1100" dirty="0">
                <a:solidFill>
                  <a:srgbClr val="6B7280"/>
                </a:solidFill>
                <a:latin typeface="Arial" pitchFamily="34" charset="0"/>
                <a:ea typeface="Arial" pitchFamily="34" charset="-122"/>
                <a:cs typeface="Arial" pitchFamily="34" charset="-120"/>
              </a:rPr>
              <a:t>kelajakdagi kanallar va botlar uchun ham</a:t>
            </a:r>
            <a:endParaRPr lang="en-US" sz="1100" dirty="0"/>
          </a:p>
        </p:txBody>
      </p:sp>
      <p:sp>
        <p:nvSpPr>
          <p:cNvPr id="15" name="Shape 12"/>
          <p:cNvSpPr/>
          <p:nvPr/>
        </p:nvSpPr>
        <p:spPr>
          <a:xfrm>
            <a:off x="8686800" y="4572000"/>
            <a:ext cx="2956255" cy="1417320"/>
          </a:xfrm>
          <a:prstGeom prst="roundRect">
            <a:avLst>
              <a:gd name="adj" fmla="val 7742"/>
            </a:avLst>
          </a:prstGeom>
          <a:solidFill>
            <a:srgbClr val="EEF2FF"/>
          </a:solidFill>
          <a:ln/>
        </p:spPr>
      </p:sp>
      <p:sp>
        <p:nvSpPr>
          <p:cNvPr id="16" name="Text 13"/>
          <p:cNvSpPr txBox="1"/>
          <p:nvPr/>
        </p:nvSpPr>
        <p:spPr>
          <a:xfrm>
            <a:off x="8915400" y="4709160"/>
            <a:ext cx="2499055" cy="594360"/>
          </a:xfrm>
          <a:prstGeom prst="rect">
            <a:avLst/>
          </a:prstGeom>
          <a:noFill/>
          <a:ln/>
        </p:spPr>
        <p:txBody>
          <a:bodyPr wrap="square" lIns="0" tIns="0" rIns="0" bIns="0" rtlCol="0" anchor="ctr"/>
          <a:lstStyle/>
          <a:p>
            <a:pPr indent="0" marL="0">
              <a:buNone/>
            </a:pPr>
            <a:r>
              <a:rPr lang="en-US" sz="3200" b="1" dirty="0">
                <a:solidFill>
                  <a:srgbClr val="4F46E5"/>
                </a:solidFill>
                <a:latin typeface="Arial" pitchFamily="34" charset="0"/>
                <a:ea typeface="Arial" pitchFamily="34" charset="-122"/>
                <a:cs typeface="Arial" pitchFamily="34" charset="-120"/>
              </a:rPr>
              <a:t>Keyset</a:t>
            </a:r>
            <a:endParaRPr lang="en-US" sz="3200" dirty="0"/>
          </a:p>
        </p:txBody>
      </p:sp>
      <p:sp>
        <p:nvSpPr>
          <p:cNvPr id="17" name="Text 14"/>
          <p:cNvSpPr txBox="1"/>
          <p:nvPr/>
        </p:nvSpPr>
        <p:spPr>
          <a:xfrm>
            <a:off x="8915400" y="5285232"/>
            <a:ext cx="2499055" cy="274320"/>
          </a:xfrm>
          <a:prstGeom prst="rect">
            <a:avLst/>
          </a:prstGeom>
          <a:noFill/>
          <a:ln/>
        </p:spPr>
        <p:txBody>
          <a:bodyPr wrap="square" lIns="0" tIns="0" rIns="0" bIns="0" rtlCol="0" anchor="ctr"/>
          <a:lstStyle/>
          <a:p>
            <a:pPr indent="0" marL="0">
              <a:buNone/>
            </a:pPr>
            <a:r>
              <a:rPr lang="en-US" sz="1400" b="1" dirty="0">
                <a:solidFill>
                  <a:srgbClr val="1E1B4B"/>
                </a:solidFill>
                <a:latin typeface="Arial" pitchFamily="34" charset="0"/>
                <a:ea typeface="Arial" pitchFamily="34" charset="-122"/>
                <a:cs typeface="Arial" pitchFamily="34" charset="-120"/>
              </a:rPr>
              <a:t>kursorli sahifalash</a:t>
            </a:r>
            <a:endParaRPr lang="en-US" sz="1400" dirty="0"/>
          </a:p>
        </p:txBody>
      </p:sp>
      <p:sp>
        <p:nvSpPr>
          <p:cNvPr id="18" name="Text 15"/>
          <p:cNvSpPr txBox="1"/>
          <p:nvPr/>
        </p:nvSpPr>
        <p:spPr>
          <a:xfrm>
            <a:off x="8915400" y="5559552"/>
            <a:ext cx="2499055" cy="320040"/>
          </a:xfrm>
          <a:prstGeom prst="rect">
            <a:avLst/>
          </a:prstGeom>
          <a:noFill/>
          <a:ln/>
        </p:spPr>
        <p:txBody>
          <a:bodyPr wrap="square" lIns="0" tIns="0" rIns="0" bIns="0" rtlCol="0" anchor="ctr"/>
          <a:lstStyle/>
          <a:p>
            <a:pPr indent="0" marL="0">
              <a:buNone/>
            </a:pPr>
            <a:r>
              <a:rPr lang="en-US" sz="1100" dirty="0">
                <a:solidFill>
                  <a:srgbClr val="6B7280"/>
                </a:solidFill>
                <a:latin typeface="Arial" pitchFamily="34" charset="0"/>
                <a:ea typeface="Arial" pitchFamily="34" charset="-122"/>
                <a:cs typeface="Arial" pitchFamily="34" charset="-120"/>
              </a:rPr>
              <a:t>beforeId + limit (1–100), totalCount siz</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Xavfsizlik va autentifikatsiya</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10 / 20</a:t>
            </a:r>
            <a:endParaRPr lang="en-US" sz="1000" dirty="0"/>
          </a:p>
        </p:txBody>
      </p:sp>
      <p:sp>
        <p:nvSpPr>
          <p:cNvPr id="5" name="Shape 3"/>
          <p:cNvSpPr/>
          <p:nvPr/>
        </p:nvSpPr>
        <p:spPr>
          <a:xfrm>
            <a:off x="548640" y="1417320"/>
            <a:ext cx="457200" cy="457200"/>
          </a:xfrm>
          <a:prstGeom prst="ellipse">
            <a:avLst/>
          </a:prstGeom>
          <a:solidFill>
            <a:srgbClr val="4F46E5"/>
          </a:solidFill>
          <a:ln/>
        </p:spPr>
      </p:sp>
      <p:sp>
        <p:nvSpPr>
          <p:cNvPr id="6" name="Text 4"/>
          <p:cNvSpPr txBox="1"/>
          <p:nvPr/>
        </p:nvSpPr>
        <p:spPr>
          <a:xfrm>
            <a:off x="548640" y="14173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txBox="1"/>
          <p:nvPr/>
        </p:nvSpPr>
        <p:spPr>
          <a:xfrm>
            <a:off x="1188720" y="1380744"/>
            <a:ext cx="5120640" cy="320040"/>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Elektron pochtaga 6 xonali kod</a:t>
            </a:r>
            <a:endParaRPr lang="en-US" sz="1600" dirty="0"/>
          </a:p>
        </p:txBody>
      </p:sp>
      <p:sp>
        <p:nvSpPr>
          <p:cNvPr id="8" name="Text 6"/>
          <p:cNvSpPr txBox="1"/>
          <p:nvPr/>
        </p:nvSpPr>
        <p:spPr>
          <a:xfrm>
            <a:off x="1188720" y="1709928"/>
            <a:ext cx="5120640" cy="457200"/>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Bazada faqat PBKDF2 xeshi saqlanadi, parol umuman yo‘q</a:t>
            </a:r>
            <a:endParaRPr lang="en-US" sz="1300" dirty="0"/>
          </a:p>
        </p:txBody>
      </p:sp>
      <p:sp>
        <p:nvSpPr>
          <p:cNvPr id="9" name="Shape 7"/>
          <p:cNvSpPr/>
          <p:nvPr/>
        </p:nvSpPr>
        <p:spPr>
          <a:xfrm>
            <a:off x="548640" y="2331720"/>
            <a:ext cx="457200" cy="457200"/>
          </a:xfrm>
          <a:prstGeom prst="ellipse">
            <a:avLst/>
          </a:prstGeom>
          <a:solidFill>
            <a:srgbClr val="4F46E5"/>
          </a:solidFill>
          <a:ln/>
        </p:spPr>
      </p:sp>
      <p:sp>
        <p:nvSpPr>
          <p:cNvPr id="10" name="Text 8"/>
          <p:cNvSpPr txBox="1"/>
          <p:nvPr/>
        </p:nvSpPr>
        <p:spPr>
          <a:xfrm>
            <a:off x="548640" y="23317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1" name="Text 9"/>
          <p:cNvSpPr txBox="1"/>
          <p:nvPr/>
        </p:nvSpPr>
        <p:spPr>
          <a:xfrm>
            <a:off x="1188720" y="2295144"/>
            <a:ext cx="5120640" cy="320040"/>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Yoki Google hisobi orqali</a:t>
            </a:r>
            <a:endParaRPr lang="en-US" sz="1600" dirty="0"/>
          </a:p>
        </p:txBody>
      </p:sp>
      <p:sp>
        <p:nvSpPr>
          <p:cNvPr id="12" name="Text 10"/>
          <p:cNvSpPr txBox="1"/>
          <p:nvPr/>
        </p:nvSpPr>
        <p:spPr>
          <a:xfrm>
            <a:off x="1188720" y="2624328"/>
            <a:ext cx="5120640" cy="457200"/>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Google ID tokeni serverda tekshiriladi</a:t>
            </a:r>
            <a:endParaRPr lang="en-US" sz="1300" dirty="0"/>
          </a:p>
        </p:txBody>
      </p:sp>
      <p:sp>
        <p:nvSpPr>
          <p:cNvPr id="13" name="Shape 11"/>
          <p:cNvSpPr/>
          <p:nvPr/>
        </p:nvSpPr>
        <p:spPr>
          <a:xfrm>
            <a:off x="548640" y="3246120"/>
            <a:ext cx="457200" cy="457200"/>
          </a:xfrm>
          <a:prstGeom prst="ellipse">
            <a:avLst/>
          </a:prstGeom>
          <a:solidFill>
            <a:srgbClr val="4F46E5"/>
          </a:solidFill>
          <a:ln/>
        </p:spPr>
      </p:sp>
      <p:sp>
        <p:nvSpPr>
          <p:cNvPr id="14" name="Text 12"/>
          <p:cNvSpPr txBox="1"/>
          <p:nvPr/>
        </p:nvSpPr>
        <p:spPr>
          <a:xfrm>
            <a:off x="548640" y="3246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5" name="Text 13"/>
          <p:cNvSpPr txBox="1"/>
          <p:nvPr/>
        </p:nvSpPr>
        <p:spPr>
          <a:xfrm>
            <a:off x="1188720" y="3209544"/>
            <a:ext cx="5120640" cy="320040"/>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JWT access token — 15 daqiqa</a:t>
            </a:r>
            <a:endParaRPr lang="en-US" sz="1600" dirty="0"/>
          </a:p>
        </p:txBody>
      </p:sp>
      <p:sp>
        <p:nvSpPr>
          <p:cNvPr id="16" name="Text 14"/>
          <p:cNvSpPr txBox="1"/>
          <p:nvPr/>
        </p:nvSpPr>
        <p:spPr>
          <a:xfrm>
            <a:off x="1188720" y="3538728"/>
            <a:ext cx="5120640" cy="457200"/>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Har bir API so‘rovi va SignalR ulanishida tekshiriladi</a:t>
            </a:r>
            <a:endParaRPr lang="en-US" sz="1300" dirty="0"/>
          </a:p>
        </p:txBody>
      </p:sp>
      <p:sp>
        <p:nvSpPr>
          <p:cNvPr id="17" name="Shape 15"/>
          <p:cNvSpPr/>
          <p:nvPr/>
        </p:nvSpPr>
        <p:spPr>
          <a:xfrm>
            <a:off x="548640" y="4160520"/>
            <a:ext cx="457200" cy="457200"/>
          </a:xfrm>
          <a:prstGeom prst="ellipse">
            <a:avLst/>
          </a:prstGeom>
          <a:solidFill>
            <a:srgbClr val="4F46E5"/>
          </a:solidFill>
          <a:ln/>
        </p:spPr>
      </p:sp>
      <p:sp>
        <p:nvSpPr>
          <p:cNvPr id="18" name="Text 16"/>
          <p:cNvSpPr txBox="1"/>
          <p:nvPr/>
        </p:nvSpPr>
        <p:spPr>
          <a:xfrm>
            <a:off x="548640" y="41605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19" name="Text 17"/>
          <p:cNvSpPr txBox="1"/>
          <p:nvPr/>
        </p:nvSpPr>
        <p:spPr>
          <a:xfrm>
            <a:off x="1188720" y="4123944"/>
            <a:ext cx="5120640" cy="320040"/>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Refresh token — 30 kun, rotatsiya</a:t>
            </a:r>
            <a:endParaRPr lang="en-US" sz="1600" dirty="0"/>
          </a:p>
        </p:txBody>
      </p:sp>
      <p:sp>
        <p:nvSpPr>
          <p:cNvPr id="20" name="Text 18"/>
          <p:cNvSpPr txBox="1"/>
          <p:nvPr/>
        </p:nvSpPr>
        <p:spPr>
          <a:xfrm>
            <a:off x="1188720" y="4453128"/>
            <a:ext cx="5120640" cy="457200"/>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HttpOnly cookie’da, bazada HMAC xeshi; har safar almashadi</a:t>
            </a:r>
            <a:endParaRPr lang="en-US" sz="1300" dirty="0"/>
          </a:p>
        </p:txBody>
      </p:sp>
      <p:sp>
        <p:nvSpPr>
          <p:cNvPr id="21" name="Shape 19"/>
          <p:cNvSpPr/>
          <p:nvPr/>
        </p:nvSpPr>
        <p:spPr>
          <a:xfrm>
            <a:off x="548640" y="5074920"/>
            <a:ext cx="457200" cy="457200"/>
          </a:xfrm>
          <a:prstGeom prst="ellipse">
            <a:avLst/>
          </a:prstGeom>
          <a:solidFill>
            <a:srgbClr val="4F46E5"/>
          </a:solidFill>
          <a:ln/>
        </p:spPr>
      </p:sp>
      <p:sp>
        <p:nvSpPr>
          <p:cNvPr id="22" name="Text 20"/>
          <p:cNvSpPr txBox="1"/>
          <p:nvPr/>
        </p:nvSpPr>
        <p:spPr>
          <a:xfrm>
            <a:off x="548640" y="5074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3" name="Text 21"/>
          <p:cNvSpPr txBox="1"/>
          <p:nvPr/>
        </p:nvSpPr>
        <p:spPr>
          <a:xfrm>
            <a:off x="1188720" y="5038344"/>
            <a:ext cx="5120640" cy="320040"/>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Qurilmalar bo‘yicha sessiyalar</a:t>
            </a:r>
            <a:endParaRPr lang="en-US" sz="1600" dirty="0"/>
          </a:p>
        </p:txBody>
      </p:sp>
      <p:sp>
        <p:nvSpPr>
          <p:cNvPr id="24" name="Text 22"/>
          <p:cNvSpPr txBox="1"/>
          <p:nvPr/>
        </p:nvSpPr>
        <p:spPr>
          <a:xfrm>
            <a:off x="1188720" y="5367528"/>
            <a:ext cx="5120640" cy="457200"/>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Bitta yoki boshqa barcha sessiyalarni yakunlash mumkin</a:t>
            </a:r>
            <a:endParaRPr lang="en-US" sz="1300" dirty="0"/>
          </a:p>
        </p:txBody>
      </p:sp>
      <p:sp>
        <p:nvSpPr>
          <p:cNvPr id="25" name="Shape 23"/>
          <p:cNvSpPr/>
          <p:nvPr/>
        </p:nvSpPr>
        <p:spPr>
          <a:xfrm>
            <a:off x="6675120" y="1371600"/>
            <a:ext cx="4967935" cy="3513789"/>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26" name="Image 0" descr="C:\Users\Sardor\Desktop\diplom ish\diplom\generator\rasmlar\2-10-token-lifecycle.png">    </p:cNvPr>
          <p:cNvPicPr>
            <a:picLocks noChangeAspect="1"/>
          </p:cNvPicPr>
          <p:nvPr/>
        </p:nvPicPr>
        <p:blipFill>
          <a:blip r:embed="rId1"/>
          <a:stretch>
            <a:fillRect/>
          </a:stretch>
        </p:blipFill>
        <p:spPr>
          <a:xfrm>
            <a:off x="6675120" y="1371600"/>
            <a:ext cx="4967935" cy="3513789"/>
          </a:xfrm>
          <a:prstGeom prst="rect">
            <a:avLst/>
          </a:prstGeom>
        </p:spPr>
      </p:pic>
      <p:sp>
        <p:nvSpPr>
          <p:cNvPr id="27" name="Shape 24"/>
          <p:cNvSpPr/>
          <p:nvPr/>
        </p:nvSpPr>
        <p:spPr>
          <a:xfrm>
            <a:off x="6675120" y="5166360"/>
            <a:ext cx="384048" cy="384048"/>
          </a:xfrm>
          <a:prstGeom prst="ellipse">
            <a:avLst/>
          </a:prstGeom>
          <a:solidFill>
            <a:srgbClr val="4F46E5"/>
          </a:solidFill>
          <a:ln/>
        </p:spPr>
      </p:sp>
      <p:pic>
        <p:nvPicPr>
          <p:cNvPr id="28" name="Image 1" descr="C:\Users\Sardor\Desktop\diplom ish\diplom\generator\slides-cache\icons\shield-check-FFFFFF.png">    </p:cNvPr>
          <p:cNvPicPr>
            <a:picLocks noChangeAspect="1"/>
          </p:cNvPicPr>
          <p:nvPr/>
        </p:nvPicPr>
        <p:blipFill>
          <a:blip r:embed="rId2"/>
          <a:stretch>
            <a:fillRect/>
          </a:stretch>
        </p:blipFill>
        <p:spPr>
          <a:xfrm>
            <a:off x="6771132" y="5262372"/>
            <a:ext cx="192024" cy="192024"/>
          </a:xfrm>
          <a:prstGeom prst="rect">
            <a:avLst/>
          </a:prstGeom>
        </p:spPr>
      </p:pic>
      <p:sp>
        <p:nvSpPr>
          <p:cNvPr id="29" name="Text 25"/>
          <p:cNvSpPr txBox="1"/>
          <p:nvPr/>
        </p:nvSpPr>
        <p:spPr>
          <a:xfrm>
            <a:off x="7178040" y="5166360"/>
            <a:ext cx="4465015" cy="384048"/>
          </a:xfrm>
          <a:prstGeom prst="rect">
            <a:avLst/>
          </a:prstGeom>
          <a:noFill/>
          <a:ln/>
        </p:spPr>
        <p:txBody>
          <a:bodyPr wrap="square" lIns="0" tIns="0" rIns="0" bIns="0" rtlCol="0" anchor="ctr"/>
          <a:lstStyle/>
          <a:p>
            <a:pPr indent="0" marL="0">
              <a:buNone/>
            </a:pPr>
            <a:r>
              <a:rPr lang="en-US" sz="1300" dirty="0">
                <a:solidFill>
                  <a:srgbClr val="1F2937"/>
                </a:solidFill>
                <a:latin typeface="Arial" pitchFamily="34" charset="0"/>
                <a:ea typeface="Arial" pitchFamily="34" charset="-122"/>
                <a:cs typeface="Arial" pitchFamily="34" charset="-120"/>
              </a:rPr>
              <a:t>Har so‘rovda chat a’zoligi tekshiriladi</a:t>
            </a:r>
            <a:endParaRPr lang="en-US" sz="1300" dirty="0"/>
          </a:p>
        </p:txBody>
      </p:sp>
      <p:sp>
        <p:nvSpPr>
          <p:cNvPr id="30" name="Shape 26"/>
          <p:cNvSpPr/>
          <p:nvPr/>
        </p:nvSpPr>
        <p:spPr>
          <a:xfrm>
            <a:off x="6675120" y="5669280"/>
            <a:ext cx="384048" cy="384048"/>
          </a:xfrm>
          <a:prstGeom prst="ellipse">
            <a:avLst/>
          </a:prstGeom>
          <a:solidFill>
            <a:srgbClr val="4F46E5"/>
          </a:solidFill>
          <a:ln/>
        </p:spPr>
      </p:sp>
      <p:pic>
        <p:nvPicPr>
          <p:cNvPr id="31" name="Image 2" descr="C:\Users\Sardor\Desktop\diplom ish\diplom\generator\slides-cache\icons\lock-keyhole-FFFFFF.png">    </p:cNvPr>
          <p:cNvPicPr>
            <a:picLocks noChangeAspect="1"/>
          </p:cNvPicPr>
          <p:nvPr/>
        </p:nvPicPr>
        <p:blipFill>
          <a:blip r:embed="rId3"/>
          <a:stretch>
            <a:fillRect/>
          </a:stretch>
        </p:blipFill>
        <p:spPr>
          <a:xfrm>
            <a:off x="6771132" y="5765292"/>
            <a:ext cx="192024" cy="192024"/>
          </a:xfrm>
          <a:prstGeom prst="rect">
            <a:avLst/>
          </a:prstGeom>
        </p:spPr>
      </p:pic>
      <p:sp>
        <p:nvSpPr>
          <p:cNvPr id="32" name="Text 27"/>
          <p:cNvSpPr txBox="1"/>
          <p:nvPr/>
        </p:nvSpPr>
        <p:spPr>
          <a:xfrm>
            <a:off x="7178040" y="5669280"/>
            <a:ext cx="4465015" cy="384048"/>
          </a:xfrm>
          <a:prstGeom prst="rect">
            <a:avLst/>
          </a:prstGeom>
          <a:noFill/>
          <a:ln/>
        </p:spPr>
        <p:txBody>
          <a:bodyPr wrap="square" lIns="0" tIns="0" rIns="0" bIns="0" rtlCol="0" anchor="ctr"/>
          <a:lstStyle/>
          <a:p>
            <a:pPr indent="0" marL="0">
              <a:buNone/>
            </a:pPr>
            <a:r>
              <a:rPr lang="en-US" sz="1300" dirty="0">
                <a:solidFill>
                  <a:srgbClr val="1F2937"/>
                </a:solidFill>
                <a:latin typeface="Arial" pitchFamily="34" charset="0"/>
                <a:ea typeface="Arial" pitchFamily="34" charset="-122"/>
                <a:cs typeface="Arial" pitchFamily="34" charset="-120"/>
              </a:rPr>
              <a:t>Fayllar ClamAV antivirusidan o‘tadi</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Real vaqtda xabar yuborish jarayoni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11 / 20</a:t>
            </a:r>
            <a:endParaRPr lang="en-US" sz="1000" dirty="0"/>
          </a:p>
        </p:txBody>
      </p:sp>
      <p:sp>
        <p:nvSpPr>
          <p:cNvPr id="5" name="Shape 3"/>
          <p:cNvSpPr/>
          <p:nvPr/>
        </p:nvSpPr>
        <p:spPr>
          <a:xfrm>
            <a:off x="1519869" y="1325880"/>
            <a:ext cx="9151957" cy="416052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6" name="Image 0" descr="C:\Users\Sardor\Desktop\diplom ish\diplom\generator\rasmlar\2-8-message-sequence.png">    </p:cNvPr>
          <p:cNvPicPr>
            <a:picLocks noChangeAspect="1"/>
          </p:cNvPicPr>
          <p:nvPr/>
        </p:nvPicPr>
        <p:blipFill>
          <a:blip r:embed="rId1"/>
          <a:stretch>
            <a:fillRect/>
          </a:stretch>
        </p:blipFill>
        <p:spPr>
          <a:xfrm>
            <a:off x="1519869" y="1325880"/>
            <a:ext cx="9151957" cy="4160520"/>
          </a:xfrm>
          <a:prstGeom prst="rect">
            <a:avLst/>
          </a:prstGeom>
        </p:spPr>
      </p:pic>
      <p:sp>
        <p:nvSpPr>
          <p:cNvPr id="7" name="Shape 4"/>
          <p:cNvSpPr/>
          <p:nvPr/>
        </p:nvSpPr>
        <p:spPr>
          <a:xfrm>
            <a:off x="548640" y="5623560"/>
            <a:ext cx="3515258" cy="566928"/>
          </a:xfrm>
          <a:prstGeom prst="roundRect">
            <a:avLst>
              <a:gd name="adj" fmla="val 19355"/>
            </a:avLst>
          </a:prstGeom>
          <a:solidFill>
            <a:srgbClr val="EEF2FF"/>
          </a:solidFill>
          <a:ln/>
        </p:spPr>
      </p:sp>
      <p:sp>
        <p:nvSpPr>
          <p:cNvPr id="8" name="Shape 5"/>
          <p:cNvSpPr/>
          <p:nvPr/>
        </p:nvSpPr>
        <p:spPr>
          <a:xfrm>
            <a:off x="658368" y="5678424"/>
            <a:ext cx="457200" cy="457200"/>
          </a:xfrm>
          <a:prstGeom prst="ellipse">
            <a:avLst/>
          </a:prstGeom>
          <a:solidFill>
            <a:srgbClr val="4F46E5"/>
          </a:solidFill>
          <a:ln/>
        </p:spPr>
      </p:sp>
      <p:sp>
        <p:nvSpPr>
          <p:cNvPr id="9" name="Text 6"/>
          <p:cNvSpPr txBox="1"/>
          <p:nvPr/>
        </p:nvSpPr>
        <p:spPr>
          <a:xfrm>
            <a:off x="658368" y="567842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0" name="Text 7"/>
          <p:cNvSpPr txBox="1"/>
          <p:nvPr/>
        </p:nvSpPr>
        <p:spPr>
          <a:xfrm>
            <a:off x="1234440" y="5623560"/>
            <a:ext cx="2738018" cy="566928"/>
          </a:xfrm>
          <a:prstGeom prst="rect">
            <a:avLst/>
          </a:prstGeom>
          <a:noFill/>
          <a:ln/>
        </p:spPr>
        <p:txBody>
          <a:bodyPr wrap="square" lIns="0" tIns="0" rIns="0" bIns="0" rtlCol="0" anchor="ctr"/>
          <a:lstStyle/>
          <a:p>
            <a:pPr indent="0" marL="0">
              <a:buNone/>
            </a:pPr>
            <a:r>
              <a:rPr lang="en-US" sz="1300" dirty="0">
                <a:solidFill>
                  <a:srgbClr val="1E1B4B"/>
                </a:solidFill>
                <a:latin typeface="Arial" pitchFamily="34" charset="0"/>
                <a:ea typeface="Arial" pitchFamily="34" charset="-122"/>
                <a:cs typeface="Arial" pitchFamily="34" charset="-120"/>
              </a:rPr>
              <a:t>REST: xabar tekshirilib, bazaga yoziladi</a:t>
            </a:r>
            <a:endParaRPr lang="en-US" sz="1300" dirty="0"/>
          </a:p>
        </p:txBody>
      </p:sp>
      <p:sp>
        <p:nvSpPr>
          <p:cNvPr id="11" name="Shape 8"/>
          <p:cNvSpPr/>
          <p:nvPr/>
        </p:nvSpPr>
        <p:spPr>
          <a:xfrm>
            <a:off x="4338218" y="5623560"/>
            <a:ext cx="3515258" cy="566928"/>
          </a:xfrm>
          <a:prstGeom prst="roundRect">
            <a:avLst>
              <a:gd name="adj" fmla="val 19355"/>
            </a:avLst>
          </a:prstGeom>
          <a:solidFill>
            <a:srgbClr val="EEF2FF"/>
          </a:solidFill>
          <a:ln/>
        </p:spPr>
      </p:sp>
      <p:sp>
        <p:nvSpPr>
          <p:cNvPr id="12" name="Shape 9"/>
          <p:cNvSpPr/>
          <p:nvPr/>
        </p:nvSpPr>
        <p:spPr>
          <a:xfrm>
            <a:off x="4447946" y="5678424"/>
            <a:ext cx="457200" cy="457200"/>
          </a:xfrm>
          <a:prstGeom prst="ellipse">
            <a:avLst/>
          </a:prstGeom>
          <a:solidFill>
            <a:srgbClr val="4F46E5"/>
          </a:solidFill>
          <a:ln/>
        </p:spPr>
      </p:sp>
      <p:sp>
        <p:nvSpPr>
          <p:cNvPr id="13" name="Text 10"/>
          <p:cNvSpPr txBox="1"/>
          <p:nvPr/>
        </p:nvSpPr>
        <p:spPr>
          <a:xfrm>
            <a:off x="4447946" y="567842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4" name="Text 11"/>
          <p:cNvSpPr txBox="1"/>
          <p:nvPr/>
        </p:nvSpPr>
        <p:spPr>
          <a:xfrm>
            <a:off x="5024018" y="5623560"/>
            <a:ext cx="2738018" cy="566928"/>
          </a:xfrm>
          <a:prstGeom prst="rect">
            <a:avLst/>
          </a:prstGeom>
          <a:noFill/>
          <a:ln/>
        </p:spPr>
        <p:txBody>
          <a:bodyPr wrap="square" lIns="0" tIns="0" rIns="0" bIns="0" rtlCol="0" anchor="ctr"/>
          <a:lstStyle/>
          <a:p>
            <a:pPr indent="0" marL="0">
              <a:buNone/>
            </a:pPr>
            <a:r>
              <a:rPr lang="en-US" sz="1300" dirty="0">
                <a:solidFill>
                  <a:srgbClr val="1E1B4B"/>
                </a:solidFill>
                <a:latin typeface="Arial" pitchFamily="34" charset="0"/>
                <a:ea typeface="Arial" pitchFamily="34" charset="-122"/>
                <a:cs typeface="Arial" pitchFamily="34" charset="-120"/>
              </a:rPr>
              <a:t>ChatHub: chat a’zolariga darhol yuboriladi</a:t>
            </a:r>
            <a:endParaRPr lang="en-US" sz="1300" dirty="0"/>
          </a:p>
        </p:txBody>
      </p:sp>
      <p:sp>
        <p:nvSpPr>
          <p:cNvPr id="15" name="Shape 12"/>
          <p:cNvSpPr/>
          <p:nvPr/>
        </p:nvSpPr>
        <p:spPr>
          <a:xfrm>
            <a:off x="8127797" y="5623560"/>
            <a:ext cx="3515258" cy="566928"/>
          </a:xfrm>
          <a:prstGeom prst="roundRect">
            <a:avLst>
              <a:gd name="adj" fmla="val 19355"/>
            </a:avLst>
          </a:prstGeom>
          <a:solidFill>
            <a:srgbClr val="EEF2FF"/>
          </a:solidFill>
          <a:ln/>
        </p:spPr>
      </p:sp>
      <p:sp>
        <p:nvSpPr>
          <p:cNvPr id="16" name="Shape 13"/>
          <p:cNvSpPr/>
          <p:nvPr/>
        </p:nvSpPr>
        <p:spPr>
          <a:xfrm>
            <a:off x="8237525" y="5678424"/>
            <a:ext cx="457200" cy="457200"/>
          </a:xfrm>
          <a:prstGeom prst="ellipse">
            <a:avLst/>
          </a:prstGeom>
          <a:solidFill>
            <a:srgbClr val="4F46E5"/>
          </a:solidFill>
          <a:ln/>
        </p:spPr>
      </p:sp>
      <p:sp>
        <p:nvSpPr>
          <p:cNvPr id="17" name="Text 14"/>
          <p:cNvSpPr txBox="1"/>
          <p:nvPr/>
        </p:nvSpPr>
        <p:spPr>
          <a:xfrm>
            <a:off x="8237525" y="567842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8" name="Text 15"/>
          <p:cNvSpPr txBox="1"/>
          <p:nvPr/>
        </p:nvSpPr>
        <p:spPr>
          <a:xfrm>
            <a:off x="8813597" y="5623560"/>
            <a:ext cx="2738018" cy="566928"/>
          </a:xfrm>
          <a:prstGeom prst="rect">
            <a:avLst/>
          </a:prstGeom>
          <a:noFill/>
          <a:ln/>
        </p:spPr>
        <p:txBody>
          <a:bodyPr wrap="square" lIns="0" tIns="0" rIns="0" bIns="0" rtlCol="0" anchor="ctr"/>
          <a:lstStyle/>
          <a:p>
            <a:pPr indent="0" marL="0">
              <a:buNone/>
            </a:pPr>
            <a:r>
              <a:rPr lang="en-US" sz="1300" dirty="0">
                <a:solidFill>
                  <a:srgbClr val="1E1B4B"/>
                </a:solidFill>
                <a:latin typeface="Arial" pitchFamily="34" charset="0"/>
                <a:ea typeface="Arial" pitchFamily="34" charset="-122"/>
                <a:cs typeface="Arial" pitchFamily="34" charset="-120"/>
              </a:rPr>
              <a:t>O‘qildi ✓✓ va “yozmoqda…” belgilari</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Dastur interfeysi: tizimga kirish</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12 / 20</a:t>
            </a:r>
            <a:endParaRPr lang="en-US" sz="1000" dirty="0"/>
          </a:p>
        </p:txBody>
      </p:sp>
      <p:sp>
        <p:nvSpPr>
          <p:cNvPr id="5" name="Shape 3"/>
          <p:cNvSpPr/>
          <p:nvPr/>
        </p:nvSpPr>
        <p:spPr>
          <a:xfrm>
            <a:off x="1078361" y="1463040"/>
            <a:ext cx="2455817" cy="274320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6" name="Image 0" descr="C:\Users\Sardor\Desktop\diplom ish\diplom\generator\rasmlar\3-01-login.jpg">    </p:cNvPr>
          <p:cNvPicPr>
            <a:picLocks noChangeAspect="1"/>
          </p:cNvPicPr>
          <p:nvPr/>
        </p:nvPicPr>
        <p:blipFill>
          <a:blip r:embed="rId1"/>
          <a:srcRect l="3000" r="50000" t="4000" b="12000"/>
          <a:stretch/>
        </p:blipFill>
        <p:spPr>
          <a:xfrm>
            <a:off x="1078361" y="1463040"/>
            <a:ext cx="2455817" cy="2743200"/>
          </a:xfrm>
          <a:prstGeom prst="rect">
            <a:avLst/>
          </a:prstGeom>
        </p:spPr>
      </p:pic>
      <p:sp>
        <p:nvSpPr>
          <p:cNvPr id="7" name="Shape 4"/>
          <p:cNvSpPr/>
          <p:nvPr/>
        </p:nvSpPr>
        <p:spPr>
          <a:xfrm>
            <a:off x="895481" y="1325880"/>
            <a:ext cx="457200" cy="457200"/>
          </a:xfrm>
          <a:prstGeom prst="ellipse">
            <a:avLst/>
          </a:prstGeom>
          <a:solidFill>
            <a:srgbClr val="4F46E5"/>
          </a:solidFill>
          <a:ln/>
        </p:spPr>
      </p:sp>
      <p:sp>
        <p:nvSpPr>
          <p:cNvPr id="8" name="Text 5"/>
          <p:cNvSpPr txBox="1"/>
          <p:nvPr/>
        </p:nvSpPr>
        <p:spPr>
          <a:xfrm>
            <a:off x="895481" y="1325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9" name="Text 6"/>
          <p:cNvSpPr txBox="1"/>
          <p:nvPr/>
        </p:nvSpPr>
        <p:spPr>
          <a:xfrm>
            <a:off x="548640" y="4343400"/>
            <a:ext cx="3515258" cy="320040"/>
          </a:xfrm>
          <a:prstGeom prst="rect">
            <a:avLst/>
          </a:prstGeom>
          <a:noFill/>
          <a:ln/>
        </p:spPr>
        <p:txBody>
          <a:bodyPr wrap="square" lIns="0" tIns="0" rIns="0" bIns="0" rtlCol="0" anchor="ctr"/>
          <a:lstStyle/>
          <a:p>
            <a:pPr algn="ctr" indent="0" marL="0">
              <a:buNone/>
            </a:pPr>
            <a:r>
              <a:rPr lang="en-US" sz="1600" b="1" dirty="0">
                <a:solidFill>
                  <a:srgbClr val="1E1B4B"/>
                </a:solidFill>
                <a:latin typeface="Arial" pitchFamily="34" charset="0"/>
                <a:ea typeface="Arial" pitchFamily="34" charset="-122"/>
                <a:cs typeface="Arial" pitchFamily="34" charset="-120"/>
              </a:rPr>
              <a:t>Kirish</a:t>
            </a:r>
            <a:endParaRPr lang="en-US" sz="1600" dirty="0"/>
          </a:p>
        </p:txBody>
      </p:sp>
      <p:sp>
        <p:nvSpPr>
          <p:cNvPr id="10" name="Text 7"/>
          <p:cNvSpPr txBox="1"/>
          <p:nvPr/>
        </p:nvSpPr>
        <p:spPr>
          <a:xfrm>
            <a:off x="548640" y="4663440"/>
            <a:ext cx="3515258" cy="548640"/>
          </a:xfrm>
          <a:prstGeom prst="rect">
            <a:avLst/>
          </a:prstGeom>
          <a:noFill/>
          <a:ln/>
        </p:spPr>
        <p:txBody>
          <a:bodyPr wrap="square" lIns="0" tIns="0" rIns="0" bIns="0" rtlCol="0" anchor="t"/>
          <a:lstStyle/>
          <a:p>
            <a:pPr algn="ctr" indent="0" marL="0">
              <a:buNone/>
            </a:pPr>
            <a:r>
              <a:rPr lang="en-US" sz="1300" dirty="0">
                <a:solidFill>
                  <a:srgbClr val="6B7280"/>
                </a:solidFill>
                <a:latin typeface="Arial" pitchFamily="34" charset="0"/>
                <a:ea typeface="Arial" pitchFamily="34" charset="-122"/>
                <a:cs typeface="Arial" pitchFamily="34" charset="-120"/>
              </a:rPr>
              <a:t>E-pochta manzilini kiritish yoki Google orqali kirish</a:t>
            </a:r>
            <a:endParaRPr lang="en-US" sz="1300" dirty="0"/>
          </a:p>
        </p:txBody>
      </p:sp>
      <p:sp>
        <p:nvSpPr>
          <p:cNvPr id="11" name="Shape 8"/>
          <p:cNvSpPr/>
          <p:nvPr/>
        </p:nvSpPr>
        <p:spPr>
          <a:xfrm>
            <a:off x="4867939" y="1463040"/>
            <a:ext cx="2455817" cy="274320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2" name="Image 1" descr="C:\Users\Sardor\Desktop\diplom ish\diplom\generator\rasmlar\3-02-otp.jpg">    </p:cNvPr>
          <p:cNvPicPr>
            <a:picLocks noChangeAspect="1"/>
          </p:cNvPicPr>
          <p:nvPr/>
        </p:nvPicPr>
        <p:blipFill>
          <a:blip r:embed="rId2"/>
          <a:srcRect l="3000" r="50000" t="4000" b="12000"/>
          <a:stretch/>
        </p:blipFill>
        <p:spPr>
          <a:xfrm>
            <a:off x="4867939" y="1463040"/>
            <a:ext cx="2455817" cy="2743200"/>
          </a:xfrm>
          <a:prstGeom prst="rect">
            <a:avLst/>
          </a:prstGeom>
        </p:spPr>
      </p:pic>
      <p:sp>
        <p:nvSpPr>
          <p:cNvPr id="13" name="Shape 9"/>
          <p:cNvSpPr/>
          <p:nvPr/>
        </p:nvSpPr>
        <p:spPr>
          <a:xfrm>
            <a:off x="4685059" y="1325880"/>
            <a:ext cx="457200" cy="457200"/>
          </a:xfrm>
          <a:prstGeom prst="ellipse">
            <a:avLst/>
          </a:prstGeom>
          <a:solidFill>
            <a:srgbClr val="4F46E5"/>
          </a:solidFill>
          <a:ln/>
        </p:spPr>
      </p:sp>
      <p:sp>
        <p:nvSpPr>
          <p:cNvPr id="14" name="Text 10"/>
          <p:cNvSpPr txBox="1"/>
          <p:nvPr/>
        </p:nvSpPr>
        <p:spPr>
          <a:xfrm>
            <a:off x="4685059" y="1325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5" name="Text 11"/>
          <p:cNvSpPr txBox="1"/>
          <p:nvPr/>
        </p:nvSpPr>
        <p:spPr>
          <a:xfrm>
            <a:off x="4338218" y="4343400"/>
            <a:ext cx="3515258" cy="320040"/>
          </a:xfrm>
          <a:prstGeom prst="rect">
            <a:avLst/>
          </a:prstGeom>
          <a:noFill/>
          <a:ln/>
        </p:spPr>
        <p:txBody>
          <a:bodyPr wrap="square" lIns="0" tIns="0" rIns="0" bIns="0" rtlCol="0" anchor="ctr"/>
          <a:lstStyle/>
          <a:p>
            <a:pPr algn="ctr" indent="0" marL="0">
              <a:buNone/>
            </a:pPr>
            <a:r>
              <a:rPr lang="en-US" sz="1600" b="1" dirty="0">
                <a:solidFill>
                  <a:srgbClr val="1E1B4B"/>
                </a:solidFill>
                <a:latin typeface="Arial" pitchFamily="34" charset="0"/>
                <a:ea typeface="Arial" pitchFamily="34" charset="-122"/>
                <a:cs typeface="Arial" pitchFamily="34" charset="-120"/>
              </a:rPr>
              <a:t>Tasdiqlash kodi</a:t>
            </a:r>
            <a:endParaRPr lang="en-US" sz="1600" dirty="0"/>
          </a:p>
        </p:txBody>
      </p:sp>
      <p:sp>
        <p:nvSpPr>
          <p:cNvPr id="16" name="Text 12"/>
          <p:cNvSpPr txBox="1"/>
          <p:nvPr/>
        </p:nvSpPr>
        <p:spPr>
          <a:xfrm>
            <a:off x="4338218" y="4663440"/>
            <a:ext cx="3515258" cy="548640"/>
          </a:xfrm>
          <a:prstGeom prst="rect">
            <a:avLst/>
          </a:prstGeom>
          <a:noFill/>
          <a:ln/>
        </p:spPr>
        <p:txBody>
          <a:bodyPr wrap="square" lIns="0" tIns="0" rIns="0" bIns="0" rtlCol="0" anchor="t"/>
          <a:lstStyle/>
          <a:p>
            <a:pPr algn="ctr" indent="0" marL="0">
              <a:buNone/>
            </a:pPr>
            <a:r>
              <a:rPr lang="en-US" sz="1300" dirty="0">
                <a:solidFill>
                  <a:srgbClr val="6B7280"/>
                </a:solidFill>
                <a:latin typeface="Arial" pitchFamily="34" charset="0"/>
                <a:ea typeface="Arial" pitchFamily="34" charset="-122"/>
                <a:cs typeface="Arial" pitchFamily="34" charset="-120"/>
              </a:rPr>
              <a:t>6 xonali bir martalik kod pochtaga yuboriladi</a:t>
            </a:r>
            <a:endParaRPr lang="en-US" sz="1300" dirty="0"/>
          </a:p>
        </p:txBody>
      </p:sp>
      <p:sp>
        <p:nvSpPr>
          <p:cNvPr id="17" name="Shape 13"/>
          <p:cNvSpPr/>
          <p:nvPr/>
        </p:nvSpPr>
        <p:spPr>
          <a:xfrm>
            <a:off x="8657517" y="1463040"/>
            <a:ext cx="2455817" cy="274320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8" name="Image 2" descr="C:\Users\Sardor\Desktop\diplom ish\diplom\generator\rasmlar\3-03-register.jpg">    </p:cNvPr>
          <p:cNvPicPr>
            <a:picLocks noChangeAspect="1"/>
          </p:cNvPicPr>
          <p:nvPr/>
        </p:nvPicPr>
        <p:blipFill>
          <a:blip r:embed="rId3"/>
          <a:srcRect l="3000" r="50000" t="4000" b="12000"/>
          <a:stretch/>
        </p:blipFill>
        <p:spPr>
          <a:xfrm>
            <a:off x="8657517" y="1463040"/>
            <a:ext cx="2455817" cy="2743200"/>
          </a:xfrm>
          <a:prstGeom prst="rect">
            <a:avLst/>
          </a:prstGeom>
        </p:spPr>
      </p:pic>
      <p:sp>
        <p:nvSpPr>
          <p:cNvPr id="19" name="Shape 14"/>
          <p:cNvSpPr/>
          <p:nvPr/>
        </p:nvSpPr>
        <p:spPr>
          <a:xfrm>
            <a:off x="8474637" y="1325880"/>
            <a:ext cx="457200" cy="457200"/>
          </a:xfrm>
          <a:prstGeom prst="ellipse">
            <a:avLst/>
          </a:prstGeom>
          <a:solidFill>
            <a:srgbClr val="4F46E5"/>
          </a:solidFill>
          <a:ln/>
        </p:spPr>
      </p:sp>
      <p:sp>
        <p:nvSpPr>
          <p:cNvPr id="20" name="Text 15"/>
          <p:cNvSpPr txBox="1"/>
          <p:nvPr/>
        </p:nvSpPr>
        <p:spPr>
          <a:xfrm>
            <a:off x="8474637" y="1325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1" name="Text 16"/>
          <p:cNvSpPr txBox="1"/>
          <p:nvPr/>
        </p:nvSpPr>
        <p:spPr>
          <a:xfrm>
            <a:off x="8127797" y="4343400"/>
            <a:ext cx="3515258" cy="320040"/>
          </a:xfrm>
          <a:prstGeom prst="rect">
            <a:avLst/>
          </a:prstGeom>
          <a:noFill/>
          <a:ln/>
        </p:spPr>
        <p:txBody>
          <a:bodyPr wrap="square" lIns="0" tIns="0" rIns="0" bIns="0" rtlCol="0" anchor="ctr"/>
          <a:lstStyle/>
          <a:p>
            <a:pPr algn="ctr" indent="0" marL="0">
              <a:buNone/>
            </a:pPr>
            <a:r>
              <a:rPr lang="en-US" sz="1600" b="1" dirty="0">
                <a:solidFill>
                  <a:srgbClr val="1E1B4B"/>
                </a:solidFill>
                <a:latin typeface="Arial" pitchFamily="34" charset="0"/>
                <a:ea typeface="Arial" pitchFamily="34" charset="-122"/>
                <a:cs typeface="Arial" pitchFamily="34" charset="-120"/>
              </a:rPr>
              <a:t>Ro‘yxatdan o‘tish</a:t>
            </a:r>
            <a:endParaRPr lang="en-US" sz="1600" dirty="0"/>
          </a:p>
        </p:txBody>
      </p:sp>
      <p:sp>
        <p:nvSpPr>
          <p:cNvPr id="22" name="Text 17"/>
          <p:cNvSpPr txBox="1"/>
          <p:nvPr/>
        </p:nvSpPr>
        <p:spPr>
          <a:xfrm>
            <a:off x="8127797" y="4663440"/>
            <a:ext cx="3515258" cy="548640"/>
          </a:xfrm>
          <a:prstGeom prst="rect">
            <a:avLst/>
          </a:prstGeom>
          <a:noFill/>
          <a:ln/>
        </p:spPr>
        <p:txBody>
          <a:bodyPr wrap="square" lIns="0" tIns="0" rIns="0" bIns="0" rtlCol="0" anchor="t"/>
          <a:lstStyle/>
          <a:p>
            <a:pPr algn="ctr" indent="0" marL="0">
              <a:buNone/>
            </a:pPr>
            <a:r>
              <a:rPr lang="en-US" sz="1300" dirty="0">
                <a:solidFill>
                  <a:srgbClr val="6B7280"/>
                </a:solidFill>
                <a:latin typeface="Arial" pitchFamily="34" charset="0"/>
                <a:ea typeface="Arial" pitchFamily="34" charset="-122"/>
                <a:cs typeface="Arial" pitchFamily="34" charset="-120"/>
              </a:rPr>
              <a:t>Yangi foydalanuvchi ismi va username’ini kiritadi</a:t>
            </a:r>
            <a:endParaRPr lang="en-US" sz="1300" dirty="0"/>
          </a:p>
        </p:txBody>
      </p:sp>
      <p:sp>
        <p:nvSpPr>
          <p:cNvPr id="23" name="Shape 18"/>
          <p:cNvSpPr/>
          <p:nvPr/>
        </p:nvSpPr>
        <p:spPr>
          <a:xfrm>
            <a:off x="548640" y="5349240"/>
            <a:ext cx="11094415" cy="731520"/>
          </a:xfrm>
          <a:prstGeom prst="roundRect">
            <a:avLst>
              <a:gd name="adj" fmla="val 15000"/>
            </a:avLst>
          </a:prstGeom>
          <a:solidFill>
            <a:srgbClr val="EEF2FF"/>
          </a:solidFill>
          <a:ln/>
        </p:spPr>
      </p:sp>
      <p:sp>
        <p:nvSpPr>
          <p:cNvPr id="24" name="Shape 19"/>
          <p:cNvSpPr/>
          <p:nvPr/>
        </p:nvSpPr>
        <p:spPr>
          <a:xfrm>
            <a:off x="777240" y="5458968"/>
            <a:ext cx="512064" cy="512064"/>
          </a:xfrm>
          <a:prstGeom prst="ellipse">
            <a:avLst/>
          </a:prstGeom>
          <a:solidFill>
            <a:srgbClr val="4F46E5"/>
          </a:solidFill>
          <a:ln/>
        </p:spPr>
      </p:sp>
      <p:pic>
        <p:nvPicPr>
          <p:cNvPr id="25" name="Image 3" descr="C:\Users\Sardor\Desktop\diplom ish\diplom\generator\slides-cache\icons\key-round-FFFFFF.png">    </p:cNvPr>
          <p:cNvPicPr>
            <a:picLocks noChangeAspect="1"/>
          </p:cNvPicPr>
          <p:nvPr/>
        </p:nvPicPr>
        <p:blipFill>
          <a:blip r:embed="rId4"/>
          <a:stretch>
            <a:fillRect/>
          </a:stretch>
        </p:blipFill>
        <p:spPr>
          <a:xfrm>
            <a:off x="905256" y="5586984"/>
            <a:ext cx="256032" cy="256032"/>
          </a:xfrm>
          <a:prstGeom prst="rect">
            <a:avLst/>
          </a:prstGeom>
        </p:spPr>
      </p:pic>
      <p:sp>
        <p:nvSpPr>
          <p:cNvPr id="26" name="Text 20"/>
          <p:cNvSpPr txBox="1"/>
          <p:nvPr/>
        </p:nvSpPr>
        <p:spPr>
          <a:xfrm>
            <a:off x="1508760" y="5349240"/>
            <a:ext cx="9905695" cy="731520"/>
          </a:xfrm>
          <a:prstGeom prst="rect">
            <a:avLst/>
          </a:prstGeom>
          <a:noFill/>
          <a:ln/>
        </p:spPr>
        <p:txBody>
          <a:bodyPr wrap="square" lIns="0" tIns="0" rIns="0" bIns="0" rtlCol="0" anchor="ctr"/>
          <a:lstStyle/>
          <a:p>
            <a:pPr indent="0" marL="0">
              <a:buNone/>
            </a:pPr>
            <a:r>
              <a:rPr lang="en-US" sz="1500" dirty="0">
                <a:solidFill>
                  <a:srgbClr val="1E1B4B"/>
                </a:solidFill>
                <a:latin typeface="Arial" pitchFamily="34" charset="0"/>
                <a:ea typeface="Arial" pitchFamily="34" charset="-122"/>
                <a:cs typeface="Arial" pitchFamily="34" charset="-120"/>
              </a:rPr>
              <a:t>Parolsiz kirish: parol saqlanmaydi va sizib chiqmaydi — foydalanuvchi faqat pochtasiga egaligini tasdiqlaydi.</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Dastur interfeysi: shaxsiy chat</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13 / 20</a:t>
            </a:r>
            <a:endParaRPr lang="en-US" sz="1000" dirty="0"/>
          </a:p>
        </p:txBody>
      </p:sp>
      <p:sp>
        <p:nvSpPr>
          <p:cNvPr id="5" name="Shape 3"/>
          <p:cNvSpPr/>
          <p:nvPr/>
        </p:nvSpPr>
        <p:spPr>
          <a:xfrm>
            <a:off x="548640" y="1371600"/>
            <a:ext cx="7132320" cy="445770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6" name="Image 0" descr="C:\Users\Sardor\Desktop\diplom ish\diplom\generator\rasmlar\3-05-private-chat.jpg">    </p:cNvPr>
          <p:cNvPicPr>
            <a:picLocks noChangeAspect="1"/>
          </p:cNvPicPr>
          <p:nvPr/>
        </p:nvPicPr>
        <p:blipFill>
          <a:blip r:embed="rId1"/>
          <a:stretch>
            <a:fillRect/>
          </a:stretch>
        </p:blipFill>
        <p:spPr>
          <a:xfrm>
            <a:off x="548640" y="1371600"/>
            <a:ext cx="7132320" cy="4457700"/>
          </a:xfrm>
          <a:prstGeom prst="rect">
            <a:avLst/>
          </a:prstGeom>
        </p:spPr>
      </p:pic>
      <p:sp>
        <p:nvSpPr>
          <p:cNvPr id="7" name="Shape 4"/>
          <p:cNvSpPr/>
          <p:nvPr/>
        </p:nvSpPr>
        <p:spPr>
          <a:xfrm>
            <a:off x="685800" y="5372100"/>
            <a:ext cx="4206240" cy="329184"/>
          </a:xfrm>
          <a:prstGeom prst="roundRect">
            <a:avLst>
              <a:gd name="adj" fmla="val 50000"/>
            </a:avLst>
          </a:prstGeom>
          <a:solidFill>
            <a:srgbClr val="1E1B4B"/>
          </a:solidFill>
          <a:ln/>
        </p:spPr>
      </p:sp>
      <p:sp>
        <p:nvSpPr>
          <p:cNvPr id="8" name="Text 5"/>
          <p:cNvSpPr txBox="1"/>
          <p:nvPr/>
        </p:nvSpPr>
        <p:spPr>
          <a:xfrm>
            <a:off x="685800" y="5372100"/>
            <a:ext cx="420624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Suhbat: “yozmoqda…”, o‘qildi ✓✓, onlayn holat</a:t>
            </a:r>
            <a:endParaRPr lang="en-US" sz="1200" dirty="0"/>
          </a:p>
        </p:txBody>
      </p:sp>
      <p:sp>
        <p:nvSpPr>
          <p:cNvPr id="9" name="Shape 6"/>
          <p:cNvSpPr/>
          <p:nvPr/>
        </p:nvSpPr>
        <p:spPr>
          <a:xfrm>
            <a:off x="8066380" y="1371600"/>
            <a:ext cx="3511296" cy="219456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0" name="Image 1" descr="C:\Users\Sardor\Desktop\diplom ish\diplom\generator\rasmlar\3-06-reply.jpg">    </p:cNvPr>
          <p:cNvPicPr>
            <a:picLocks noChangeAspect="1"/>
          </p:cNvPicPr>
          <p:nvPr/>
        </p:nvPicPr>
        <p:blipFill>
          <a:blip r:embed="rId2"/>
          <a:stretch>
            <a:fillRect/>
          </a:stretch>
        </p:blipFill>
        <p:spPr>
          <a:xfrm>
            <a:off x="8066380" y="1371600"/>
            <a:ext cx="3511296" cy="2194560"/>
          </a:xfrm>
          <a:prstGeom prst="rect">
            <a:avLst/>
          </a:prstGeom>
        </p:spPr>
      </p:pic>
      <p:sp>
        <p:nvSpPr>
          <p:cNvPr id="11" name="Shape 7"/>
          <p:cNvSpPr/>
          <p:nvPr/>
        </p:nvSpPr>
        <p:spPr>
          <a:xfrm>
            <a:off x="8203540" y="3108960"/>
            <a:ext cx="2103120" cy="329184"/>
          </a:xfrm>
          <a:prstGeom prst="roundRect">
            <a:avLst>
              <a:gd name="adj" fmla="val 50000"/>
            </a:avLst>
          </a:prstGeom>
          <a:solidFill>
            <a:srgbClr val="1E1B4B"/>
          </a:solidFill>
          <a:ln/>
        </p:spPr>
      </p:sp>
      <p:sp>
        <p:nvSpPr>
          <p:cNvPr id="12" name="Text 8"/>
          <p:cNvSpPr txBox="1"/>
          <p:nvPr/>
        </p:nvSpPr>
        <p:spPr>
          <a:xfrm>
            <a:off x="8203540" y="3108960"/>
            <a:ext cx="210312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Xabarga javob (reply)</a:t>
            </a:r>
            <a:endParaRPr lang="en-US" sz="1200" dirty="0"/>
          </a:p>
        </p:txBody>
      </p:sp>
      <p:sp>
        <p:nvSpPr>
          <p:cNvPr id="13" name="Shape 9"/>
          <p:cNvSpPr/>
          <p:nvPr/>
        </p:nvSpPr>
        <p:spPr>
          <a:xfrm>
            <a:off x="8066380" y="3794760"/>
            <a:ext cx="3511296" cy="219456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4" name="Image 2" descr="C:\Users\Sardor\Desktop\diplom ish\diplom\generator\rasmlar\3-07-image-viewer.jpg">    </p:cNvPr>
          <p:cNvPicPr>
            <a:picLocks noChangeAspect="1"/>
          </p:cNvPicPr>
          <p:nvPr/>
        </p:nvPicPr>
        <p:blipFill>
          <a:blip r:embed="rId3"/>
          <a:stretch>
            <a:fillRect/>
          </a:stretch>
        </p:blipFill>
        <p:spPr>
          <a:xfrm>
            <a:off x="8066380" y="3794760"/>
            <a:ext cx="3511296" cy="2194560"/>
          </a:xfrm>
          <a:prstGeom prst="rect">
            <a:avLst/>
          </a:prstGeom>
        </p:spPr>
      </p:pic>
      <p:sp>
        <p:nvSpPr>
          <p:cNvPr id="15" name="Shape 10"/>
          <p:cNvSpPr/>
          <p:nvPr/>
        </p:nvSpPr>
        <p:spPr>
          <a:xfrm>
            <a:off x="8203540" y="5532120"/>
            <a:ext cx="1554480" cy="329184"/>
          </a:xfrm>
          <a:prstGeom prst="roundRect">
            <a:avLst>
              <a:gd name="adj" fmla="val 50000"/>
            </a:avLst>
          </a:prstGeom>
          <a:solidFill>
            <a:srgbClr val="1E1B4B"/>
          </a:solidFill>
          <a:ln/>
        </p:spPr>
      </p:sp>
      <p:sp>
        <p:nvSpPr>
          <p:cNvPr id="16" name="Text 11"/>
          <p:cNvSpPr txBox="1"/>
          <p:nvPr/>
        </p:nvSpPr>
        <p:spPr>
          <a:xfrm>
            <a:off x="8203540" y="5532120"/>
            <a:ext cx="155448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Rasmni ko‘rish</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Dastur interfeysi: guruh chatlari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14 / 20</a:t>
            </a:r>
            <a:endParaRPr lang="en-US" sz="1000" dirty="0"/>
          </a:p>
        </p:txBody>
      </p:sp>
      <p:sp>
        <p:nvSpPr>
          <p:cNvPr id="5" name="Shape 3"/>
          <p:cNvSpPr/>
          <p:nvPr/>
        </p:nvSpPr>
        <p:spPr>
          <a:xfrm>
            <a:off x="548640" y="1417320"/>
            <a:ext cx="502920" cy="502920"/>
          </a:xfrm>
          <a:prstGeom prst="ellipse">
            <a:avLst/>
          </a:prstGeom>
          <a:solidFill>
            <a:srgbClr val="4F46E5"/>
          </a:solidFill>
          <a:ln/>
        </p:spPr>
      </p:sp>
      <p:pic>
        <p:nvPicPr>
          <p:cNvPr id="6" name="Image 0" descr="C:\Users\Sardor\Desktop\diplom ish\diplom\generator\slides-cache\icons\crown-FFFFFF.png">    </p:cNvPr>
          <p:cNvPicPr>
            <a:picLocks noChangeAspect="1"/>
          </p:cNvPicPr>
          <p:nvPr/>
        </p:nvPicPr>
        <p:blipFill>
          <a:blip r:embed="rId1"/>
          <a:stretch>
            <a:fillRect/>
          </a:stretch>
        </p:blipFill>
        <p:spPr>
          <a:xfrm>
            <a:off x="674370" y="1543050"/>
            <a:ext cx="251460" cy="251460"/>
          </a:xfrm>
          <a:prstGeom prst="rect">
            <a:avLst/>
          </a:prstGeom>
        </p:spPr>
      </p:pic>
      <p:sp>
        <p:nvSpPr>
          <p:cNvPr id="7" name="Text 4"/>
          <p:cNvSpPr txBox="1"/>
          <p:nvPr/>
        </p:nvSpPr>
        <p:spPr>
          <a:xfrm>
            <a:off x="1280160" y="1399032"/>
            <a:ext cx="3200400" cy="329184"/>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Egasi</a:t>
            </a:r>
            <a:endParaRPr lang="en-US" sz="1600" dirty="0"/>
          </a:p>
        </p:txBody>
      </p:sp>
      <p:sp>
        <p:nvSpPr>
          <p:cNvPr id="8" name="Text 5"/>
          <p:cNvSpPr txBox="1"/>
          <p:nvPr/>
        </p:nvSpPr>
        <p:spPr>
          <a:xfrm>
            <a:off x="1280160" y="1746504"/>
            <a:ext cx="3200400" cy="566928"/>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Adminlarni tayinlaydi, guruhni o‘chiradi</a:t>
            </a:r>
            <a:endParaRPr lang="en-US" sz="1300" dirty="0"/>
          </a:p>
        </p:txBody>
      </p:sp>
      <p:sp>
        <p:nvSpPr>
          <p:cNvPr id="9" name="Shape 6"/>
          <p:cNvSpPr/>
          <p:nvPr/>
        </p:nvSpPr>
        <p:spPr>
          <a:xfrm>
            <a:off x="548640" y="2377440"/>
            <a:ext cx="502920" cy="502920"/>
          </a:xfrm>
          <a:prstGeom prst="ellipse">
            <a:avLst/>
          </a:prstGeom>
          <a:solidFill>
            <a:srgbClr val="4F46E5"/>
          </a:solidFill>
          <a:ln/>
        </p:spPr>
      </p:sp>
      <p:pic>
        <p:nvPicPr>
          <p:cNvPr id="10" name="Image 1" descr="C:\Users\Sardor\Desktop\diplom ish\diplom\generator\slides-cache\icons\shield-FFFFFF.png">    </p:cNvPr>
          <p:cNvPicPr>
            <a:picLocks noChangeAspect="1"/>
          </p:cNvPicPr>
          <p:nvPr/>
        </p:nvPicPr>
        <p:blipFill>
          <a:blip r:embed="rId2"/>
          <a:stretch>
            <a:fillRect/>
          </a:stretch>
        </p:blipFill>
        <p:spPr>
          <a:xfrm>
            <a:off x="674370" y="2503170"/>
            <a:ext cx="251460" cy="251460"/>
          </a:xfrm>
          <a:prstGeom prst="rect">
            <a:avLst/>
          </a:prstGeom>
        </p:spPr>
      </p:pic>
      <p:sp>
        <p:nvSpPr>
          <p:cNvPr id="11" name="Text 7"/>
          <p:cNvSpPr txBox="1"/>
          <p:nvPr/>
        </p:nvSpPr>
        <p:spPr>
          <a:xfrm>
            <a:off x="1280160" y="2359152"/>
            <a:ext cx="3200400" cy="329184"/>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Administrator</a:t>
            </a:r>
            <a:endParaRPr lang="en-US" sz="1600" dirty="0"/>
          </a:p>
        </p:txBody>
      </p:sp>
      <p:sp>
        <p:nvSpPr>
          <p:cNvPr id="12" name="Text 8"/>
          <p:cNvSpPr txBox="1"/>
          <p:nvPr/>
        </p:nvSpPr>
        <p:spPr>
          <a:xfrm>
            <a:off x="1280160" y="2706624"/>
            <a:ext cx="3200400" cy="566928"/>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A’zo qo‘shadi va chiqaradi, guruhni tahrirlaydi</a:t>
            </a:r>
            <a:endParaRPr lang="en-US" sz="1300" dirty="0"/>
          </a:p>
        </p:txBody>
      </p:sp>
      <p:sp>
        <p:nvSpPr>
          <p:cNvPr id="13" name="Shape 9"/>
          <p:cNvSpPr/>
          <p:nvPr/>
        </p:nvSpPr>
        <p:spPr>
          <a:xfrm>
            <a:off x="548640" y="3337560"/>
            <a:ext cx="502920" cy="502920"/>
          </a:xfrm>
          <a:prstGeom prst="ellipse">
            <a:avLst/>
          </a:prstGeom>
          <a:solidFill>
            <a:srgbClr val="4F46E5"/>
          </a:solidFill>
          <a:ln/>
        </p:spPr>
      </p:sp>
      <p:pic>
        <p:nvPicPr>
          <p:cNvPr id="14" name="Image 2" descr="C:\Users\Sardor\Desktop\diplom ish\diplom\generator\slides-cache\icons\user-FFFFFF.png">    </p:cNvPr>
          <p:cNvPicPr>
            <a:picLocks noChangeAspect="1"/>
          </p:cNvPicPr>
          <p:nvPr/>
        </p:nvPicPr>
        <p:blipFill>
          <a:blip r:embed="rId3"/>
          <a:stretch>
            <a:fillRect/>
          </a:stretch>
        </p:blipFill>
        <p:spPr>
          <a:xfrm>
            <a:off x="674370" y="3463290"/>
            <a:ext cx="251460" cy="251460"/>
          </a:xfrm>
          <a:prstGeom prst="rect">
            <a:avLst/>
          </a:prstGeom>
        </p:spPr>
      </p:pic>
      <p:sp>
        <p:nvSpPr>
          <p:cNvPr id="15" name="Text 10"/>
          <p:cNvSpPr txBox="1"/>
          <p:nvPr/>
        </p:nvSpPr>
        <p:spPr>
          <a:xfrm>
            <a:off x="1280160" y="3319272"/>
            <a:ext cx="3200400" cy="329184"/>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A’zo</a:t>
            </a:r>
            <a:endParaRPr lang="en-US" sz="1600" dirty="0"/>
          </a:p>
        </p:txBody>
      </p:sp>
      <p:sp>
        <p:nvSpPr>
          <p:cNvPr id="16" name="Text 11"/>
          <p:cNvSpPr txBox="1"/>
          <p:nvPr/>
        </p:nvSpPr>
        <p:spPr>
          <a:xfrm>
            <a:off x="1280160" y="3666744"/>
            <a:ext cx="3200400" cy="566928"/>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Xabar va fayllar yuboradi, guruhdan chiqadi</a:t>
            </a:r>
            <a:endParaRPr lang="en-US" sz="1300" dirty="0"/>
          </a:p>
        </p:txBody>
      </p:sp>
      <p:sp>
        <p:nvSpPr>
          <p:cNvPr id="17" name="Shape 12"/>
          <p:cNvSpPr/>
          <p:nvPr/>
        </p:nvSpPr>
        <p:spPr>
          <a:xfrm>
            <a:off x="548640" y="4343400"/>
            <a:ext cx="2519172" cy="173736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8" name="Image 3" descr="C:\Users\Sardor\Desktop\diplom ish\diplom\generator\rasmlar\3-14-group-create-members.jpg">    </p:cNvPr>
          <p:cNvPicPr>
            <a:picLocks noChangeAspect="1"/>
          </p:cNvPicPr>
          <p:nvPr/>
        </p:nvPicPr>
        <p:blipFill>
          <a:blip r:embed="rId4"/>
          <a:srcRect l="0" r="71000" t="0" b="68000"/>
          <a:stretch/>
        </p:blipFill>
        <p:spPr>
          <a:xfrm>
            <a:off x="548640" y="4343400"/>
            <a:ext cx="2519172" cy="1737360"/>
          </a:xfrm>
          <a:prstGeom prst="rect">
            <a:avLst/>
          </a:prstGeom>
        </p:spPr>
      </p:pic>
      <p:sp>
        <p:nvSpPr>
          <p:cNvPr id="19" name="Shape 13"/>
          <p:cNvSpPr/>
          <p:nvPr/>
        </p:nvSpPr>
        <p:spPr>
          <a:xfrm>
            <a:off x="4846320" y="1371600"/>
            <a:ext cx="6796735" cy="424796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20" name="Image 4" descr="C:\Users\Sardor\Desktop\diplom ish\diplom\generator\rasmlar\3-13-group-chat.jpg">    </p:cNvPr>
          <p:cNvPicPr>
            <a:picLocks noChangeAspect="1"/>
          </p:cNvPicPr>
          <p:nvPr/>
        </p:nvPicPr>
        <p:blipFill>
          <a:blip r:embed="rId5"/>
          <a:stretch>
            <a:fillRect/>
          </a:stretch>
        </p:blipFill>
        <p:spPr>
          <a:xfrm>
            <a:off x="4846320" y="1371600"/>
            <a:ext cx="6796735" cy="4247960"/>
          </a:xfrm>
          <a:prstGeom prst="rect">
            <a:avLst/>
          </a:prstGeom>
        </p:spPr>
      </p:pic>
      <p:sp>
        <p:nvSpPr>
          <p:cNvPr id="21" name="Shape 14"/>
          <p:cNvSpPr/>
          <p:nvPr/>
        </p:nvSpPr>
        <p:spPr>
          <a:xfrm>
            <a:off x="4983480" y="5162360"/>
            <a:ext cx="2926080" cy="329184"/>
          </a:xfrm>
          <a:prstGeom prst="roundRect">
            <a:avLst>
              <a:gd name="adj" fmla="val 50000"/>
            </a:avLst>
          </a:prstGeom>
          <a:solidFill>
            <a:srgbClr val="1E1B4B"/>
          </a:solidFill>
          <a:ln/>
        </p:spPr>
      </p:sp>
      <p:sp>
        <p:nvSpPr>
          <p:cNvPr id="22" name="Text 15"/>
          <p:cNvSpPr txBox="1"/>
          <p:nvPr/>
        </p:nvSpPr>
        <p:spPr>
          <a:xfrm>
            <a:off x="4983480" y="5162360"/>
            <a:ext cx="292608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Guruh chati va ma’lumot paneli</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Qidiruv, hikoyalar va profil</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15 / 20</a:t>
            </a:r>
            <a:endParaRPr lang="en-US" sz="1000" dirty="0"/>
          </a:p>
        </p:txBody>
      </p:sp>
      <p:sp>
        <p:nvSpPr>
          <p:cNvPr id="5" name="Shape 3"/>
          <p:cNvSpPr/>
          <p:nvPr/>
        </p:nvSpPr>
        <p:spPr>
          <a:xfrm>
            <a:off x="548640" y="1371600"/>
            <a:ext cx="457200" cy="457200"/>
          </a:xfrm>
          <a:prstGeom prst="ellipse">
            <a:avLst/>
          </a:prstGeom>
          <a:solidFill>
            <a:srgbClr val="4F46E5"/>
          </a:solidFill>
          <a:ln/>
        </p:spPr>
      </p:sp>
      <p:pic>
        <p:nvPicPr>
          <p:cNvPr id="6" name="Image 0" descr="C:\Users\Sardor\Desktop\diplom ish\diplom\generator\slides-cache\icons\search-FFFFFF.png">    </p:cNvPr>
          <p:cNvPicPr>
            <a:picLocks noChangeAspect="1"/>
          </p:cNvPicPr>
          <p:nvPr/>
        </p:nvPicPr>
        <p:blipFill>
          <a:blip r:embed="rId1"/>
          <a:stretch>
            <a:fillRect/>
          </a:stretch>
        </p:blipFill>
        <p:spPr>
          <a:xfrm>
            <a:off x="662940" y="1485900"/>
            <a:ext cx="228600" cy="228600"/>
          </a:xfrm>
          <a:prstGeom prst="rect">
            <a:avLst/>
          </a:prstGeom>
        </p:spPr>
      </p:pic>
      <p:sp>
        <p:nvSpPr>
          <p:cNvPr id="7" name="Text 4"/>
          <p:cNvSpPr txBox="1"/>
          <p:nvPr/>
        </p:nvSpPr>
        <p:spPr>
          <a:xfrm>
            <a:off x="1143000" y="1371600"/>
            <a:ext cx="5111496" cy="457200"/>
          </a:xfrm>
          <a:prstGeom prst="rect">
            <a:avLst/>
          </a:prstGeom>
          <a:noFill/>
          <a:ln/>
        </p:spPr>
        <p:txBody>
          <a:bodyPr wrap="square" lIns="0" tIns="0" rIns="0" bIns="0" rtlCol="0" anchor="ctr"/>
          <a:lstStyle/>
          <a:p>
            <a:pPr indent="0" marL="0">
              <a:buNone/>
            </a:pPr>
            <a:r>
              <a:rPr lang="en-US" sz="1700" b="1" dirty="0">
                <a:solidFill>
                  <a:srgbClr val="1E1B4B"/>
                </a:solidFill>
                <a:latin typeface="Arial" pitchFamily="34" charset="0"/>
                <a:ea typeface="Arial" pitchFamily="34" charset="-122"/>
                <a:cs typeface="Arial" pitchFamily="34" charset="-120"/>
              </a:rPr>
              <a:t>Xabarlarni qidirish</a:t>
            </a:r>
            <a:endParaRPr lang="en-US" sz="1700" dirty="0"/>
          </a:p>
        </p:txBody>
      </p:sp>
      <p:sp>
        <p:nvSpPr>
          <p:cNvPr id="8" name="Text 5"/>
          <p:cNvSpPr txBox="1"/>
          <p:nvPr/>
        </p:nvSpPr>
        <p:spPr>
          <a:xfrm>
            <a:off x="548640" y="1901952"/>
            <a:ext cx="5705856" cy="502920"/>
          </a:xfrm>
          <a:prstGeom prst="rect">
            <a:avLst/>
          </a:prstGeom>
          <a:noFill/>
          <a:ln/>
        </p:spPr>
        <p:txBody>
          <a:bodyPr wrap="square" lIns="0" tIns="0" rIns="0" bIns="0" rtlCol="0" anchor="t"/>
          <a:lstStyle/>
          <a:p>
            <a:pPr indent="0" marL="0">
              <a:buNone/>
            </a:pPr>
            <a:r>
              <a:rPr lang="en-US" sz="1200" dirty="0">
                <a:solidFill>
                  <a:srgbClr val="6B7280"/>
                </a:solidFill>
                <a:latin typeface="Arial" pitchFamily="34" charset="0"/>
                <a:ea typeface="Arial" pitchFamily="34" charset="-122"/>
                <a:cs typeface="Arial" pitchFamily="34" charset="-120"/>
              </a:rPr>
              <a:t>Matn bo‘yicha qidirish va topilgan xabar kontekstiga o‘tish</a:t>
            </a:r>
            <a:endParaRPr lang="en-US" sz="1200" dirty="0"/>
          </a:p>
        </p:txBody>
      </p:sp>
      <p:sp>
        <p:nvSpPr>
          <p:cNvPr id="9" name="Shape 6"/>
          <p:cNvSpPr/>
          <p:nvPr/>
        </p:nvSpPr>
        <p:spPr>
          <a:xfrm>
            <a:off x="548640" y="2487168"/>
            <a:ext cx="5705856" cy="356616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0" name="Image 1" descr="C:\Users\Sardor\Desktop\diplom ish\diplom\generator\rasmlar\3-09-message-search.jpg">    </p:cNvPr>
          <p:cNvPicPr>
            <a:picLocks noChangeAspect="1"/>
          </p:cNvPicPr>
          <p:nvPr/>
        </p:nvPicPr>
        <p:blipFill>
          <a:blip r:embed="rId2"/>
          <a:stretch>
            <a:fillRect/>
          </a:stretch>
        </p:blipFill>
        <p:spPr>
          <a:xfrm>
            <a:off x="548640" y="2487168"/>
            <a:ext cx="5705856" cy="3566160"/>
          </a:xfrm>
          <a:prstGeom prst="rect">
            <a:avLst/>
          </a:prstGeom>
        </p:spPr>
      </p:pic>
      <p:sp>
        <p:nvSpPr>
          <p:cNvPr id="11" name="Shape 7"/>
          <p:cNvSpPr/>
          <p:nvPr/>
        </p:nvSpPr>
        <p:spPr>
          <a:xfrm>
            <a:off x="6620256" y="1371600"/>
            <a:ext cx="457200" cy="457200"/>
          </a:xfrm>
          <a:prstGeom prst="ellipse">
            <a:avLst/>
          </a:prstGeom>
          <a:solidFill>
            <a:srgbClr val="4F46E5"/>
          </a:solidFill>
          <a:ln/>
        </p:spPr>
      </p:sp>
      <p:pic>
        <p:nvPicPr>
          <p:cNvPr id="12" name="Image 2" descr="C:\Users\Sardor\Desktop\diplom ish\diplom\generator\slides-cache\icons\circle-play-FFFFFF.png">    </p:cNvPr>
          <p:cNvPicPr>
            <a:picLocks noChangeAspect="1"/>
          </p:cNvPicPr>
          <p:nvPr/>
        </p:nvPicPr>
        <p:blipFill>
          <a:blip r:embed="rId3"/>
          <a:stretch>
            <a:fillRect/>
          </a:stretch>
        </p:blipFill>
        <p:spPr>
          <a:xfrm>
            <a:off x="6734556" y="1485900"/>
            <a:ext cx="228600" cy="228600"/>
          </a:xfrm>
          <a:prstGeom prst="rect">
            <a:avLst/>
          </a:prstGeom>
        </p:spPr>
      </p:pic>
      <p:sp>
        <p:nvSpPr>
          <p:cNvPr id="13" name="Text 8"/>
          <p:cNvSpPr txBox="1"/>
          <p:nvPr/>
        </p:nvSpPr>
        <p:spPr>
          <a:xfrm>
            <a:off x="7214616" y="1371600"/>
            <a:ext cx="1387674" cy="457200"/>
          </a:xfrm>
          <a:prstGeom prst="rect">
            <a:avLst/>
          </a:prstGeom>
          <a:noFill/>
          <a:ln/>
        </p:spPr>
        <p:txBody>
          <a:bodyPr wrap="square" lIns="0" tIns="0" rIns="0" bIns="0" rtlCol="0" anchor="ctr"/>
          <a:lstStyle/>
          <a:p>
            <a:pPr indent="0" marL="0">
              <a:buNone/>
            </a:pPr>
            <a:r>
              <a:rPr lang="en-US" sz="1700" b="1" dirty="0">
                <a:solidFill>
                  <a:srgbClr val="1E1B4B"/>
                </a:solidFill>
                <a:latin typeface="Arial" pitchFamily="34" charset="0"/>
                <a:ea typeface="Arial" pitchFamily="34" charset="-122"/>
                <a:cs typeface="Arial" pitchFamily="34" charset="-120"/>
              </a:rPr>
              <a:t>Hikoyalar</a:t>
            </a:r>
            <a:endParaRPr lang="en-US" sz="1700" dirty="0"/>
          </a:p>
        </p:txBody>
      </p:sp>
      <p:sp>
        <p:nvSpPr>
          <p:cNvPr id="14" name="Text 9"/>
          <p:cNvSpPr txBox="1"/>
          <p:nvPr/>
        </p:nvSpPr>
        <p:spPr>
          <a:xfrm>
            <a:off x="6620256" y="1901952"/>
            <a:ext cx="1982034" cy="502920"/>
          </a:xfrm>
          <a:prstGeom prst="rect">
            <a:avLst/>
          </a:prstGeom>
          <a:noFill/>
          <a:ln/>
        </p:spPr>
        <p:txBody>
          <a:bodyPr wrap="square" lIns="0" tIns="0" rIns="0" bIns="0" rtlCol="0" anchor="t"/>
          <a:lstStyle/>
          <a:p>
            <a:pPr indent="0" marL="0">
              <a:buNone/>
            </a:pPr>
            <a:r>
              <a:rPr lang="en-US" sz="1200" dirty="0">
                <a:solidFill>
                  <a:srgbClr val="6B7280"/>
                </a:solidFill>
                <a:latin typeface="Arial" pitchFamily="34" charset="0"/>
                <a:ea typeface="Arial" pitchFamily="34" charset="-122"/>
                <a:cs typeface="Arial" pitchFamily="34" charset="-120"/>
              </a:rPr>
              <a:t>24 soat ko‘rinadi, kim ko‘rgani ma’lum</a:t>
            </a:r>
            <a:endParaRPr lang="en-US" sz="1200" dirty="0"/>
          </a:p>
        </p:txBody>
      </p:sp>
      <p:sp>
        <p:nvSpPr>
          <p:cNvPr id="15" name="Shape 10"/>
          <p:cNvSpPr/>
          <p:nvPr/>
        </p:nvSpPr>
        <p:spPr>
          <a:xfrm>
            <a:off x="6620256" y="2487168"/>
            <a:ext cx="1982034" cy="356616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6" name="Image 3" descr="C:\Users\Sardor\Desktop\diplom ish\diplom\generator\rasmlar\3-11-story-viewer.jpg">    </p:cNvPr>
          <p:cNvPicPr>
            <a:picLocks noChangeAspect="1"/>
          </p:cNvPicPr>
          <p:nvPr/>
        </p:nvPicPr>
        <p:blipFill>
          <a:blip r:embed="rId4"/>
          <a:srcRect l="33500" r="33500" t="3000" b="2000"/>
          <a:stretch/>
        </p:blipFill>
        <p:spPr>
          <a:xfrm>
            <a:off x="6620256" y="2487168"/>
            <a:ext cx="1982034" cy="3566160"/>
          </a:xfrm>
          <a:prstGeom prst="rect">
            <a:avLst/>
          </a:prstGeom>
        </p:spPr>
      </p:pic>
      <p:sp>
        <p:nvSpPr>
          <p:cNvPr id="17" name="Shape 11"/>
          <p:cNvSpPr/>
          <p:nvPr/>
        </p:nvSpPr>
        <p:spPr>
          <a:xfrm>
            <a:off x="8968050" y="1371600"/>
            <a:ext cx="457200" cy="457200"/>
          </a:xfrm>
          <a:prstGeom prst="ellipse">
            <a:avLst/>
          </a:prstGeom>
          <a:solidFill>
            <a:srgbClr val="4F46E5"/>
          </a:solidFill>
          <a:ln/>
        </p:spPr>
      </p:sp>
      <p:pic>
        <p:nvPicPr>
          <p:cNvPr id="18" name="Image 4" descr="C:\Users\Sardor\Desktop\diplom ish\diplom\generator\slides-cache\icons\user-pen-FFFFFF.png">    </p:cNvPr>
          <p:cNvPicPr>
            <a:picLocks noChangeAspect="1"/>
          </p:cNvPicPr>
          <p:nvPr/>
        </p:nvPicPr>
        <p:blipFill>
          <a:blip r:embed="rId5"/>
          <a:stretch>
            <a:fillRect/>
          </a:stretch>
        </p:blipFill>
        <p:spPr>
          <a:xfrm>
            <a:off x="9082350" y="1485900"/>
            <a:ext cx="228600" cy="228600"/>
          </a:xfrm>
          <a:prstGeom prst="rect">
            <a:avLst/>
          </a:prstGeom>
        </p:spPr>
      </p:pic>
      <p:sp>
        <p:nvSpPr>
          <p:cNvPr id="19" name="Text 12"/>
          <p:cNvSpPr txBox="1"/>
          <p:nvPr/>
        </p:nvSpPr>
        <p:spPr>
          <a:xfrm>
            <a:off x="9562410" y="1371600"/>
            <a:ext cx="2006014" cy="457200"/>
          </a:xfrm>
          <a:prstGeom prst="rect">
            <a:avLst/>
          </a:prstGeom>
          <a:noFill/>
          <a:ln/>
        </p:spPr>
        <p:txBody>
          <a:bodyPr wrap="square" lIns="0" tIns="0" rIns="0" bIns="0" rtlCol="0" anchor="ctr"/>
          <a:lstStyle/>
          <a:p>
            <a:pPr indent="0" marL="0">
              <a:buNone/>
            </a:pPr>
            <a:r>
              <a:rPr lang="en-US" sz="1700" b="1" dirty="0">
                <a:solidFill>
                  <a:srgbClr val="1E1B4B"/>
                </a:solidFill>
                <a:latin typeface="Arial" pitchFamily="34" charset="0"/>
                <a:ea typeface="Arial" pitchFamily="34" charset="-122"/>
                <a:cs typeface="Arial" pitchFamily="34" charset="-120"/>
              </a:rPr>
              <a:t>Profil</a:t>
            </a:r>
            <a:endParaRPr lang="en-US" sz="1700" dirty="0"/>
          </a:p>
        </p:txBody>
      </p:sp>
      <p:sp>
        <p:nvSpPr>
          <p:cNvPr id="20" name="Text 13"/>
          <p:cNvSpPr txBox="1"/>
          <p:nvPr/>
        </p:nvSpPr>
        <p:spPr>
          <a:xfrm>
            <a:off x="8968050" y="1901952"/>
            <a:ext cx="2600374" cy="502920"/>
          </a:xfrm>
          <a:prstGeom prst="rect">
            <a:avLst/>
          </a:prstGeom>
          <a:noFill/>
          <a:ln/>
        </p:spPr>
        <p:txBody>
          <a:bodyPr wrap="square" lIns="0" tIns="0" rIns="0" bIns="0" rtlCol="0" anchor="t"/>
          <a:lstStyle/>
          <a:p>
            <a:pPr indent="0" marL="0">
              <a:buNone/>
            </a:pPr>
            <a:r>
              <a:rPr lang="en-US" sz="1200" dirty="0">
                <a:solidFill>
                  <a:srgbClr val="6B7280"/>
                </a:solidFill>
                <a:latin typeface="Arial" pitchFamily="34" charset="0"/>
                <a:ea typeface="Arial" pitchFamily="34" charset="-122"/>
                <a:cs typeface="Arial" pitchFamily="34" charset="-120"/>
              </a:rPr>
              <a:t>Ism, username, bio, rasm va faol qurilmalar</a:t>
            </a:r>
            <a:endParaRPr lang="en-US" sz="1200" dirty="0"/>
          </a:p>
        </p:txBody>
      </p:sp>
      <p:sp>
        <p:nvSpPr>
          <p:cNvPr id="21" name="Shape 14"/>
          <p:cNvSpPr/>
          <p:nvPr/>
        </p:nvSpPr>
        <p:spPr>
          <a:xfrm>
            <a:off x="8968050" y="2487168"/>
            <a:ext cx="2600374" cy="356616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22" name="Image 5" descr="C:\Users\Sardor\Desktop\diplom ish\diplom\generator\rasmlar\3-12-profile-editor.jpg">    </p:cNvPr>
          <p:cNvPicPr>
            <a:picLocks noChangeAspect="1"/>
          </p:cNvPicPr>
          <p:nvPr/>
        </p:nvPicPr>
        <p:blipFill>
          <a:blip r:embed="rId6"/>
          <a:srcRect l="0" r="72200" t="1200" b="37800"/>
          <a:stretch/>
        </p:blipFill>
        <p:spPr>
          <a:xfrm>
            <a:off x="8968050" y="2487168"/>
            <a:ext cx="2600374" cy="356616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Qorong‘i mavzu va mobil ko‘rinish</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16 / 20</a:t>
            </a:r>
            <a:endParaRPr lang="en-US" sz="1000" dirty="0"/>
          </a:p>
        </p:txBody>
      </p:sp>
      <p:sp>
        <p:nvSpPr>
          <p:cNvPr id="5" name="Shape 3"/>
          <p:cNvSpPr/>
          <p:nvPr/>
        </p:nvSpPr>
        <p:spPr>
          <a:xfrm>
            <a:off x="548640" y="1371600"/>
            <a:ext cx="6675120" cy="417195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6" name="Image 0" descr="C:\Users\Sardor\Desktop\diplom ish\diplom\generator\rasmlar\3-16-dark-theme.jpg">    </p:cNvPr>
          <p:cNvPicPr>
            <a:picLocks noChangeAspect="1"/>
          </p:cNvPicPr>
          <p:nvPr/>
        </p:nvPicPr>
        <p:blipFill>
          <a:blip r:embed="rId1"/>
          <a:stretch>
            <a:fillRect/>
          </a:stretch>
        </p:blipFill>
        <p:spPr>
          <a:xfrm>
            <a:off x="548640" y="1371600"/>
            <a:ext cx="6675120" cy="4171950"/>
          </a:xfrm>
          <a:prstGeom prst="rect">
            <a:avLst/>
          </a:prstGeom>
        </p:spPr>
      </p:pic>
      <p:sp>
        <p:nvSpPr>
          <p:cNvPr id="7" name="Shape 4"/>
          <p:cNvSpPr/>
          <p:nvPr/>
        </p:nvSpPr>
        <p:spPr>
          <a:xfrm>
            <a:off x="685800" y="5086350"/>
            <a:ext cx="1737360" cy="329184"/>
          </a:xfrm>
          <a:prstGeom prst="roundRect">
            <a:avLst>
              <a:gd name="adj" fmla="val 50000"/>
            </a:avLst>
          </a:prstGeom>
          <a:solidFill>
            <a:srgbClr val="1E1B4B"/>
          </a:solidFill>
          <a:ln/>
        </p:spPr>
      </p:sp>
      <p:sp>
        <p:nvSpPr>
          <p:cNvPr id="8" name="Text 5"/>
          <p:cNvSpPr txBox="1"/>
          <p:nvPr/>
        </p:nvSpPr>
        <p:spPr>
          <a:xfrm>
            <a:off x="685800" y="5086350"/>
            <a:ext cx="173736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Qorong‘i mavzu</a:t>
            </a:r>
            <a:endParaRPr lang="en-US" sz="1200" dirty="0"/>
          </a:p>
        </p:txBody>
      </p:sp>
      <p:sp>
        <p:nvSpPr>
          <p:cNvPr id="9" name="Shape 6"/>
          <p:cNvSpPr/>
          <p:nvPr/>
        </p:nvSpPr>
        <p:spPr>
          <a:xfrm>
            <a:off x="7589520" y="1371600"/>
            <a:ext cx="1889608" cy="4089305"/>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0" name="Image 1" descr="C:\Users\Sardor\Desktop\diplom ish\diplom\generator\rasmlar\3-17-mobile-list.jpg">    </p:cNvPr>
          <p:cNvPicPr>
            <a:picLocks noChangeAspect="1"/>
          </p:cNvPicPr>
          <p:nvPr/>
        </p:nvPicPr>
        <p:blipFill>
          <a:blip r:embed="rId2"/>
          <a:stretch>
            <a:fillRect/>
          </a:stretch>
        </p:blipFill>
        <p:spPr>
          <a:xfrm>
            <a:off x="7589520" y="1371600"/>
            <a:ext cx="1889608" cy="4089305"/>
          </a:xfrm>
          <a:prstGeom prst="rect">
            <a:avLst/>
          </a:prstGeom>
        </p:spPr>
      </p:pic>
      <p:sp>
        <p:nvSpPr>
          <p:cNvPr id="11" name="Shape 7"/>
          <p:cNvSpPr/>
          <p:nvPr/>
        </p:nvSpPr>
        <p:spPr>
          <a:xfrm>
            <a:off x="9753448" y="1371600"/>
            <a:ext cx="1889608" cy="4089305"/>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2" name="Image 2" descr="C:\Users\Sardor\Desktop\diplom ish\diplom\generator\rasmlar\3-18-mobile-chat.jpg">    </p:cNvPr>
          <p:cNvPicPr>
            <a:picLocks noChangeAspect="1"/>
          </p:cNvPicPr>
          <p:nvPr/>
        </p:nvPicPr>
        <p:blipFill>
          <a:blip r:embed="rId3"/>
          <a:stretch>
            <a:fillRect/>
          </a:stretch>
        </p:blipFill>
        <p:spPr>
          <a:xfrm>
            <a:off x="9753448" y="1371600"/>
            <a:ext cx="1889608" cy="4089305"/>
          </a:xfrm>
          <a:prstGeom prst="rect">
            <a:avLst/>
          </a:prstGeom>
        </p:spPr>
      </p:pic>
      <p:sp>
        <p:nvSpPr>
          <p:cNvPr id="13" name="Shape 8"/>
          <p:cNvSpPr/>
          <p:nvPr/>
        </p:nvSpPr>
        <p:spPr>
          <a:xfrm>
            <a:off x="7726680" y="5003705"/>
            <a:ext cx="1005840" cy="329184"/>
          </a:xfrm>
          <a:prstGeom prst="roundRect">
            <a:avLst>
              <a:gd name="adj" fmla="val 50000"/>
            </a:avLst>
          </a:prstGeom>
          <a:solidFill>
            <a:srgbClr val="1E1B4B"/>
          </a:solidFill>
          <a:ln/>
        </p:spPr>
      </p:sp>
      <p:sp>
        <p:nvSpPr>
          <p:cNvPr id="14" name="Text 9"/>
          <p:cNvSpPr txBox="1"/>
          <p:nvPr/>
        </p:nvSpPr>
        <p:spPr>
          <a:xfrm>
            <a:off x="7726680" y="5003705"/>
            <a:ext cx="100584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Chatlar</a:t>
            </a:r>
            <a:endParaRPr lang="en-US" sz="1200" dirty="0"/>
          </a:p>
        </p:txBody>
      </p:sp>
      <p:sp>
        <p:nvSpPr>
          <p:cNvPr id="15" name="Shape 10"/>
          <p:cNvSpPr/>
          <p:nvPr/>
        </p:nvSpPr>
        <p:spPr>
          <a:xfrm>
            <a:off x="9890608" y="5003705"/>
            <a:ext cx="960120" cy="329184"/>
          </a:xfrm>
          <a:prstGeom prst="roundRect">
            <a:avLst>
              <a:gd name="adj" fmla="val 50000"/>
            </a:avLst>
          </a:prstGeom>
          <a:solidFill>
            <a:srgbClr val="1E1B4B"/>
          </a:solidFill>
          <a:ln/>
        </p:spPr>
      </p:sp>
      <p:sp>
        <p:nvSpPr>
          <p:cNvPr id="16" name="Text 11"/>
          <p:cNvSpPr txBox="1"/>
          <p:nvPr/>
        </p:nvSpPr>
        <p:spPr>
          <a:xfrm>
            <a:off x="9890608" y="5003705"/>
            <a:ext cx="96012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Suhbat</a:t>
            </a:r>
            <a:endParaRPr lang="en-US" sz="1200" dirty="0"/>
          </a:p>
        </p:txBody>
      </p:sp>
      <p:sp>
        <p:nvSpPr>
          <p:cNvPr id="17" name="Shape 12"/>
          <p:cNvSpPr/>
          <p:nvPr/>
        </p:nvSpPr>
        <p:spPr>
          <a:xfrm>
            <a:off x="548640" y="5742432"/>
            <a:ext cx="411480" cy="411480"/>
          </a:xfrm>
          <a:prstGeom prst="ellipse">
            <a:avLst/>
          </a:prstGeom>
          <a:solidFill>
            <a:srgbClr val="4F46E5"/>
          </a:solidFill>
          <a:ln/>
        </p:spPr>
      </p:sp>
      <p:pic>
        <p:nvPicPr>
          <p:cNvPr id="18" name="Image 3" descr="C:\Users\Sardor\Desktop\diplom ish\diplom\generator\slides-cache\icons\monitor-smartphone-FFFFFF.png">    </p:cNvPr>
          <p:cNvPicPr>
            <a:picLocks noChangeAspect="1"/>
          </p:cNvPicPr>
          <p:nvPr/>
        </p:nvPicPr>
        <p:blipFill>
          <a:blip r:embed="rId4"/>
          <a:stretch>
            <a:fillRect/>
          </a:stretch>
        </p:blipFill>
        <p:spPr>
          <a:xfrm>
            <a:off x="651510" y="5845302"/>
            <a:ext cx="205740" cy="205740"/>
          </a:xfrm>
          <a:prstGeom prst="rect">
            <a:avLst/>
          </a:prstGeom>
        </p:spPr>
      </p:pic>
      <p:sp>
        <p:nvSpPr>
          <p:cNvPr id="19" name="Text 13"/>
          <p:cNvSpPr txBox="1"/>
          <p:nvPr/>
        </p:nvSpPr>
        <p:spPr>
          <a:xfrm>
            <a:off x="1097280" y="5715000"/>
            <a:ext cx="10545775" cy="457200"/>
          </a:xfrm>
          <a:prstGeom prst="rect">
            <a:avLst/>
          </a:prstGeom>
          <a:noFill/>
          <a:ln/>
        </p:spPr>
        <p:txBody>
          <a:bodyPr wrap="square" lIns="0" tIns="0" rIns="0" bIns="0" rtlCol="0" anchor="ctr"/>
          <a:lstStyle/>
          <a:p>
            <a:pPr indent="0" marL="0">
              <a:buNone/>
            </a:pPr>
            <a:r>
              <a:rPr lang="en-US" sz="1400" dirty="0">
                <a:solidFill>
                  <a:srgbClr val="1F2937"/>
                </a:solidFill>
                <a:latin typeface="Arial" pitchFamily="34" charset="0"/>
                <a:ea typeface="Arial" pitchFamily="34" charset="-122"/>
                <a:cs typeface="Arial" pitchFamily="34" charset="-120"/>
              </a:rPr>
              <a:t>Bitta kod bazasi kompyuter, planshet va telefonda ishlaydi — o‘z dizayn tizimi va moslashuvchan maket.</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Joylashtirish va testlash</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17 / 20</a:t>
            </a:r>
            <a:endParaRPr lang="en-US" sz="1000" dirty="0"/>
          </a:p>
        </p:txBody>
      </p:sp>
      <p:sp>
        <p:nvSpPr>
          <p:cNvPr id="5" name="Shape 3"/>
          <p:cNvSpPr/>
          <p:nvPr/>
        </p:nvSpPr>
        <p:spPr>
          <a:xfrm>
            <a:off x="548640" y="1371600"/>
            <a:ext cx="2567864" cy="1325880"/>
          </a:xfrm>
          <a:prstGeom prst="roundRect">
            <a:avLst>
              <a:gd name="adj" fmla="val 8276"/>
            </a:avLst>
          </a:prstGeom>
          <a:solidFill>
            <a:srgbClr val="EEF2FF"/>
          </a:solidFill>
          <a:ln/>
        </p:spPr>
      </p:sp>
      <p:sp>
        <p:nvSpPr>
          <p:cNvPr id="6" name="Text 4"/>
          <p:cNvSpPr txBox="1"/>
          <p:nvPr/>
        </p:nvSpPr>
        <p:spPr>
          <a:xfrm>
            <a:off x="822960" y="1481328"/>
            <a:ext cx="2019224" cy="685800"/>
          </a:xfrm>
          <a:prstGeom prst="rect">
            <a:avLst/>
          </a:prstGeom>
          <a:noFill/>
          <a:ln/>
        </p:spPr>
        <p:txBody>
          <a:bodyPr wrap="square" lIns="0" tIns="0" rIns="0" bIns="0" rtlCol="0" anchor="ctr"/>
          <a:lstStyle/>
          <a:p>
            <a:pPr indent="0" marL="0">
              <a:buNone/>
            </a:pPr>
            <a:r>
              <a:rPr lang="en-US" sz="4000" b="1" dirty="0">
                <a:solidFill>
                  <a:srgbClr val="4F46E5"/>
                </a:solidFill>
                <a:latin typeface="Arial" pitchFamily="34" charset="0"/>
                <a:ea typeface="Arial" pitchFamily="34" charset="-122"/>
                <a:cs typeface="Arial" pitchFamily="34" charset="-120"/>
              </a:rPr>
              <a:t>56</a:t>
            </a:r>
            <a:endParaRPr lang="en-US" sz="4000" dirty="0"/>
          </a:p>
        </p:txBody>
      </p:sp>
      <p:sp>
        <p:nvSpPr>
          <p:cNvPr id="7" name="Text 5"/>
          <p:cNvSpPr txBox="1"/>
          <p:nvPr/>
        </p:nvSpPr>
        <p:spPr>
          <a:xfrm>
            <a:off x="822960" y="2176272"/>
            <a:ext cx="2019224" cy="365760"/>
          </a:xfrm>
          <a:prstGeom prst="rect">
            <a:avLst/>
          </a:prstGeom>
          <a:noFill/>
          <a:ln/>
        </p:spPr>
        <p:txBody>
          <a:bodyPr wrap="square" lIns="0" tIns="0" rIns="0" bIns="0" rtlCol="0" anchor="ctr"/>
          <a:lstStyle/>
          <a:p>
            <a:pPr indent="0" marL="0">
              <a:buNone/>
            </a:pPr>
            <a:r>
              <a:rPr lang="en-US" sz="1400" dirty="0">
                <a:solidFill>
                  <a:srgbClr val="1E1B4B"/>
                </a:solidFill>
                <a:latin typeface="Arial" pitchFamily="34" charset="0"/>
                <a:ea typeface="Arial" pitchFamily="34" charset="-122"/>
                <a:cs typeface="Arial" pitchFamily="34" charset="-120"/>
              </a:rPr>
              <a:t>REST API endpointi</a:t>
            </a:r>
            <a:endParaRPr lang="en-US" sz="1400" dirty="0"/>
          </a:p>
        </p:txBody>
      </p:sp>
      <p:sp>
        <p:nvSpPr>
          <p:cNvPr id="8" name="Shape 6"/>
          <p:cNvSpPr/>
          <p:nvPr/>
        </p:nvSpPr>
        <p:spPr>
          <a:xfrm>
            <a:off x="3390824" y="1371600"/>
            <a:ext cx="2567864" cy="1325880"/>
          </a:xfrm>
          <a:prstGeom prst="roundRect">
            <a:avLst>
              <a:gd name="adj" fmla="val 8276"/>
            </a:avLst>
          </a:prstGeom>
          <a:solidFill>
            <a:srgbClr val="1E1B4B"/>
          </a:solidFill>
          <a:ln/>
        </p:spPr>
      </p:sp>
      <p:sp>
        <p:nvSpPr>
          <p:cNvPr id="9" name="Text 7"/>
          <p:cNvSpPr txBox="1"/>
          <p:nvPr/>
        </p:nvSpPr>
        <p:spPr>
          <a:xfrm>
            <a:off x="3665144" y="1481328"/>
            <a:ext cx="2019224" cy="6858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39</a:t>
            </a:r>
            <a:endParaRPr lang="en-US" sz="4000" dirty="0"/>
          </a:p>
        </p:txBody>
      </p:sp>
      <p:sp>
        <p:nvSpPr>
          <p:cNvPr id="10" name="Text 8"/>
          <p:cNvSpPr txBox="1"/>
          <p:nvPr/>
        </p:nvSpPr>
        <p:spPr>
          <a:xfrm>
            <a:off x="3665144" y="2176272"/>
            <a:ext cx="2019224" cy="365760"/>
          </a:xfrm>
          <a:prstGeom prst="rect">
            <a:avLst/>
          </a:prstGeom>
          <a:noFill/>
          <a:ln/>
        </p:spPr>
        <p:txBody>
          <a:bodyPr wrap="square" lIns="0" tIns="0" rIns="0" bIns="0" rtlCol="0" anchor="ctr"/>
          <a:lstStyle/>
          <a:p>
            <a:pPr indent="0" marL="0">
              <a:buNone/>
            </a:pPr>
            <a:r>
              <a:rPr lang="en-US" sz="1400" dirty="0">
                <a:solidFill>
                  <a:srgbClr val="E0E7FF"/>
                </a:solidFill>
                <a:latin typeface="Arial" pitchFamily="34" charset="0"/>
                <a:ea typeface="Arial" pitchFamily="34" charset="-122"/>
                <a:cs typeface="Arial" pitchFamily="34" charset="-120"/>
              </a:rPr>
              <a:t>unit test — barchasi o‘tdi</a:t>
            </a:r>
            <a:endParaRPr lang="en-US" sz="1400" dirty="0"/>
          </a:p>
        </p:txBody>
      </p:sp>
      <p:sp>
        <p:nvSpPr>
          <p:cNvPr id="11" name="Shape 9"/>
          <p:cNvSpPr/>
          <p:nvPr/>
        </p:nvSpPr>
        <p:spPr>
          <a:xfrm>
            <a:off x="6233008" y="1371600"/>
            <a:ext cx="2567864" cy="1325880"/>
          </a:xfrm>
          <a:prstGeom prst="roundRect">
            <a:avLst>
              <a:gd name="adj" fmla="val 8276"/>
            </a:avLst>
          </a:prstGeom>
          <a:solidFill>
            <a:srgbClr val="EEF2FF"/>
          </a:solidFill>
          <a:ln/>
        </p:spPr>
      </p:sp>
      <p:sp>
        <p:nvSpPr>
          <p:cNvPr id="12" name="Text 10"/>
          <p:cNvSpPr txBox="1"/>
          <p:nvPr/>
        </p:nvSpPr>
        <p:spPr>
          <a:xfrm>
            <a:off x="6507328" y="1481328"/>
            <a:ext cx="2019224" cy="685800"/>
          </a:xfrm>
          <a:prstGeom prst="rect">
            <a:avLst/>
          </a:prstGeom>
          <a:noFill/>
          <a:ln/>
        </p:spPr>
        <p:txBody>
          <a:bodyPr wrap="square" lIns="0" tIns="0" rIns="0" bIns="0" rtlCol="0" anchor="ctr"/>
          <a:lstStyle/>
          <a:p>
            <a:pPr indent="0" marL="0">
              <a:buNone/>
            </a:pPr>
            <a:r>
              <a:rPr lang="en-US" sz="4000" b="1" dirty="0">
                <a:solidFill>
                  <a:srgbClr val="4F46E5"/>
                </a:solidFill>
                <a:latin typeface="Arial" pitchFamily="34" charset="0"/>
                <a:ea typeface="Arial" pitchFamily="34" charset="-122"/>
                <a:cs typeface="Arial" pitchFamily="34" charset="-120"/>
              </a:rPr>
              <a:t>43</a:t>
            </a:r>
            <a:endParaRPr lang="en-US" sz="4000" dirty="0"/>
          </a:p>
        </p:txBody>
      </p:sp>
      <p:sp>
        <p:nvSpPr>
          <p:cNvPr id="13" name="Text 11"/>
          <p:cNvSpPr txBox="1"/>
          <p:nvPr/>
        </p:nvSpPr>
        <p:spPr>
          <a:xfrm>
            <a:off x="6507328" y="2176272"/>
            <a:ext cx="2019224" cy="365760"/>
          </a:xfrm>
          <a:prstGeom prst="rect">
            <a:avLst/>
          </a:prstGeom>
          <a:noFill/>
          <a:ln/>
        </p:spPr>
        <p:txBody>
          <a:bodyPr wrap="square" lIns="0" tIns="0" rIns="0" bIns="0" rtlCol="0" anchor="ctr"/>
          <a:lstStyle/>
          <a:p>
            <a:pPr indent="0" marL="0">
              <a:buNone/>
            </a:pPr>
            <a:r>
              <a:rPr lang="en-US" sz="1400" dirty="0">
                <a:solidFill>
                  <a:srgbClr val="1E1B4B"/>
                </a:solidFill>
                <a:latin typeface="Arial" pitchFamily="34" charset="0"/>
                <a:ea typeface="Arial" pitchFamily="34" charset="-122"/>
                <a:cs typeface="Arial" pitchFamily="34" charset="-120"/>
              </a:rPr>
              <a:t>API integratsion tekshiruvi</a:t>
            </a:r>
            <a:endParaRPr lang="en-US" sz="1400" dirty="0"/>
          </a:p>
        </p:txBody>
      </p:sp>
      <p:sp>
        <p:nvSpPr>
          <p:cNvPr id="14" name="Shape 12"/>
          <p:cNvSpPr/>
          <p:nvPr/>
        </p:nvSpPr>
        <p:spPr>
          <a:xfrm>
            <a:off x="9075191" y="1371600"/>
            <a:ext cx="2567864" cy="1325880"/>
          </a:xfrm>
          <a:prstGeom prst="roundRect">
            <a:avLst>
              <a:gd name="adj" fmla="val 8276"/>
            </a:avLst>
          </a:prstGeom>
          <a:solidFill>
            <a:srgbClr val="EEF2FF"/>
          </a:solidFill>
          <a:ln/>
        </p:spPr>
      </p:sp>
      <p:sp>
        <p:nvSpPr>
          <p:cNvPr id="15" name="Text 13"/>
          <p:cNvSpPr txBox="1"/>
          <p:nvPr/>
        </p:nvSpPr>
        <p:spPr>
          <a:xfrm>
            <a:off x="9349511" y="1481328"/>
            <a:ext cx="2019224" cy="685800"/>
          </a:xfrm>
          <a:prstGeom prst="rect">
            <a:avLst/>
          </a:prstGeom>
          <a:noFill/>
          <a:ln/>
        </p:spPr>
        <p:txBody>
          <a:bodyPr wrap="square" lIns="0" tIns="0" rIns="0" bIns="0" rtlCol="0" anchor="ctr"/>
          <a:lstStyle/>
          <a:p>
            <a:pPr indent="0" marL="0">
              <a:buNone/>
            </a:pPr>
            <a:r>
              <a:rPr lang="en-US" sz="3000" b="1" dirty="0">
                <a:solidFill>
                  <a:srgbClr val="4F46E5"/>
                </a:solidFill>
                <a:latin typeface="Arial" pitchFamily="34" charset="0"/>
                <a:ea typeface="Arial" pitchFamily="34" charset="-122"/>
                <a:cs typeface="Arial" pitchFamily="34" charset="-120"/>
              </a:rPr>
              <a:t>Docker</a:t>
            </a:r>
            <a:endParaRPr lang="en-US" sz="3000" dirty="0"/>
          </a:p>
        </p:txBody>
      </p:sp>
      <p:sp>
        <p:nvSpPr>
          <p:cNvPr id="16" name="Text 14"/>
          <p:cNvSpPr txBox="1"/>
          <p:nvPr/>
        </p:nvSpPr>
        <p:spPr>
          <a:xfrm>
            <a:off x="9349511" y="2176272"/>
            <a:ext cx="2019224" cy="365760"/>
          </a:xfrm>
          <a:prstGeom prst="rect">
            <a:avLst/>
          </a:prstGeom>
          <a:noFill/>
          <a:ln/>
        </p:spPr>
        <p:txBody>
          <a:bodyPr wrap="square" lIns="0" tIns="0" rIns="0" bIns="0" rtlCol="0" anchor="ctr"/>
          <a:lstStyle/>
          <a:p>
            <a:pPr indent="0" marL="0">
              <a:buNone/>
            </a:pPr>
            <a:r>
              <a:rPr lang="en-US" sz="1400" dirty="0">
                <a:solidFill>
                  <a:srgbClr val="1E1B4B"/>
                </a:solidFill>
                <a:latin typeface="Arial" pitchFamily="34" charset="0"/>
                <a:ea typeface="Arial" pitchFamily="34" charset="-122"/>
                <a:cs typeface="Arial" pitchFamily="34" charset="-120"/>
              </a:rPr>
              <a:t>Render bulutida ishlaydi</a:t>
            </a:r>
            <a:endParaRPr lang="en-US" sz="1400" dirty="0"/>
          </a:p>
        </p:txBody>
      </p:sp>
      <p:sp>
        <p:nvSpPr>
          <p:cNvPr id="17" name="Shape 15"/>
          <p:cNvSpPr/>
          <p:nvPr/>
        </p:nvSpPr>
        <p:spPr>
          <a:xfrm>
            <a:off x="7909788" y="2971800"/>
            <a:ext cx="3733268" cy="315468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8" name="Image 0" descr="C:\Users\Sardor\Desktop\diplom ish\diplom\generator\rasmlar\3-19-unit-tests.png">    </p:cNvPr>
          <p:cNvPicPr>
            <a:picLocks noChangeAspect="1"/>
          </p:cNvPicPr>
          <p:nvPr/>
        </p:nvPicPr>
        <p:blipFill>
          <a:blip r:embed="rId1"/>
          <a:stretch>
            <a:fillRect/>
          </a:stretch>
        </p:blipFill>
        <p:spPr>
          <a:xfrm>
            <a:off x="7909788" y="2971800"/>
            <a:ext cx="3733268" cy="3154680"/>
          </a:xfrm>
          <a:prstGeom prst="rect">
            <a:avLst/>
          </a:prstGeom>
        </p:spPr>
      </p:pic>
      <p:sp>
        <p:nvSpPr>
          <p:cNvPr id="19" name="Text 16"/>
          <p:cNvSpPr txBox="1"/>
          <p:nvPr/>
        </p:nvSpPr>
        <p:spPr>
          <a:xfrm>
            <a:off x="548640" y="3017520"/>
            <a:ext cx="6995388" cy="310896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1F2937"/>
                </a:solidFill>
                <a:latin typeface="Arial" pitchFamily="34" charset="0"/>
                <a:ea typeface="Arial" pitchFamily="34" charset="-122"/>
                <a:cs typeface="Arial" pitchFamily="34" charset="-120"/>
              </a:rPr>
              <a:t>Ko‘p bosqichli Docker obrazi: SDK’da yig‘ish, yengil ASP.NET runtime’da ishga tushirish</a:t>
            </a:r>
            <a:endParaRPr lang="en-US" sz="1500" dirty="0"/>
          </a:p>
          <a:p>
            <a:pPr marL="342900" indent="-342900">
              <a:spcAft>
                <a:spcPts val="900"/>
              </a:spcAft>
              <a:buSzPct val="100000"/>
              <a:buChar char="•"/>
            </a:pPr>
            <a:r>
              <a:rPr lang="en-US" sz="1500" dirty="0">
                <a:solidFill>
                  <a:srgbClr val="1F2937"/>
                </a:solidFill>
                <a:latin typeface="Arial" pitchFamily="34" charset="0"/>
                <a:ea typeface="Arial" pitchFamily="34" charset="-122"/>
                <a:cs typeface="Arial" pitchFamily="34" charset="-120"/>
              </a:rPr>
              <a:t>GitHub’ga push qilinganda Render obrazni avtomatik qayta yig‘adi</a:t>
            </a:r>
            <a:endParaRPr lang="en-US" sz="1500" dirty="0"/>
          </a:p>
          <a:p>
            <a:pPr marL="342900" indent="-342900">
              <a:spcAft>
                <a:spcPts val="900"/>
              </a:spcAft>
              <a:buSzPct val="100000"/>
              <a:buChar char="•"/>
            </a:pPr>
            <a:r>
              <a:rPr lang="en-US" sz="1500" dirty="0">
                <a:solidFill>
                  <a:srgbClr val="1F2937"/>
                </a:solidFill>
                <a:latin typeface="Arial" pitchFamily="34" charset="0"/>
                <a:ea typeface="Arial" pitchFamily="34" charset="-122"/>
                <a:cs typeface="Arial" pitchFamily="34" charset="-120"/>
              </a:rPr>
              <a:t>Maxfiy kalitlar kodda emas, muhit o‘zgaruvchilarida</a:t>
            </a:r>
            <a:endParaRPr lang="en-US" sz="1500" dirty="0"/>
          </a:p>
          <a:p>
            <a:pPr marL="342900" indent="-342900">
              <a:spcAft>
                <a:spcPts val="900"/>
              </a:spcAft>
              <a:buSzPct val="100000"/>
              <a:buChar char="•"/>
            </a:pPr>
            <a:r>
              <a:rPr lang="en-US" sz="1500" dirty="0">
                <a:solidFill>
                  <a:srgbClr val="1F2937"/>
                </a:solidFill>
                <a:latin typeface="Arial" pitchFamily="34" charset="0"/>
                <a:ea typeface="Arial" pitchFamily="34" charset="-122"/>
                <a:cs typeface="Arial" pitchFamily="34" charset="-120"/>
              </a:rPr>
              <a:t>xUnit + NSubstitute: guruhlar, sahifalash, xavfsizlik va validatsiya testlari</a:t>
            </a:r>
            <a:endParaRPr lang="en-US" sz="1500" dirty="0"/>
          </a:p>
          <a:p>
            <a:pPr marL="342900" indent="-342900">
              <a:spcAft>
                <a:spcPts val="900"/>
              </a:spcAft>
              <a:buSzPct val="100000"/>
              <a:buChar char="•"/>
            </a:pPr>
            <a:r>
              <a:rPr lang="en-US" sz="1500" dirty="0">
                <a:solidFill>
                  <a:srgbClr val="1F2937"/>
                </a:solidFill>
                <a:latin typeface="Arial" pitchFamily="34" charset="0"/>
                <a:ea typeface="Arial" pitchFamily="34" charset="-122"/>
                <a:cs typeface="Arial" pitchFamily="34" charset="-120"/>
              </a:rPr>
              <a:t>Swagger UI orqali API hujjatlari va qo‘lda sinov</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Hayot faoliyati xavfsizligi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18 / 20</a:t>
            </a:r>
            <a:endParaRPr lang="en-US" sz="1000" dirty="0"/>
          </a:p>
        </p:txBody>
      </p:sp>
      <p:sp>
        <p:nvSpPr>
          <p:cNvPr id="5" name="Shape 3"/>
          <p:cNvSpPr/>
          <p:nvPr/>
        </p:nvSpPr>
        <p:spPr>
          <a:xfrm>
            <a:off x="548640" y="1325880"/>
            <a:ext cx="4502727" cy="297180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6" name="Image 0" descr="C:\Users\Sardor\Desktop\diplom ish\diplom\generator\rasmlar\4-1-workstation.png">    </p:cNvPr>
          <p:cNvPicPr>
            <a:picLocks noChangeAspect="1"/>
          </p:cNvPicPr>
          <p:nvPr/>
        </p:nvPicPr>
        <p:blipFill>
          <a:blip r:embed="rId1"/>
          <a:stretch>
            <a:fillRect/>
          </a:stretch>
        </p:blipFill>
        <p:spPr>
          <a:xfrm>
            <a:off x="548640" y="1325880"/>
            <a:ext cx="4502727" cy="2971800"/>
          </a:xfrm>
          <a:prstGeom prst="rect">
            <a:avLst/>
          </a:prstGeom>
        </p:spPr>
      </p:pic>
      <p:sp>
        <p:nvSpPr>
          <p:cNvPr id="7" name="Shape 4"/>
          <p:cNvSpPr/>
          <p:nvPr/>
        </p:nvSpPr>
        <p:spPr>
          <a:xfrm>
            <a:off x="6548541" y="1325880"/>
            <a:ext cx="5094514" cy="297180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8" name="Image 1" descr="C:\Users\Sardor\Desktop\diplom ish\diplom\generator\rasmlar\4-3-evacuation-plan.png">    </p:cNvPr>
          <p:cNvPicPr>
            <a:picLocks noChangeAspect="1"/>
          </p:cNvPicPr>
          <p:nvPr/>
        </p:nvPicPr>
        <p:blipFill>
          <a:blip r:embed="rId2"/>
          <a:stretch>
            <a:fillRect/>
          </a:stretch>
        </p:blipFill>
        <p:spPr>
          <a:xfrm>
            <a:off x="6548541" y="1325880"/>
            <a:ext cx="5094514" cy="2971800"/>
          </a:xfrm>
          <a:prstGeom prst="rect">
            <a:avLst/>
          </a:prstGeom>
        </p:spPr>
      </p:pic>
      <p:sp>
        <p:nvSpPr>
          <p:cNvPr id="9" name="Text 5"/>
          <p:cNvSpPr txBox="1"/>
          <p:nvPr/>
        </p:nvSpPr>
        <p:spPr>
          <a:xfrm>
            <a:off x="548640" y="4370832"/>
            <a:ext cx="4502727" cy="274320"/>
          </a:xfrm>
          <a:prstGeom prst="rect">
            <a:avLst/>
          </a:prstGeom>
          <a:noFill/>
          <a:ln/>
        </p:spPr>
        <p:txBody>
          <a:bodyPr wrap="square" lIns="0" tIns="0" rIns="0" bIns="0" rtlCol="0" anchor="ctr"/>
          <a:lstStyle/>
          <a:p>
            <a:pPr algn="ctr" indent="0" marL="0">
              <a:buNone/>
            </a:pPr>
            <a:r>
              <a:rPr lang="en-US" sz="1200" i="1" dirty="0">
                <a:solidFill>
                  <a:srgbClr val="6B7280"/>
                </a:solidFill>
                <a:latin typeface="Arial" pitchFamily="34" charset="0"/>
                <a:ea typeface="Arial" pitchFamily="34" charset="-122"/>
                <a:cs typeface="Arial" pitchFamily="34" charset="-120"/>
              </a:rPr>
              <a:t>Ergonomik ish joyi va to‘g‘ri gavda holati</a:t>
            </a:r>
            <a:endParaRPr lang="en-US" sz="1200" dirty="0"/>
          </a:p>
        </p:txBody>
      </p:sp>
      <p:sp>
        <p:nvSpPr>
          <p:cNvPr id="10" name="Text 6"/>
          <p:cNvSpPr txBox="1"/>
          <p:nvPr/>
        </p:nvSpPr>
        <p:spPr>
          <a:xfrm>
            <a:off x="6548541" y="4370832"/>
            <a:ext cx="5094514" cy="274320"/>
          </a:xfrm>
          <a:prstGeom prst="rect">
            <a:avLst/>
          </a:prstGeom>
          <a:noFill/>
          <a:ln/>
        </p:spPr>
        <p:txBody>
          <a:bodyPr wrap="square" lIns="0" tIns="0" rIns="0" bIns="0" rtlCol="0" anchor="ctr"/>
          <a:lstStyle/>
          <a:p>
            <a:pPr algn="ctr" indent="0" marL="0">
              <a:buNone/>
            </a:pPr>
            <a:r>
              <a:rPr lang="en-US" sz="1200" i="1" dirty="0">
                <a:solidFill>
                  <a:srgbClr val="6B7280"/>
                </a:solidFill>
                <a:latin typeface="Arial" pitchFamily="34" charset="0"/>
                <a:ea typeface="Arial" pitchFamily="34" charset="-122"/>
                <a:cs typeface="Arial" pitchFamily="34" charset="-120"/>
              </a:rPr>
              <a:t>IT-ofis qavatining evakuatsiya reja-sxemasi</a:t>
            </a:r>
            <a:endParaRPr lang="en-US" sz="1200" dirty="0"/>
          </a:p>
        </p:txBody>
      </p:sp>
      <p:sp>
        <p:nvSpPr>
          <p:cNvPr id="11" name="Shape 7"/>
          <p:cNvSpPr/>
          <p:nvPr/>
        </p:nvSpPr>
        <p:spPr>
          <a:xfrm>
            <a:off x="548640" y="4846320"/>
            <a:ext cx="2567864" cy="1097280"/>
          </a:xfrm>
          <a:prstGeom prst="roundRect">
            <a:avLst>
              <a:gd name="adj" fmla="val 10000"/>
            </a:avLst>
          </a:prstGeom>
          <a:solidFill>
            <a:srgbClr val="EEF2FF"/>
          </a:solidFill>
          <a:ln/>
        </p:spPr>
      </p:sp>
      <p:sp>
        <p:nvSpPr>
          <p:cNvPr id="12" name="Shape 8"/>
          <p:cNvSpPr/>
          <p:nvPr/>
        </p:nvSpPr>
        <p:spPr>
          <a:xfrm>
            <a:off x="731520" y="5029200"/>
            <a:ext cx="457200" cy="457200"/>
          </a:xfrm>
          <a:prstGeom prst="ellipse">
            <a:avLst/>
          </a:prstGeom>
          <a:solidFill>
            <a:srgbClr val="4F46E5"/>
          </a:solidFill>
          <a:ln/>
        </p:spPr>
      </p:sp>
      <p:pic>
        <p:nvPicPr>
          <p:cNvPr id="13" name="Image 2" descr="C:\Users\Sardor\Desktop\diplom ish\diplom\generator\slides-cache\icons\armchair-FFFFFF.png">    </p:cNvPr>
          <p:cNvPicPr>
            <a:picLocks noChangeAspect="1"/>
          </p:cNvPicPr>
          <p:nvPr/>
        </p:nvPicPr>
        <p:blipFill>
          <a:blip r:embed="rId3"/>
          <a:stretch>
            <a:fillRect/>
          </a:stretch>
        </p:blipFill>
        <p:spPr>
          <a:xfrm>
            <a:off x="845820" y="5143500"/>
            <a:ext cx="228600" cy="228600"/>
          </a:xfrm>
          <a:prstGeom prst="rect">
            <a:avLst/>
          </a:prstGeom>
        </p:spPr>
      </p:pic>
      <p:sp>
        <p:nvSpPr>
          <p:cNvPr id="14" name="Text 9"/>
          <p:cNvSpPr txBox="1"/>
          <p:nvPr/>
        </p:nvSpPr>
        <p:spPr>
          <a:xfrm>
            <a:off x="1325880" y="4956048"/>
            <a:ext cx="1699184" cy="457200"/>
          </a:xfrm>
          <a:prstGeom prst="rect">
            <a:avLst/>
          </a:prstGeom>
          <a:noFill/>
          <a:ln/>
        </p:spPr>
        <p:txBody>
          <a:bodyPr wrap="square" lIns="0" tIns="0" rIns="0" bIns="0" rtlCol="0" anchor="ctr"/>
          <a:lstStyle/>
          <a:p>
            <a:pPr indent="0" marL="0">
              <a:buNone/>
            </a:pPr>
            <a:r>
              <a:rPr lang="en-US" sz="2000" b="1" dirty="0">
                <a:solidFill>
                  <a:srgbClr val="1E1B4B"/>
                </a:solidFill>
                <a:latin typeface="Arial" pitchFamily="34" charset="0"/>
                <a:ea typeface="Arial" pitchFamily="34" charset="-122"/>
                <a:cs typeface="Arial" pitchFamily="34" charset="-120"/>
              </a:rPr>
              <a:t>5 ish joyi</a:t>
            </a:r>
            <a:endParaRPr lang="en-US" sz="2000" dirty="0"/>
          </a:p>
        </p:txBody>
      </p:sp>
      <p:sp>
        <p:nvSpPr>
          <p:cNvPr id="15" name="Text 10"/>
          <p:cNvSpPr txBox="1"/>
          <p:nvPr/>
        </p:nvSpPr>
        <p:spPr>
          <a:xfrm>
            <a:off x="1325880" y="5413248"/>
            <a:ext cx="1699184" cy="548640"/>
          </a:xfrm>
          <a:prstGeom prst="rect">
            <a:avLst/>
          </a:prstGeom>
          <a:noFill/>
          <a:ln/>
        </p:spPr>
        <p:txBody>
          <a:bodyPr wrap="square" lIns="0" tIns="0" rIns="0" bIns="0" rtlCol="0" anchor="t"/>
          <a:lstStyle/>
          <a:p>
            <a:pPr indent="0" marL="0">
              <a:buNone/>
            </a:pPr>
            <a:r>
              <a:rPr lang="en-US" sz="1200" dirty="0">
                <a:solidFill>
                  <a:srgbClr val="6B7280"/>
                </a:solidFill>
                <a:latin typeface="Arial" pitchFamily="34" charset="0"/>
                <a:ea typeface="Arial" pitchFamily="34" charset="-122"/>
                <a:cs typeface="Arial" pitchFamily="34" charset="-120"/>
              </a:rPr>
              <a:t>xona 6 × 6 × 3 m</a:t>
            </a:r>
            <a:endParaRPr lang="en-US" sz="1200" dirty="0"/>
          </a:p>
        </p:txBody>
      </p:sp>
      <p:sp>
        <p:nvSpPr>
          <p:cNvPr id="16" name="Shape 11"/>
          <p:cNvSpPr/>
          <p:nvPr/>
        </p:nvSpPr>
        <p:spPr>
          <a:xfrm>
            <a:off x="3390824" y="4846320"/>
            <a:ext cx="2567864" cy="1097280"/>
          </a:xfrm>
          <a:prstGeom prst="roundRect">
            <a:avLst>
              <a:gd name="adj" fmla="val 10000"/>
            </a:avLst>
          </a:prstGeom>
          <a:solidFill>
            <a:srgbClr val="EEF2FF"/>
          </a:solidFill>
          <a:ln/>
        </p:spPr>
      </p:sp>
      <p:sp>
        <p:nvSpPr>
          <p:cNvPr id="17" name="Shape 12"/>
          <p:cNvSpPr/>
          <p:nvPr/>
        </p:nvSpPr>
        <p:spPr>
          <a:xfrm>
            <a:off x="3573704" y="5029200"/>
            <a:ext cx="457200" cy="457200"/>
          </a:xfrm>
          <a:prstGeom prst="ellipse">
            <a:avLst/>
          </a:prstGeom>
          <a:solidFill>
            <a:srgbClr val="4F46E5"/>
          </a:solidFill>
          <a:ln/>
        </p:spPr>
      </p:sp>
      <p:pic>
        <p:nvPicPr>
          <p:cNvPr id="18" name="Image 3" descr="C:\Users\Sardor\Desktop\diplom ish\diplom\generator\slides-cache\icons\lightbulb-FFFFFF.png">    </p:cNvPr>
          <p:cNvPicPr>
            <a:picLocks noChangeAspect="1"/>
          </p:cNvPicPr>
          <p:nvPr/>
        </p:nvPicPr>
        <p:blipFill>
          <a:blip r:embed="rId4"/>
          <a:stretch>
            <a:fillRect/>
          </a:stretch>
        </p:blipFill>
        <p:spPr>
          <a:xfrm>
            <a:off x="3688004" y="5143500"/>
            <a:ext cx="228600" cy="228600"/>
          </a:xfrm>
          <a:prstGeom prst="rect">
            <a:avLst/>
          </a:prstGeom>
        </p:spPr>
      </p:pic>
      <p:sp>
        <p:nvSpPr>
          <p:cNvPr id="19" name="Text 13"/>
          <p:cNvSpPr txBox="1"/>
          <p:nvPr/>
        </p:nvSpPr>
        <p:spPr>
          <a:xfrm>
            <a:off x="4168064" y="4956048"/>
            <a:ext cx="1699184" cy="457200"/>
          </a:xfrm>
          <a:prstGeom prst="rect">
            <a:avLst/>
          </a:prstGeom>
          <a:noFill/>
          <a:ln/>
        </p:spPr>
        <p:txBody>
          <a:bodyPr wrap="square" lIns="0" tIns="0" rIns="0" bIns="0" rtlCol="0" anchor="ctr"/>
          <a:lstStyle/>
          <a:p>
            <a:pPr indent="0" marL="0">
              <a:buNone/>
            </a:pPr>
            <a:r>
              <a:rPr lang="en-US" sz="2000" b="1" dirty="0">
                <a:solidFill>
                  <a:srgbClr val="1E1B4B"/>
                </a:solidFill>
                <a:latin typeface="Arial" pitchFamily="34" charset="0"/>
                <a:ea typeface="Arial" pitchFamily="34" charset="-122"/>
                <a:cs typeface="Arial" pitchFamily="34" charset="-120"/>
              </a:rPr>
              <a:t>421 lk</a:t>
            </a:r>
            <a:endParaRPr lang="en-US" sz="2000" dirty="0"/>
          </a:p>
        </p:txBody>
      </p:sp>
      <p:sp>
        <p:nvSpPr>
          <p:cNvPr id="20" name="Text 14"/>
          <p:cNvSpPr txBox="1"/>
          <p:nvPr/>
        </p:nvSpPr>
        <p:spPr>
          <a:xfrm>
            <a:off x="4168064" y="5413248"/>
            <a:ext cx="1699184" cy="548640"/>
          </a:xfrm>
          <a:prstGeom prst="rect">
            <a:avLst/>
          </a:prstGeom>
          <a:noFill/>
          <a:ln/>
        </p:spPr>
        <p:txBody>
          <a:bodyPr wrap="square" lIns="0" tIns="0" rIns="0" bIns="0" rtlCol="0" anchor="t"/>
          <a:lstStyle/>
          <a:p>
            <a:pPr indent="0" marL="0">
              <a:buNone/>
            </a:pPr>
            <a:r>
              <a:rPr lang="en-US" sz="1200" dirty="0">
                <a:solidFill>
                  <a:srgbClr val="6B7280"/>
                </a:solidFill>
                <a:latin typeface="Arial" pitchFamily="34" charset="0"/>
                <a:ea typeface="Arial" pitchFamily="34" charset="-122"/>
                <a:cs typeface="Arial" pitchFamily="34" charset="-120"/>
              </a:rPr>
              <a:t>12 ta LED panel (me’yor 400 lk)</a:t>
            </a:r>
            <a:endParaRPr lang="en-US" sz="1200" dirty="0"/>
          </a:p>
        </p:txBody>
      </p:sp>
      <p:sp>
        <p:nvSpPr>
          <p:cNvPr id="21" name="Shape 15"/>
          <p:cNvSpPr/>
          <p:nvPr/>
        </p:nvSpPr>
        <p:spPr>
          <a:xfrm>
            <a:off x="6233008" y="4846320"/>
            <a:ext cx="2567864" cy="1097280"/>
          </a:xfrm>
          <a:prstGeom prst="roundRect">
            <a:avLst>
              <a:gd name="adj" fmla="val 10000"/>
            </a:avLst>
          </a:prstGeom>
          <a:solidFill>
            <a:srgbClr val="EEF2FF"/>
          </a:solidFill>
          <a:ln/>
        </p:spPr>
      </p:sp>
      <p:sp>
        <p:nvSpPr>
          <p:cNvPr id="22" name="Shape 16"/>
          <p:cNvSpPr/>
          <p:nvPr/>
        </p:nvSpPr>
        <p:spPr>
          <a:xfrm>
            <a:off x="6415888" y="5029200"/>
            <a:ext cx="457200" cy="457200"/>
          </a:xfrm>
          <a:prstGeom prst="ellipse">
            <a:avLst/>
          </a:prstGeom>
          <a:solidFill>
            <a:srgbClr val="4F46E5"/>
          </a:solidFill>
          <a:ln/>
        </p:spPr>
      </p:sp>
      <p:pic>
        <p:nvPicPr>
          <p:cNvPr id="23" name="Image 4" descr="C:\Users\Sardor\Desktop\diplom ish\diplom\generator\slides-cache\icons\wind-FFFFFF.png">    </p:cNvPr>
          <p:cNvPicPr>
            <a:picLocks noChangeAspect="1"/>
          </p:cNvPicPr>
          <p:nvPr/>
        </p:nvPicPr>
        <p:blipFill>
          <a:blip r:embed="rId5"/>
          <a:stretch>
            <a:fillRect/>
          </a:stretch>
        </p:blipFill>
        <p:spPr>
          <a:xfrm>
            <a:off x="6530188" y="5143500"/>
            <a:ext cx="228600" cy="228600"/>
          </a:xfrm>
          <a:prstGeom prst="rect">
            <a:avLst/>
          </a:prstGeom>
        </p:spPr>
      </p:pic>
      <p:sp>
        <p:nvSpPr>
          <p:cNvPr id="24" name="Text 17"/>
          <p:cNvSpPr txBox="1"/>
          <p:nvPr/>
        </p:nvSpPr>
        <p:spPr>
          <a:xfrm>
            <a:off x="7010248" y="4956048"/>
            <a:ext cx="1699184" cy="457200"/>
          </a:xfrm>
          <a:prstGeom prst="rect">
            <a:avLst/>
          </a:prstGeom>
          <a:noFill/>
          <a:ln/>
        </p:spPr>
        <p:txBody>
          <a:bodyPr wrap="square" lIns="0" tIns="0" rIns="0" bIns="0" rtlCol="0" anchor="ctr"/>
          <a:lstStyle/>
          <a:p>
            <a:pPr indent="0" marL="0">
              <a:buNone/>
            </a:pPr>
            <a:r>
              <a:rPr lang="en-US" sz="2000" b="1" dirty="0">
                <a:solidFill>
                  <a:srgbClr val="1E1B4B"/>
                </a:solidFill>
                <a:latin typeface="Arial" pitchFamily="34" charset="0"/>
                <a:ea typeface="Arial" pitchFamily="34" charset="-122"/>
                <a:cs typeface="Arial" pitchFamily="34" charset="-120"/>
              </a:rPr>
              <a:t>150 m³/soat</a:t>
            </a:r>
            <a:endParaRPr lang="en-US" sz="2000" dirty="0"/>
          </a:p>
        </p:txBody>
      </p:sp>
      <p:sp>
        <p:nvSpPr>
          <p:cNvPr id="25" name="Text 18"/>
          <p:cNvSpPr txBox="1"/>
          <p:nvPr/>
        </p:nvSpPr>
        <p:spPr>
          <a:xfrm>
            <a:off x="7010248" y="5413248"/>
            <a:ext cx="1699184" cy="548640"/>
          </a:xfrm>
          <a:prstGeom prst="rect">
            <a:avLst/>
          </a:prstGeom>
          <a:noFill/>
          <a:ln/>
        </p:spPr>
        <p:txBody>
          <a:bodyPr wrap="square" lIns="0" tIns="0" rIns="0" bIns="0" rtlCol="0" anchor="t"/>
          <a:lstStyle/>
          <a:p>
            <a:pPr indent="0" marL="0">
              <a:buNone/>
            </a:pPr>
            <a:r>
              <a:rPr lang="en-US" sz="1200" dirty="0">
                <a:solidFill>
                  <a:srgbClr val="6B7280"/>
                </a:solidFill>
                <a:latin typeface="Arial" pitchFamily="34" charset="0"/>
                <a:ea typeface="Arial" pitchFamily="34" charset="-122"/>
                <a:cs typeface="Arial" pitchFamily="34" charset="-120"/>
              </a:rPr>
              <a:t>toza havo, 5 xodim uchun</a:t>
            </a:r>
            <a:endParaRPr lang="en-US" sz="1200" dirty="0"/>
          </a:p>
        </p:txBody>
      </p:sp>
      <p:sp>
        <p:nvSpPr>
          <p:cNvPr id="26" name="Shape 19"/>
          <p:cNvSpPr/>
          <p:nvPr/>
        </p:nvSpPr>
        <p:spPr>
          <a:xfrm>
            <a:off x="9075191" y="4846320"/>
            <a:ext cx="2567864" cy="1097280"/>
          </a:xfrm>
          <a:prstGeom prst="roundRect">
            <a:avLst>
              <a:gd name="adj" fmla="val 10000"/>
            </a:avLst>
          </a:prstGeom>
          <a:solidFill>
            <a:srgbClr val="EEF2FF"/>
          </a:solidFill>
          <a:ln/>
        </p:spPr>
      </p:sp>
      <p:sp>
        <p:nvSpPr>
          <p:cNvPr id="27" name="Shape 20"/>
          <p:cNvSpPr/>
          <p:nvPr/>
        </p:nvSpPr>
        <p:spPr>
          <a:xfrm>
            <a:off x="9258071" y="5029200"/>
            <a:ext cx="457200" cy="457200"/>
          </a:xfrm>
          <a:prstGeom prst="ellipse">
            <a:avLst/>
          </a:prstGeom>
          <a:solidFill>
            <a:srgbClr val="4F46E5"/>
          </a:solidFill>
          <a:ln/>
        </p:spPr>
      </p:sp>
      <p:pic>
        <p:nvPicPr>
          <p:cNvPr id="28" name="Image 5" descr="C:\Users\Sardor\Desktop\diplom ish\diplom\generator\slides-cache\icons\door-open-FFFFFF.png">    </p:cNvPr>
          <p:cNvPicPr>
            <a:picLocks noChangeAspect="1"/>
          </p:cNvPicPr>
          <p:nvPr/>
        </p:nvPicPr>
        <p:blipFill>
          <a:blip r:embed="rId6"/>
          <a:stretch>
            <a:fillRect/>
          </a:stretch>
        </p:blipFill>
        <p:spPr>
          <a:xfrm>
            <a:off x="9372371" y="5143500"/>
            <a:ext cx="228600" cy="228600"/>
          </a:xfrm>
          <a:prstGeom prst="rect">
            <a:avLst/>
          </a:prstGeom>
        </p:spPr>
      </p:pic>
      <p:sp>
        <p:nvSpPr>
          <p:cNvPr id="29" name="Text 21"/>
          <p:cNvSpPr txBox="1"/>
          <p:nvPr/>
        </p:nvSpPr>
        <p:spPr>
          <a:xfrm>
            <a:off x="9852431" y="4956048"/>
            <a:ext cx="1699184" cy="457200"/>
          </a:xfrm>
          <a:prstGeom prst="rect">
            <a:avLst/>
          </a:prstGeom>
          <a:noFill/>
          <a:ln/>
        </p:spPr>
        <p:txBody>
          <a:bodyPr wrap="square" lIns="0" tIns="0" rIns="0" bIns="0" rtlCol="0" anchor="ctr"/>
          <a:lstStyle/>
          <a:p>
            <a:pPr indent="0" marL="0">
              <a:buNone/>
            </a:pPr>
            <a:r>
              <a:rPr lang="en-US" sz="2000" b="1" dirty="0">
                <a:solidFill>
                  <a:srgbClr val="1E1B4B"/>
                </a:solidFill>
                <a:latin typeface="Arial" pitchFamily="34" charset="0"/>
                <a:ea typeface="Arial" pitchFamily="34" charset="-122"/>
                <a:cs typeface="Arial" pitchFamily="34" charset="-120"/>
              </a:rPr>
              <a:t>≈ 50 soniya</a:t>
            </a:r>
            <a:endParaRPr lang="en-US" sz="2000" dirty="0"/>
          </a:p>
        </p:txBody>
      </p:sp>
      <p:sp>
        <p:nvSpPr>
          <p:cNvPr id="30" name="Text 22"/>
          <p:cNvSpPr txBox="1"/>
          <p:nvPr/>
        </p:nvSpPr>
        <p:spPr>
          <a:xfrm>
            <a:off x="9852431" y="5413248"/>
            <a:ext cx="1699184" cy="548640"/>
          </a:xfrm>
          <a:prstGeom prst="rect">
            <a:avLst/>
          </a:prstGeom>
          <a:noFill/>
          <a:ln/>
        </p:spPr>
        <p:txBody>
          <a:bodyPr wrap="square" lIns="0" tIns="0" rIns="0" bIns="0" rtlCol="0" anchor="t"/>
          <a:lstStyle/>
          <a:p>
            <a:pPr indent="0" marL="0">
              <a:buNone/>
            </a:pPr>
            <a:r>
              <a:rPr lang="en-US" sz="1200" dirty="0">
                <a:solidFill>
                  <a:srgbClr val="6B7280"/>
                </a:solidFill>
                <a:latin typeface="Arial" pitchFamily="34" charset="0"/>
                <a:ea typeface="Arial" pitchFamily="34" charset="-122"/>
                <a:cs typeface="Arial" pitchFamily="34" charset="-120"/>
              </a:rPr>
              <a:t>hisobiy evakuatsiya vaqti</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Xulosa va istiqbollar</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“Milliy chat” dasturini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19 / 20</a:t>
            </a:r>
            <a:endParaRPr lang="en-US" sz="1000" dirty="0"/>
          </a:p>
        </p:txBody>
      </p:sp>
      <p:sp>
        <p:nvSpPr>
          <p:cNvPr id="5" name="Text 3"/>
          <p:cNvSpPr txBox="1"/>
          <p:nvPr/>
        </p:nvSpPr>
        <p:spPr>
          <a:xfrm>
            <a:off x="548640" y="1325880"/>
            <a:ext cx="5943600" cy="411480"/>
          </a:xfrm>
          <a:prstGeom prst="rect">
            <a:avLst/>
          </a:prstGeom>
          <a:noFill/>
          <a:ln/>
        </p:spPr>
        <p:txBody>
          <a:bodyPr wrap="square" lIns="0" tIns="0" rIns="0" bIns="0" rtlCol="0" anchor="ctr"/>
          <a:lstStyle/>
          <a:p>
            <a:pPr indent="0" marL="0">
              <a:buNone/>
            </a:pPr>
            <a:r>
              <a:rPr lang="en-US" sz="1900" b="1" dirty="0">
                <a:solidFill>
                  <a:srgbClr val="1E1B4B"/>
                </a:solidFill>
                <a:latin typeface="Arial" pitchFamily="34" charset="0"/>
                <a:ea typeface="Arial" pitchFamily="34" charset="-122"/>
                <a:cs typeface="Arial" pitchFamily="34" charset="-120"/>
              </a:rPr>
              <a:t>Erishilgan natijalar</a:t>
            </a:r>
            <a:endParaRPr lang="en-US" sz="1900" dirty="0"/>
          </a:p>
        </p:txBody>
      </p:sp>
      <p:pic>
        <p:nvPicPr>
          <p:cNvPr id="6" name="Image 0" descr="C:\Users\Sardor\Desktop\diplom ish\diplom\generator\slides-cache\icons\check-059669.png">    </p:cNvPr>
          <p:cNvPicPr>
            <a:picLocks noChangeAspect="1"/>
          </p:cNvPicPr>
          <p:nvPr/>
        </p:nvPicPr>
        <p:blipFill>
          <a:blip r:embed="rId1"/>
          <a:stretch>
            <a:fillRect/>
          </a:stretch>
        </p:blipFill>
        <p:spPr>
          <a:xfrm>
            <a:off x="548640" y="1856232"/>
            <a:ext cx="310896" cy="310896"/>
          </a:xfrm>
          <a:prstGeom prst="rect">
            <a:avLst/>
          </a:prstGeom>
        </p:spPr>
      </p:pic>
      <p:sp>
        <p:nvSpPr>
          <p:cNvPr id="7" name="Text 4"/>
          <p:cNvSpPr txBox="1"/>
          <p:nvPr/>
        </p:nvSpPr>
        <p:spPr>
          <a:xfrm>
            <a:off x="1005840" y="1874520"/>
            <a:ext cx="5669280" cy="59436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Messenjerlar va real vaqt texnologiyalari tahlil qilindi, SignalR tanlandi</a:t>
            </a:r>
            <a:endParaRPr lang="en-US" sz="1500" dirty="0"/>
          </a:p>
        </p:txBody>
      </p:sp>
      <p:pic>
        <p:nvPicPr>
          <p:cNvPr id="8" name="Image 1" descr="C:\Users\Sardor\Desktop\diplom ish\diplom\generator\slides-cache\icons\check-059669.png">    </p:cNvPr>
          <p:cNvPicPr>
            <a:picLocks noChangeAspect="1"/>
          </p:cNvPicPr>
          <p:nvPr/>
        </p:nvPicPr>
        <p:blipFill>
          <a:blip r:embed="rId2"/>
          <a:stretch>
            <a:fillRect/>
          </a:stretch>
        </p:blipFill>
        <p:spPr>
          <a:xfrm>
            <a:off x="548640" y="2542032"/>
            <a:ext cx="310896" cy="310896"/>
          </a:xfrm>
          <a:prstGeom prst="rect">
            <a:avLst/>
          </a:prstGeom>
        </p:spPr>
      </p:pic>
      <p:sp>
        <p:nvSpPr>
          <p:cNvPr id="9" name="Text 5"/>
          <p:cNvSpPr txBox="1"/>
          <p:nvPr/>
        </p:nvSpPr>
        <p:spPr>
          <a:xfrm>
            <a:off x="1005840" y="2560320"/>
            <a:ext cx="5669280" cy="59436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Clean Architecture asosidagi server, 32 jadvalli PostgreSQL bazasi</a:t>
            </a:r>
            <a:endParaRPr lang="en-US" sz="1500" dirty="0"/>
          </a:p>
        </p:txBody>
      </p:sp>
      <p:pic>
        <p:nvPicPr>
          <p:cNvPr id="10" name="Image 2" descr="C:\Users\Sardor\Desktop\diplom ish\diplom\generator\slides-cache\icons\check-059669.png">    </p:cNvPr>
          <p:cNvPicPr>
            <a:picLocks noChangeAspect="1"/>
          </p:cNvPicPr>
          <p:nvPr/>
        </p:nvPicPr>
        <p:blipFill>
          <a:blip r:embed="rId3"/>
          <a:stretch>
            <a:fillRect/>
          </a:stretch>
        </p:blipFill>
        <p:spPr>
          <a:xfrm>
            <a:off x="548640" y="3227832"/>
            <a:ext cx="310896" cy="310896"/>
          </a:xfrm>
          <a:prstGeom prst="rect">
            <a:avLst/>
          </a:prstGeom>
        </p:spPr>
      </p:pic>
      <p:sp>
        <p:nvSpPr>
          <p:cNvPr id="11" name="Text 6"/>
          <p:cNvSpPr txBox="1"/>
          <p:nvPr/>
        </p:nvSpPr>
        <p:spPr>
          <a:xfrm>
            <a:off x="1005840" y="3246120"/>
            <a:ext cx="5669280" cy="59436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Parolsiz autentifikatsiya: e-pochta kodi, Google, JWT, sessiyalar</a:t>
            </a:r>
            <a:endParaRPr lang="en-US" sz="1500" dirty="0"/>
          </a:p>
        </p:txBody>
      </p:sp>
      <p:pic>
        <p:nvPicPr>
          <p:cNvPr id="12" name="Image 3" descr="C:\Users\Sardor\Desktop\diplom ish\diplom\generator\slides-cache\icons\check-059669.png">    </p:cNvPr>
          <p:cNvPicPr>
            <a:picLocks noChangeAspect="1"/>
          </p:cNvPicPr>
          <p:nvPr/>
        </p:nvPicPr>
        <p:blipFill>
          <a:blip r:embed="rId4"/>
          <a:stretch>
            <a:fillRect/>
          </a:stretch>
        </p:blipFill>
        <p:spPr>
          <a:xfrm>
            <a:off x="548640" y="3913632"/>
            <a:ext cx="310896" cy="310896"/>
          </a:xfrm>
          <a:prstGeom prst="rect">
            <a:avLst/>
          </a:prstGeom>
        </p:spPr>
      </p:pic>
      <p:sp>
        <p:nvSpPr>
          <p:cNvPr id="13" name="Text 7"/>
          <p:cNvSpPr txBox="1"/>
          <p:nvPr/>
        </p:nvSpPr>
        <p:spPr>
          <a:xfrm>
            <a:off x="1005840" y="3931920"/>
            <a:ext cx="5669280" cy="59436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Shaxsiy va guruh chatlari, media fayllar, hikoyalar — real vaqtda</a:t>
            </a:r>
            <a:endParaRPr lang="en-US" sz="1500" dirty="0"/>
          </a:p>
        </p:txBody>
      </p:sp>
      <p:pic>
        <p:nvPicPr>
          <p:cNvPr id="14" name="Image 4" descr="C:\Users\Sardor\Desktop\diplom ish\diplom\generator\slides-cache\icons\check-059669.png">    </p:cNvPr>
          <p:cNvPicPr>
            <a:picLocks noChangeAspect="1"/>
          </p:cNvPicPr>
          <p:nvPr/>
        </p:nvPicPr>
        <p:blipFill>
          <a:blip r:embed="rId5"/>
          <a:stretch>
            <a:fillRect/>
          </a:stretch>
        </p:blipFill>
        <p:spPr>
          <a:xfrm>
            <a:off x="548640" y="4599432"/>
            <a:ext cx="310896" cy="310896"/>
          </a:xfrm>
          <a:prstGeom prst="rect">
            <a:avLst/>
          </a:prstGeom>
        </p:spPr>
      </p:pic>
      <p:sp>
        <p:nvSpPr>
          <p:cNvPr id="15" name="Text 8"/>
          <p:cNvSpPr txBox="1"/>
          <p:nvPr/>
        </p:nvSpPr>
        <p:spPr>
          <a:xfrm>
            <a:off x="1005840" y="4617720"/>
            <a:ext cx="5669280" cy="59436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Angular 22 da moslashuvchan, ikki mavzuli o‘zbekcha interfeys</a:t>
            </a:r>
            <a:endParaRPr lang="en-US" sz="1500" dirty="0"/>
          </a:p>
        </p:txBody>
      </p:sp>
      <p:pic>
        <p:nvPicPr>
          <p:cNvPr id="16" name="Image 5" descr="C:\Users\Sardor\Desktop\diplom ish\diplom\generator\slides-cache\icons\check-059669.png">    </p:cNvPr>
          <p:cNvPicPr>
            <a:picLocks noChangeAspect="1"/>
          </p:cNvPicPr>
          <p:nvPr/>
        </p:nvPicPr>
        <p:blipFill>
          <a:blip r:embed="rId6"/>
          <a:stretch>
            <a:fillRect/>
          </a:stretch>
        </p:blipFill>
        <p:spPr>
          <a:xfrm>
            <a:off x="548640" y="5285232"/>
            <a:ext cx="310896" cy="310896"/>
          </a:xfrm>
          <a:prstGeom prst="rect">
            <a:avLst/>
          </a:prstGeom>
        </p:spPr>
      </p:pic>
      <p:sp>
        <p:nvSpPr>
          <p:cNvPr id="17" name="Text 9"/>
          <p:cNvSpPr txBox="1"/>
          <p:nvPr/>
        </p:nvSpPr>
        <p:spPr>
          <a:xfrm>
            <a:off x="1005840" y="5303520"/>
            <a:ext cx="5669280" cy="59436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Docker orqali bulutga joylashtirildi, testlar bilan tasdiqlandi</a:t>
            </a:r>
            <a:endParaRPr lang="en-US" sz="1500" dirty="0"/>
          </a:p>
        </p:txBody>
      </p:sp>
      <p:sp>
        <p:nvSpPr>
          <p:cNvPr id="18" name="Shape 10"/>
          <p:cNvSpPr/>
          <p:nvPr/>
        </p:nvSpPr>
        <p:spPr>
          <a:xfrm>
            <a:off x="6949440" y="1325880"/>
            <a:ext cx="4693615" cy="4754880"/>
          </a:xfrm>
          <a:prstGeom prst="roundRect">
            <a:avLst>
              <a:gd name="adj" fmla="val 2338"/>
            </a:avLst>
          </a:prstGeom>
          <a:solidFill>
            <a:srgbClr val="1E1B4B"/>
          </a:solidFill>
          <a:ln/>
        </p:spPr>
      </p:sp>
      <p:sp>
        <p:nvSpPr>
          <p:cNvPr id="19" name="Text 11"/>
          <p:cNvSpPr txBox="1"/>
          <p:nvPr/>
        </p:nvSpPr>
        <p:spPr>
          <a:xfrm>
            <a:off x="7269480" y="1508760"/>
            <a:ext cx="4053535" cy="411480"/>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Istiqbollar</a:t>
            </a:r>
            <a:endParaRPr lang="en-US" sz="1900" dirty="0"/>
          </a:p>
        </p:txBody>
      </p:sp>
      <p:sp>
        <p:nvSpPr>
          <p:cNvPr id="20" name="Shape 12"/>
          <p:cNvSpPr/>
          <p:nvPr/>
        </p:nvSpPr>
        <p:spPr>
          <a:xfrm>
            <a:off x="7269480" y="2103120"/>
            <a:ext cx="438912" cy="438912"/>
          </a:xfrm>
          <a:prstGeom prst="ellipse">
            <a:avLst/>
          </a:prstGeom>
          <a:solidFill>
            <a:srgbClr val="4F46E5"/>
          </a:solidFill>
          <a:ln/>
        </p:spPr>
      </p:sp>
      <p:pic>
        <p:nvPicPr>
          <p:cNvPr id="21" name="Image 6" descr="C:\Users\Sardor\Desktop\diplom ish\diplom\generator\slides-cache\icons\phone-FFFFFF.png">    </p:cNvPr>
          <p:cNvPicPr>
            <a:picLocks noChangeAspect="1"/>
          </p:cNvPicPr>
          <p:nvPr/>
        </p:nvPicPr>
        <p:blipFill>
          <a:blip r:embed="rId7"/>
          <a:stretch>
            <a:fillRect/>
          </a:stretch>
        </p:blipFill>
        <p:spPr>
          <a:xfrm>
            <a:off x="7379208" y="2212848"/>
            <a:ext cx="219456" cy="219456"/>
          </a:xfrm>
          <a:prstGeom prst="rect">
            <a:avLst/>
          </a:prstGeom>
        </p:spPr>
      </p:pic>
      <p:sp>
        <p:nvSpPr>
          <p:cNvPr id="22" name="Text 13"/>
          <p:cNvSpPr txBox="1"/>
          <p:nvPr/>
        </p:nvSpPr>
        <p:spPr>
          <a:xfrm>
            <a:off x="7863840" y="2103120"/>
            <a:ext cx="3596335" cy="438912"/>
          </a:xfrm>
          <a:prstGeom prst="rect">
            <a:avLst/>
          </a:prstGeom>
          <a:noFill/>
          <a:ln/>
        </p:spPr>
        <p:txBody>
          <a:bodyPr wrap="square" lIns="0" tIns="0" rIns="0" bIns="0" rtlCol="0" anchor="ctr"/>
          <a:lstStyle/>
          <a:p>
            <a:pPr indent="0" marL="0">
              <a:buNone/>
            </a:pPr>
            <a:r>
              <a:rPr lang="en-US" sz="1500" dirty="0">
                <a:solidFill>
                  <a:srgbClr val="E0E7FF"/>
                </a:solidFill>
                <a:latin typeface="Arial" pitchFamily="34" charset="0"/>
                <a:ea typeface="Arial" pitchFamily="34" charset="-122"/>
                <a:cs typeface="Arial" pitchFamily="34" charset="-120"/>
              </a:rPr>
              <a:t>WebRTC ovozli va video qo‘ng‘iroqlar</a:t>
            </a:r>
            <a:endParaRPr lang="en-US" sz="1500" dirty="0"/>
          </a:p>
        </p:txBody>
      </p:sp>
      <p:sp>
        <p:nvSpPr>
          <p:cNvPr id="23" name="Shape 14"/>
          <p:cNvSpPr/>
          <p:nvPr/>
        </p:nvSpPr>
        <p:spPr>
          <a:xfrm>
            <a:off x="7269480" y="2743200"/>
            <a:ext cx="438912" cy="438912"/>
          </a:xfrm>
          <a:prstGeom prst="ellipse">
            <a:avLst/>
          </a:prstGeom>
          <a:solidFill>
            <a:srgbClr val="4F46E5"/>
          </a:solidFill>
          <a:ln/>
        </p:spPr>
      </p:sp>
      <p:pic>
        <p:nvPicPr>
          <p:cNvPr id="24" name="Image 7" descr="C:\Users\Sardor\Desktop\diplom ish\diplom\generator\slides-cache\icons\lock-FFFFFF.png">    </p:cNvPr>
          <p:cNvPicPr>
            <a:picLocks noChangeAspect="1"/>
          </p:cNvPicPr>
          <p:nvPr/>
        </p:nvPicPr>
        <p:blipFill>
          <a:blip r:embed="rId8"/>
          <a:stretch>
            <a:fillRect/>
          </a:stretch>
        </p:blipFill>
        <p:spPr>
          <a:xfrm>
            <a:off x="7379208" y="2852928"/>
            <a:ext cx="219456" cy="219456"/>
          </a:xfrm>
          <a:prstGeom prst="rect">
            <a:avLst/>
          </a:prstGeom>
        </p:spPr>
      </p:pic>
      <p:sp>
        <p:nvSpPr>
          <p:cNvPr id="25" name="Text 15"/>
          <p:cNvSpPr txBox="1"/>
          <p:nvPr/>
        </p:nvSpPr>
        <p:spPr>
          <a:xfrm>
            <a:off x="7863840" y="2743200"/>
            <a:ext cx="3596335" cy="438912"/>
          </a:xfrm>
          <a:prstGeom prst="rect">
            <a:avLst/>
          </a:prstGeom>
          <a:noFill/>
          <a:ln/>
        </p:spPr>
        <p:txBody>
          <a:bodyPr wrap="square" lIns="0" tIns="0" rIns="0" bIns="0" rtlCol="0" anchor="ctr"/>
          <a:lstStyle/>
          <a:p>
            <a:pPr indent="0" marL="0">
              <a:buNone/>
            </a:pPr>
            <a:r>
              <a:rPr lang="en-US" sz="1500" dirty="0">
                <a:solidFill>
                  <a:srgbClr val="E0E7FF"/>
                </a:solidFill>
                <a:latin typeface="Arial" pitchFamily="34" charset="0"/>
                <a:ea typeface="Arial" pitchFamily="34" charset="-122"/>
                <a:cs typeface="Arial" pitchFamily="34" charset="-120"/>
              </a:rPr>
              <a:t>Uchdan-uchgacha shifrlash (E2E)</a:t>
            </a:r>
            <a:endParaRPr lang="en-US" sz="1500" dirty="0"/>
          </a:p>
        </p:txBody>
      </p:sp>
      <p:sp>
        <p:nvSpPr>
          <p:cNvPr id="26" name="Shape 16"/>
          <p:cNvSpPr/>
          <p:nvPr/>
        </p:nvSpPr>
        <p:spPr>
          <a:xfrm>
            <a:off x="7269480" y="3383280"/>
            <a:ext cx="438912" cy="438912"/>
          </a:xfrm>
          <a:prstGeom prst="ellipse">
            <a:avLst/>
          </a:prstGeom>
          <a:solidFill>
            <a:srgbClr val="4F46E5"/>
          </a:solidFill>
          <a:ln/>
        </p:spPr>
      </p:sp>
      <p:pic>
        <p:nvPicPr>
          <p:cNvPr id="27" name="Image 8" descr="C:\Users\Sardor\Desktop\diplom ish\diplom\generator\slides-cache\icons\bot-FFFFFF.png">    </p:cNvPr>
          <p:cNvPicPr>
            <a:picLocks noChangeAspect="1"/>
          </p:cNvPicPr>
          <p:nvPr/>
        </p:nvPicPr>
        <p:blipFill>
          <a:blip r:embed="rId9"/>
          <a:stretch>
            <a:fillRect/>
          </a:stretch>
        </p:blipFill>
        <p:spPr>
          <a:xfrm>
            <a:off x="7379208" y="3493008"/>
            <a:ext cx="219456" cy="219456"/>
          </a:xfrm>
          <a:prstGeom prst="rect">
            <a:avLst/>
          </a:prstGeom>
        </p:spPr>
      </p:pic>
      <p:sp>
        <p:nvSpPr>
          <p:cNvPr id="28" name="Text 17"/>
          <p:cNvSpPr txBox="1"/>
          <p:nvPr/>
        </p:nvSpPr>
        <p:spPr>
          <a:xfrm>
            <a:off x="7863840" y="3383280"/>
            <a:ext cx="3596335" cy="438912"/>
          </a:xfrm>
          <a:prstGeom prst="rect">
            <a:avLst/>
          </a:prstGeom>
          <a:noFill/>
          <a:ln/>
        </p:spPr>
        <p:txBody>
          <a:bodyPr wrap="square" lIns="0" tIns="0" rIns="0" bIns="0" rtlCol="0" anchor="ctr"/>
          <a:lstStyle/>
          <a:p>
            <a:pPr indent="0" marL="0">
              <a:buNone/>
            </a:pPr>
            <a:r>
              <a:rPr lang="en-US" sz="1500" dirty="0">
                <a:solidFill>
                  <a:srgbClr val="E0E7FF"/>
                </a:solidFill>
                <a:latin typeface="Arial" pitchFamily="34" charset="0"/>
                <a:ea typeface="Arial" pitchFamily="34" charset="-122"/>
                <a:cs typeface="Arial" pitchFamily="34" charset="-120"/>
              </a:rPr>
              <a:t>Kanallar va botlar platformasi</a:t>
            </a:r>
            <a:endParaRPr lang="en-US" sz="1500" dirty="0"/>
          </a:p>
        </p:txBody>
      </p:sp>
      <p:sp>
        <p:nvSpPr>
          <p:cNvPr id="29" name="Shape 18"/>
          <p:cNvSpPr/>
          <p:nvPr/>
        </p:nvSpPr>
        <p:spPr>
          <a:xfrm>
            <a:off x="7269480" y="4023360"/>
            <a:ext cx="438912" cy="438912"/>
          </a:xfrm>
          <a:prstGeom prst="ellipse">
            <a:avLst/>
          </a:prstGeom>
          <a:solidFill>
            <a:srgbClr val="4F46E5"/>
          </a:solidFill>
          <a:ln/>
        </p:spPr>
      </p:sp>
      <p:pic>
        <p:nvPicPr>
          <p:cNvPr id="30" name="Image 9" descr="C:\Users\Sardor\Desktop\diplom ish\diplom\generator\slides-cache\icons\bell-FFFFFF.png">    </p:cNvPr>
          <p:cNvPicPr>
            <a:picLocks noChangeAspect="1"/>
          </p:cNvPicPr>
          <p:nvPr/>
        </p:nvPicPr>
        <p:blipFill>
          <a:blip r:embed="rId10"/>
          <a:stretch>
            <a:fillRect/>
          </a:stretch>
        </p:blipFill>
        <p:spPr>
          <a:xfrm>
            <a:off x="7379208" y="4133088"/>
            <a:ext cx="219456" cy="219456"/>
          </a:xfrm>
          <a:prstGeom prst="rect">
            <a:avLst/>
          </a:prstGeom>
        </p:spPr>
      </p:pic>
      <p:sp>
        <p:nvSpPr>
          <p:cNvPr id="31" name="Text 19"/>
          <p:cNvSpPr txBox="1"/>
          <p:nvPr/>
        </p:nvSpPr>
        <p:spPr>
          <a:xfrm>
            <a:off x="7863840" y="4023360"/>
            <a:ext cx="3596335" cy="438912"/>
          </a:xfrm>
          <a:prstGeom prst="rect">
            <a:avLst/>
          </a:prstGeom>
          <a:noFill/>
          <a:ln/>
        </p:spPr>
        <p:txBody>
          <a:bodyPr wrap="square" lIns="0" tIns="0" rIns="0" bIns="0" rtlCol="0" anchor="ctr"/>
          <a:lstStyle/>
          <a:p>
            <a:pPr indent="0" marL="0">
              <a:buNone/>
            </a:pPr>
            <a:r>
              <a:rPr lang="en-US" sz="1500" dirty="0">
                <a:solidFill>
                  <a:srgbClr val="E0E7FF"/>
                </a:solidFill>
                <a:latin typeface="Arial" pitchFamily="34" charset="0"/>
                <a:ea typeface="Arial" pitchFamily="34" charset="-122"/>
                <a:cs typeface="Arial" pitchFamily="34" charset="-120"/>
              </a:rPr>
              <a:t>Push-bildirishnomalar</a:t>
            </a:r>
            <a:endParaRPr lang="en-US" sz="1500" dirty="0"/>
          </a:p>
        </p:txBody>
      </p:sp>
      <p:sp>
        <p:nvSpPr>
          <p:cNvPr id="32" name="Shape 20"/>
          <p:cNvSpPr/>
          <p:nvPr/>
        </p:nvSpPr>
        <p:spPr>
          <a:xfrm>
            <a:off x="7269480" y="4663440"/>
            <a:ext cx="438912" cy="438912"/>
          </a:xfrm>
          <a:prstGeom prst="ellipse">
            <a:avLst/>
          </a:prstGeom>
          <a:solidFill>
            <a:srgbClr val="4F46E5"/>
          </a:solidFill>
          <a:ln/>
        </p:spPr>
      </p:sp>
      <p:pic>
        <p:nvPicPr>
          <p:cNvPr id="33" name="Image 10" descr="C:\Users\Sardor\Desktop\diplom ish\diplom\generator\slides-cache\icons\smartphone-FFFFFF.png">    </p:cNvPr>
          <p:cNvPicPr>
            <a:picLocks noChangeAspect="1"/>
          </p:cNvPicPr>
          <p:nvPr/>
        </p:nvPicPr>
        <p:blipFill>
          <a:blip r:embed="rId11"/>
          <a:stretch>
            <a:fillRect/>
          </a:stretch>
        </p:blipFill>
        <p:spPr>
          <a:xfrm>
            <a:off x="7379208" y="4773168"/>
            <a:ext cx="219456" cy="219456"/>
          </a:xfrm>
          <a:prstGeom prst="rect">
            <a:avLst/>
          </a:prstGeom>
        </p:spPr>
      </p:pic>
      <p:sp>
        <p:nvSpPr>
          <p:cNvPr id="34" name="Text 21"/>
          <p:cNvSpPr txBox="1"/>
          <p:nvPr/>
        </p:nvSpPr>
        <p:spPr>
          <a:xfrm>
            <a:off x="7863840" y="4663440"/>
            <a:ext cx="3596335" cy="438912"/>
          </a:xfrm>
          <a:prstGeom prst="rect">
            <a:avLst/>
          </a:prstGeom>
          <a:noFill/>
          <a:ln/>
        </p:spPr>
        <p:txBody>
          <a:bodyPr wrap="square" lIns="0" tIns="0" rIns="0" bIns="0" rtlCol="0" anchor="ctr"/>
          <a:lstStyle/>
          <a:p>
            <a:pPr indent="0" marL="0">
              <a:buNone/>
            </a:pPr>
            <a:r>
              <a:rPr lang="en-US" sz="1500" dirty="0">
                <a:solidFill>
                  <a:srgbClr val="E0E7FF"/>
                </a:solidFill>
                <a:latin typeface="Arial" pitchFamily="34" charset="0"/>
                <a:ea typeface="Arial" pitchFamily="34" charset="-122"/>
                <a:cs typeface="Arial" pitchFamily="34" charset="-120"/>
              </a:rPr>
              <a:t>Android va iOS ilovalari</a:t>
            </a:r>
            <a:endParaRPr lang="en-US" sz="1500" dirty="0"/>
          </a:p>
        </p:txBody>
      </p:sp>
      <p:sp>
        <p:nvSpPr>
          <p:cNvPr id="35" name="Shape 22"/>
          <p:cNvSpPr/>
          <p:nvPr/>
        </p:nvSpPr>
        <p:spPr>
          <a:xfrm>
            <a:off x="7269480" y="5303520"/>
            <a:ext cx="438912" cy="438912"/>
          </a:xfrm>
          <a:prstGeom prst="ellipse">
            <a:avLst/>
          </a:prstGeom>
          <a:solidFill>
            <a:srgbClr val="4F46E5"/>
          </a:solidFill>
          <a:ln/>
        </p:spPr>
      </p:sp>
      <p:pic>
        <p:nvPicPr>
          <p:cNvPr id="36" name="Image 11" descr="C:\Users\Sardor\Desktop\diplom ish\diplom\generator\slides-cache\icons\trending-up-FFFFFF.png">    </p:cNvPr>
          <p:cNvPicPr>
            <a:picLocks noChangeAspect="1"/>
          </p:cNvPicPr>
          <p:nvPr/>
        </p:nvPicPr>
        <p:blipFill>
          <a:blip r:embed="rId12"/>
          <a:stretch>
            <a:fillRect/>
          </a:stretch>
        </p:blipFill>
        <p:spPr>
          <a:xfrm>
            <a:off x="7379208" y="5413248"/>
            <a:ext cx="219456" cy="219456"/>
          </a:xfrm>
          <a:prstGeom prst="rect">
            <a:avLst/>
          </a:prstGeom>
        </p:spPr>
      </p:pic>
      <p:sp>
        <p:nvSpPr>
          <p:cNvPr id="37" name="Text 23"/>
          <p:cNvSpPr txBox="1"/>
          <p:nvPr/>
        </p:nvSpPr>
        <p:spPr>
          <a:xfrm>
            <a:off x="7863840" y="5303520"/>
            <a:ext cx="3596335" cy="438912"/>
          </a:xfrm>
          <a:prstGeom prst="rect">
            <a:avLst/>
          </a:prstGeom>
          <a:noFill/>
          <a:ln/>
        </p:spPr>
        <p:txBody>
          <a:bodyPr wrap="square" lIns="0" tIns="0" rIns="0" bIns="0" rtlCol="0" anchor="ctr"/>
          <a:lstStyle/>
          <a:p>
            <a:pPr indent="0" marL="0">
              <a:buNone/>
            </a:pPr>
            <a:r>
              <a:rPr lang="en-US" sz="1500" dirty="0">
                <a:solidFill>
                  <a:srgbClr val="E0E7FF"/>
                </a:solidFill>
                <a:latin typeface="Arial" pitchFamily="34" charset="0"/>
                <a:ea typeface="Arial" pitchFamily="34" charset="-122"/>
                <a:cs typeface="Arial" pitchFamily="34" charset="-120"/>
              </a:rPr>
              <a:t>Redis bilan gorizontal kengaytirish</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1B4B"/>
        </a:solidFill>
      </p:bgPr>
    </p:bg>
    <p:spTree>
      <p:nvGrpSpPr>
        <p:cNvPr id="1" name=""/>
        <p:cNvGrpSpPr/>
        <p:nvPr/>
      </p:nvGrpSpPr>
      <p:grpSpPr>
        <a:xfrm>
          <a:off x="0" y="0"/>
          <a:ext cx="0" cy="0"/>
          <a:chOff x="0" y="0"/>
          <a:chExt cx="0" cy="0"/>
        </a:xfrm>
      </p:grpSpPr>
      <p:sp>
        <p:nvSpPr>
          <p:cNvPr id="2" name="Shape 0"/>
          <p:cNvSpPr/>
          <p:nvPr/>
        </p:nvSpPr>
        <p:spPr>
          <a:xfrm>
            <a:off x="5638648" y="1463040"/>
            <a:ext cx="914400" cy="914400"/>
          </a:xfrm>
          <a:prstGeom prst="ellipse">
            <a:avLst/>
          </a:prstGeom>
          <a:solidFill>
            <a:srgbClr val="4F46E5"/>
          </a:solidFill>
          <a:ln/>
        </p:spPr>
      </p:sp>
      <p:pic>
        <p:nvPicPr>
          <p:cNvPr id="3" name="Image 0" descr="C:\Users\Sardor\Desktop\diplom ish\diplom\generator\slides-cache\icons\check-FFFFFF.png">    </p:cNvPr>
          <p:cNvPicPr>
            <a:picLocks noChangeAspect="1"/>
          </p:cNvPicPr>
          <p:nvPr/>
        </p:nvPicPr>
        <p:blipFill>
          <a:blip r:embed="rId1"/>
          <a:stretch>
            <a:fillRect/>
          </a:stretch>
        </p:blipFill>
        <p:spPr>
          <a:xfrm>
            <a:off x="5867248" y="1691640"/>
            <a:ext cx="457200" cy="457200"/>
          </a:xfrm>
          <a:prstGeom prst="rect">
            <a:avLst/>
          </a:prstGeom>
        </p:spPr>
      </p:pic>
      <p:sp>
        <p:nvSpPr>
          <p:cNvPr id="4" name="Text 1"/>
          <p:cNvSpPr txBox="1"/>
          <p:nvPr/>
        </p:nvSpPr>
        <p:spPr>
          <a:xfrm>
            <a:off x="548640" y="2651760"/>
            <a:ext cx="11094415" cy="9144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E’tiboringiz uchun rahmat!</a:t>
            </a:r>
            <a:endParaRPr lang="en-US" sz="4400" dirty="0"/>
          </a:p>
        </p:txBody>
      </p:sp>
      <p:sp>
        <p:nvSpPr>
          <p:cNvPr id="5" name="Text 2"/>
          <p:cNvSpPr txBox="1"/>
          <p:nvPr/>
        </p:nvSpPr>
        <p:spPr>
          <a:xfrm>
            <a:off x="548640" y="3611880"/>
            <a:ext cx="11094415" cy="457200"/>
          </a:xfrm>
          <a:prstGeom prst="rect">
            <a:avLst/>
          </a:prstGeom>
          <a:noFill/>
          <a:ln/>
        </p:spPr>
        <p:txBody>
          <a:bodyPr wrap="square" lIns="0" tIns="0" rIns="0" bIns="0" rtlCol="0" anchor="ctr"/>
          <a:lstStyle/>
          <a:p>
            <a:pPr algn="ctr" indent="0" marL="0">
              <a:buNone/>
            </a:pPr>
            <a:r>
              <a:rPr lang="en-US" sz="2000" dirty="0">
                <a:solidFill>
                  <a:srgbClr val="C7D2FE"/>
                </a:solidFill>
                <a:latin typeface="Arial" pitchFamily="34" charset="0"/>
                <a:ea typeface="Arial" pitchFamily="34" charset="-122"/>
                <a:cs typeface="Arial" pitchFamily="34" charset="-120"/>
              </a:rPr>
              <a:t>“Milliy chat” dasturini ishlab chiqish</a:t>
            </a:r>
            <a:endParaRPr lang="en-US" sz="2000" dirty="0"/>
          </a:p>
        </p:txBody>
      </p:sp>
      <p:sp>
        <p:nvSpPr>
          <p:cNvPr id="6" name="Text 3"/>
          <p:cNvSpPr txBox="1"/>
          <p:nvPr/>
        </p:nvSpPr>
        <p:spPr>
          <a:xfrm>
            <a:off x="548640" y="4846320"/>
            <a:ext cx="11094415"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S.O. Sohinazarov</a:t>
            </a:r>
            <a:endParaRPr lang="en-US" sz="1600" dirty="0"/>
          </a:p>
        </p:txBody>
      </p:sp>
      <p:sp>
        <p:nvSpPr>
          <p:cNvPr id="7" name="Text 4"/>
          <p:cNvSpPr txBox="1"/>
          <p:nvPr/>
        </p:nvSpPr>
        <p:spPr>
          <a:xfrm>
            <a:off x="548640" y="5257800"/>
            <a:ext cx="11094415" cy="365760"/>
          </a:xfrm>
          <a:prstGeom prst="rect">
            <a:avLst/>
          </a:prstGeom>
          <a:noFill/>
          <a:ln/>
        </p:spPr>
        <p:txBody>
          <a:bodyPr wrap="square" lIns="0" tIns="0" rIns="0" bIns="0" rtlCol="0" anchor="ctr"/>
          <a:lstStyle/>
          <a:p>
            <a:pPr algn="ctr" indent="0" marL="0">
              <a:buNone/>
            </a:pPr>
            <a:r>
              <a:rPr lang="en-US" sz="1400" dirty="0">
                <a:solidFill>
                  <a:srgbClr val="A5B4FC"/>
                </a:solidFill>
                <a:latin typeface="Arial" pitchFamily="34" charset="0"/>
                <a:ea typeface="Arial" pitchFamily="34" charset="-122"/>
                <a:cs typeface="Arial" pitchFamily="34" charset="-120"/>
              </a:rPr>
              <a:t>Toshkent – 2026</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“Milliy chat” dasturini ishlab chiqish</dc:title>
  <dc:subject>PptxGenJS Presentation</dc:subject>
  <dc:creator>Sohinazarov Sardor</dc:creator>
  <cp:lastModifiedBy>Sohinazarov Sardor</cp:lastModifiedBy>
  <cp:revision>1</cp:revision>
  <dcterms:created xsi:type="dcterms:W3CDTF">2026-09-24T22:01:26Z</dcterms:created>
  <dcterms:modified xsi:type="dcterms:W3CDTF">2026-09-24T22:01:26Z</dcterms:modified>
</cp:coreProperties>
</file>