
<file path=[Content_Types].xml><?xml version="1.0" encoding="utf-8"?>
<Types xmlns="http://schemas.openxmlformats.org/package/2006/content-types">
  <Default Extension="rels" ContentType="application/vnd.openxmlformats-package.relationships+xml"/>
  <Default Extension="jpg" ContentType="image/jpeg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52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Hurmatli davlat attestatsiya komissiyasi a’zolari! Men, 315-21 guruh talabasi Sohinazarov, “Real vaqtda xabar almashish imkonini beruvchi ‘Milliy chat’ dasturini ishlab chiqish” mavzusidagi bitiruv malakaviy ishimni taqdim etaman. Ilmiy rahbarim — dotsent Y.Sh. Yuldoshev.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Bugungi kunda fuqarolarimiz eng ko‘p foydalanadigan messenjerlar — Telegram, WhatsApp, Signal va WeChat — xorijiy yurisdiksiyada, ularning ma’lumotlari mamlakatdan tashqarida saqlanadi. Holbuki, “Shaxsga doir ma’lumotlar to‘g‘risida”gi Qonun bu ma’lumotlar respublika hududida saqlanishini talab qiladi, “Raqamli O‘zbekiston – 2030” strategiyasi esa mahalliy dasturiy mahsulotlarni ustuvor deb belgilaydi. Shu sababli ma’lumotlarni o‘z serverida saqlaydigan milliy messenjer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Ishning maqsadi — foydalanuvchi ma’lumotlarini o‘z serverida saqlaydigan, shaxsiy va guruh yozishmalarini real vaqtda ta’minlaydigan “Milliy chat” veb-messenjerini loyihalash va ishlab chiqish. Bu maqsadga erishish uchun oltita vazifa qo‘yildi: tahlil va talablardan boshlab, loyihalash, xavfsizlik, dasturlash hamda bulutga joylashtirish va sinashgacha.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Jadvalda mashhur to‘rtta messenjer bilan taqqoslash keltirilgan. Ularning barchasi xorijiy kompaniyalarga tegishli va ma’lumotlar xorijda saqlanadi. “Milliy chat” esa mahalliy bo‘lib, ma’lumotlarni O‘zbekistonda saqlash mumkin, lotin↔kirill o‘girish va e-pochta domeni orqali tashkilot tasdig‘i esa boshqalarda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qismi .NET 8 va ASP.NET Core’da, real vaqt aloqasi SignalR orqali, ma’lumotlar Entity Framework Core 8 yordamida PostgreSQL’da, kesh esa Redis’da. Klient Angular 22 va TypeScript’da yozilgan, shifrlash Web Crypto API orqali bajariladi. SignalR’ni tanlaganimizning sababi — u WebSocket, SSE va long polling orasidan transportni avtomatik tanlaydi, guruhlar va qayta ulanish esa tayyor holda keladi.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Clean Architecture asosida to‘rt qatlamga bo‘lingan va bog‘liqlik faqat ichkariga yo‘nalgan: API, Infrastructure, Application va markazda Domain. Domain qatlami — User, Chat, Message, Group, Story — hech qaysi tashqi texnologiyaga bog‘liq emas. Joylashtirishda brauzerdagi Angular ilovasi HTTPS va WebSocket orqali ASP.NET Core serveriga, server esa PostgreSQL’ga ulanadi.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Ma’lumotlar bazasi 10 ta sxemaga ajratilgan 36 ta jadvaldan iborat, API esa 11 ta controllerdagi 73 ta REST endpointdan tashkil topgan. Xabarlar tarixi kursorli sahifalash — beforeId va limit — orqali yuklanadi. Sxemaning bir qismi kelajakdagi kanallar va botlar uchun oldindan tayyorlab qo‘yilgan.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Tizimga kirish e-pochtaga yuboriladigan 6 xonali kod yoki Google hisobi orqali amalga oshadi. Shundan so‘ng 15 daqiqalik JWT access token va 30 kunlik refresh token beriladi; refresh token HttpOnly cookie’da saqlanadi va har foydalanishda almashadi, sessiyalar esa qurilmalar bo‘yicha boshqariladi. Eng muhimi — tizimda parol umuman yo‘q, bazada faqat xeshlar saqlanadi, yuklangan fayllar esa antivirusdan o‘tkaziladi.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Xabar yuborish uch bosqichda amalga oshadi. Avval xabar REST so‘rovi orqali tekshirilib, bazaga yoziladi; so‘ng ChatHub uni chat a’zolariga darhol yetkazadi. Shu bilan birga “o‘qildi” belgisi va “yozmoqda…” holati ham real vaqtda ko‘rsatiladi.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Birinchi o‘ziga xos imkoniyat — lotin va kirill yozuvlari o‘rtasida avtomatik o‘girish: har bir foydalanuvchi xabarni o‘zi tanlagan yozuvda ko‘radi, bazada esa xabar asl holida qoladi. Qidiruv ham yozuvga bog‘liq emas. Server (C#) va klient (TypeScript) tomondagi o‘girish bitta 80 juftlikli test to‘plami bilan tekshirilgan.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Ikkinchi imkoniyat — tashkilot rejimi. Masalan, foydalanuvchi ali@tuit.uz manzili bilan kirsa, tizim uni “tuit.uz” tashkilotiga bog‘laydi: birinchi foydalanuvchi admin bo‘ladi va domenning yopiq guruhi avtomatik yaratiladi. Keyingi xodimlar avtomatik a’zo bo‘ladi va ism yonida “tuit.uz ✓” belgisi chiqadi, tashqi foydalanuvchilar esa faqat 128 bitli taklif havolasi orqali qo‘shila 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Uchinchi imkoniyat — uchdan-uchga shifrlangan maxfiy chatlar. Ikki tomon X25519 orqali kalit kelishadi, HKDF-SHA-256 yordamida kalit hosil qilinadi, HMAC ratchet har bir xabar uchun yangi kalit beradi va xabar AES-256-GCM bilan shifrlanadi. Natijada server xabar mazmunini ko‘rmaydi — skrinshotda ko‘rinib turibdiki, bazada faqat shifrlangan matn saqlanadi.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yerda dasturning asosiy ekranlari ko‘rsatilgan: kirish oynasi, guruh chati, hikoyalar, qorong‘i mavzu va mobil ko‘rinish. Interfeys ham kompyuter, ham telefon brauzerida qulay ishlaydi.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Dastur 536 ta unit test bilan tekshirildi: 307 tasi server va 229 tasi klient uchun, qo‘shimcha ravishda 43 ta integratsion tekshiruv o‘tkazildi — barchasi muvaffaqiyatli. Ilova Docker konteynerida Render bulutiga joylashtirilgan va GitHub’ga har bir push qilinganda avtomatik qayta yig‘iladi.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Hayot faoliyati xavfsizligi bo‘limida 6 × 6 × 3 metrli xonadagi 5 ta ish joyi uchun hisob-kitoblar bajarildi. 12 ta LED panel 421 lyuks yoritilganlikni ta’minlaydi, bu 400 lyuks me’yoridan yuqori; shamollatish soatiga 150 kub metr toza havo beradi. Hisobiy evakuatsiya vaqti taxminan 50 soniyani tashkil etadi.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Xulosa qilib aytganda, ishlaydigan veb-messenjer yaratildi va bulutga joylashtirildi, unda uchta o‘ziga xos imkoniyat — lotin↔kirill, tashkilot rejimi va maxfiy chatlar — amalga oshirildi va 536 ta test bilan tekshirildi. Kelgusida Android va iOS ilovalari, push-bildirishnomalar, WebRTC asosidagi ovozli va video qo‘ng‘iroqlar hamda kanallar va botlarni qo‘shish rejalashtirilgan. E’tiboringiz uchun rahmat, savollaringizga javob berishga tayyorman.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s9-private-chat.jpg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s10-lotin.jpg"/><Relationship Id="rId12" Type="http://schemas.openxmlformats.org/officeDocument/2006/relationships/image" Target="../media/s10-kirill.jpg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s11-org-group.jpg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s12-secret-chat.jpg"/><Relationship Id="rId12" Type="http://schemas.openxmlformats.org/officeDocument/2006/relationships/image" Target="../media/s12-db.png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s13-login.jpg"/><Relationship Id="rId12" Type="http://schemas.openxmlformats.org/officeDocument/2006/relationships/image" Target="../media/s13-group.jpg"/><Relationship Id="rId13" Type="http://schemas.openxmlformats.org/officeDocument/2006/relationships/image" Target="../media/s13-story.jpg"/><Relationship Id="rId14" Type="http://schemas.openxmlformats.org/officeDocument/2006/relationships/image" Target="../media/s13-dark.jpg"/><Relationship Id="rId15" Type="http://schemas.openxmlformats.org/officeDocument/2006/relationships/image" Target="../media/s13-mobile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O‘zbekiston Respublikasi Raqamli texnologiyalar vazirligi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12800" y="1057275"/>
            <a:ext cx="1088339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Muhammad al-Xorazmiy nomidagi Toshkent axborot texnologiyalari universiteti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1352550"/>
            <a:ext cx="1088339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“Axborot texnologiyalarining dasturiy ta’minoti” kafedrasi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031802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Bitiruv malakaviy ishi</a:t>
            </a:r>
            <a:endParaRPr lang="en-US" sz="18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2529582"/>
            <a:ext cx="10333990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kern="0" spc="-75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vaqtda xabar almashish imkonini beruvchi </a:t>
            </a:r>
            <a:r>
              <a:rPr lang="en-US" sz="4000" b="1" i="0" kern="0" spc="-75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“Milliy chat”</a:t>
            </a:r>
            <a:r>
              <a:rPr lang="en-US" sz="4000" b="1" i="0" kern="0" spc="-75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dasturini ishlab chiqish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12800" y="4634309"/>
            <a:ext cx="10566400" cy="0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4894659"/>
            <a:ext cx="213005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Bajardi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5181600"/>
            <a:ext cx="2481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S.O. Sohinazarov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5575300"/>
            <a:ext cx="213005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315-21 guruh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42816" y="4894659"/>
            <a:ext cx="268855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Ilmiy rahbar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42816" y="5181600"/>
            <a:ext cx="31322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dots. Y.Sh. Yuldoshev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2800" y="6202759"/>
            <a:ext cx="39243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Toshkent –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/ 16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Muammo va dolzarblik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30"/>
            <a:ext cx="3373934" cy="2546152"/>
          </a:xfrm>
          <a:prstGeom prst="roundRect">
            <a:avLst>
              <a:gd name="adj" fmla="val 473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900" y="1856680"/>
            <a:ext cx="28865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Xorijiy yurisdiksiya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04900" y="2288480"/>
            <a:ext cx="2886507" cy="1259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Telegram, WhatsApp, Signal, WeChat — ma’lumotlar mamlakatdan tashqarida saqlanadi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408984" y="1570930"/>
            <a:ext cx="3374033" cy="2546152"/>
          </a:xfrm>
          <a:prstGeom prst="roundRect">
            <a:avLst>
              <a:gd name="adj" fmla="val 473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94734" y="1856680"/>
            <a:ext cx="28866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Qonun talabi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94734" y="2288480"/>
            <a:ext cx="2886609" cy="1568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“Shaxsga doir ma’lumotlar to‘g‘risida”gi Qonun: fuqarolar ma’lumotlari respublika hududida saqlanishi kerak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98916" y="1570930"/>
            <a:ext cx="3373934" cy="2546152"/>
          </a:xfrm>
          <a:prstGeom prst="roundRect">
            <a:avLst>
              <a:gd name="adj" fmla="val 473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84666" y="1856680"/>
            <a:ext cx="28865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Davlat strategiyasi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84666" y="2288480"/>
            <a:ext cx="2886507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“Raqamli O‘zbekiston – 2030”: mahalliy dasturiy mahsulotlar ustuvor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9150" y="4434582"/>
            <a:ext cx="10553700" cy="819150"/>
          </a:xfrm>
          <a:prstGeom prst="roundRect">
            <a:avLst>
              <a:gd name="adj" fmla="val 14729"/>
            </a:avLst>
          </a:prstGeom>
          <a:solidFill>
            <a:srgbClr val="FFF3E4"/>
          </a:solidFill>
          <a:ln w="12700">
            <a:solidFill>
              <a:srgbClr val="FBD7A8"/>
            </a:solidFill>
            <a:prstDash val="solid"/>
          </a:ln>
        </p:spPr>
        <p:txBody>
          <a:bodyPr wrap="square" lIns="275813" tIns="186913" rIns="275813" bIns="186913" rtlCol="0" anchor="ctr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Ma’lumotlarni o‘z serverida saqlaydigan milliy messenjer kerak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/ 16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Maqsad va vazifalar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9150" y="1494730"/>
            <a:ext cx="10553700" cy="1344811"/>
          </a:xfrm>
          <a:prstGeom prst="roundRect">
            <a:avLst>
              <a:gd name="adj" fmla="val 8972"/>
            </a:avLst>
          </a:prstGeom>
          <a:solidFill>
            <a:srgbClr val="EAF0FF"/>
          </a:solidFill>
          <a:ln w="12700">
            <a:solidFill>
              <a:srgbClr val="C7D6FF"/>
            </a:solidFill>
            <a:prstDash val="solid"/>
          </a:ln>
        </p:spPr>
        <p:txBody>
          <a:bodyPr wrap="square" lIns="250413" tIns="174213" rIns="0" bIns="148813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Maqsad:</a:t>
            </a:r>
            <a:r>
              <a:rPr lang="en-US" sz="180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foydalanuvchi ma’lumotlarini o‘z serverida saqlaydigan, shaxsiy va guruh yozishmalarini real vaqtda ta’minlaydigan “Milliy chat” veb-messenjerini loyihalash va ishlab chiqish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9150" y="3080841"/>
            <a:ext cx="3407767" cy="1160661"/>
          </a:xfrm>
          <a:prstGeom prst="roundRect">
            <a:avLst>
              <a:gd name="adj" fmla="val 1039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3264991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09700" y="3264991"/>
            <a:ext cx="2685897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Mavjud messenjerlar va real vaqt texnologiyalarini tahlil qilish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92017" y="3080841"/>
            <a:ext cx="3407866" cy="1160661"/>
          </a:xfrm>
          <a:prstGeom prst="roundRect">
            <a:avLst>
              <a:gd name="adj" fmla="val 1039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01567" y="3264991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82567" y="3264991"/>
            <a:ext cx="216717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Talablarni aniqlash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64984" y="3080841"/>
            <a:ext cx="3407866" cy="1160661"/>
          </a:xfrm>
          <a:prstGeom prst="roundRect">
            <a:avLst>
              <a:gd name="adj" fmla="val 1039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4534" y="3264991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55534" y="3264991"/>
            <a:ext cx="2685999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Arxitektura, ma’lumotlar bazasi va UML modellarini loyihalash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9150" y="4406602"/>
            <a:ext cx="3407767" cy="1160661"/>
          </a:xfrm>
          <a:prstGeom prst="roundRect">
            <a:avLst>
              <a:gd name="adj" fmla="val 1039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700" y="4590752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09700" y="4590752"/>
            <a:ext cx="2685897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Xavfsiz autentifikatsiya va shifrlangan maxfiy chatlar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92017" y="4406602"/>
            <a:ext cx="3407866" cy="1160661"/>
          </a:xfrm>
          <a:prstGeom prst="roundRect">
            <a:avLst>
              <a:gd name="adj" fmla="val 1039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1567" y="4590752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82567" y="4590752"/>
            <a:ext cx="2685999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Server, klient, lotin↔kirill va tashkilot rejimini ishlab chiqish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64984" y="4406602"/>
            <a:ext cx="3407866" cy="1160661"/>
          </a:xfrm>
          <a:prstGeom prst="roundRect">
            <a:avLst>
              <a:gd name="adj" fmla="val 1039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4534" y="4590752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55534" y="4590752"/>
            <a:ext cx="2685999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Bulutga joylashtirish va sinash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/ 16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59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21"/>
              </a:lnSpc>
              <a:buNone/>
            </a:pPr>
            <a:r>
              <a:rPr lang="en-US" sz="311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Mavjud messenjerlar bilan taqqoslash</a:t>
            </a:r>
            <a:endParaRPr lang="en-US" sz="3110" dirty="0"/>
          </a:p>
        </p:txBody>
      </p:sp>
      <p:sp>
        <p:nvSpPr>
          <p:cNvPr id="3" name="Shape 1"/>
          <p:cNvSpPr/>
          <p:nvPr/>
        </p:nvSpPr>
        <p:spPr>
          <a:xfrm>
            <a:off x="825500" y="1485183"/>
            <a:ext cx="10553700" cy="4504673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266307"/>
              </p:ext>
            </p:extLst>
          </p:nvPr>
        </p:nvGraphicFramePr>
        <p:xfrm>
          <a:off x="825500" y="1485184"/>
          <a:ext cx="10541000" cy="4504673"/>
        </p:xfrm>
        <a:graphic>
          <a:graphicData uri="http://schemas.openxmlformats.org/drawingml/2006/table">
            <a:tbl>
              <a:tblPr/>
              <a:tblGrid>
                <a:gridCol w="1878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98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98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29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6978"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b="1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Telegram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b="1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WhatsApp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b="1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Signal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b="1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WeChat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Milliy chat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539"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3D486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Egasi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Meta (AQSh)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AQSh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Tencent (Xitoy)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D4ED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Mahalliy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539"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3D486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E2E shifrlash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Faqat maxfiy chatlarda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Sukut bo‘yicha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Sukut bo‘yicha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D4ED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Maxfiy chatlarda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539"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3D486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Ma’lumotlar joyi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Xorijda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Xorijda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Xorijda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Xitoyda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D4ED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O‘zbekistonda ham mumkin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9539"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3D486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Lotin ↔ kirill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D4ED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Bor (qidiruv ham)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9539"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3D486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Tashkilot tasdig‘i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D4ED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E-pochta domeni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/ 16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Texnologiyalar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819150" y="1533624"/>
            <a:ext cx="3373934" cy="3058120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900" y="1768574"/>
            <a:ext cx="2886507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18"/>
              </a:lnSpc>
              <a:buNone/>
            </a:pPr>
            <a:r>
              <a:rPr lang="en-US" sz="1931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Server</a:t>
            </a:r>
            <a:endParaRPr lang="en-US" sz="1931" dirty="0"/>
          </a:p>
        </p:txBody>
      </p:sp>
      <p:sp>
        <p:nvSpPr>
          <p:cNvPr id="5" name="Text 3"/>
          <p:cNvSpPr/>
          <p:nvPr/>
        </p:nvSpPr>
        <p:spPr>
          <a:xfrm>
            <a:off x="1104900" y="2200771"/>
            <a:ext cx="2886507" cy="310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74"/>
              </a:lnSpc>
              <a:buNone/>
            </a:pPr>
            <a:r>
              <a:rPr lang="en-US" sz="1749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.NET 8</a:t>
            </a:r>
            <a:endParaRPr lang="en-US" sz="1749" dirty="0"/>
          </a:p>
        </p:txBody>
      </p:sp>
      <p:sp>
        <p:nvSpPr>
          <p:cNvPr id="6" name="Text 4"/>
          <p:cNvSpPr/>
          <p:nvPr/>
        </p:nvSpPr>
        <p:spPr>
          <a:xfrm>
            <a:off x="1104900" y="2574925"/>
            <a:ext cx="2886507" cy="310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74"/>
              </a:lnSpc>
              <a:buNone/>
            </a:pPr>
            <a:r>
              <a:rPr lang="en-US" sz="1749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ASP.NET Core</a:t>
            </a:r>
            <a:endParaRPr lang="en-US" sz="1749" dirty="0"/>
          </a:p>
        </p:txBody>
      </p:sp>
      <p:sp>
        <p:nvSpPr>
          <p:cNvPr id="7" name="Text 5"/>
          <p:cNvSpPr/>
          <p:nvPr/>
        </p:nvSpPr>
        <p:spPr>
          <a:xfrm>
            <a:off x="1104900" y="2949079"/>
            <a:ext cx="2886507" cy="310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74"/>
              </a:lnSpc>
              <a:buNone/>
            </a:pPr>
            <a:r>
              <a:rPr lang="en-US" sz="1749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SignalR</a:t>
            </a:r>
            <a:endParaRPr lang="en-US" sz="1749" dirty="0"/>
          </a:p>
        </p:txBody>
      </p:sp>
      <p:sp>
        <p:nvSpPr>
          <p:cNvPr id="8" name="Text 6"/>
          <p:cNvSpPr/>
          <p:nvPr/>
        </p:nvSpPr>
        <p:spPr>
          <a:xfrm>
            <a:off x="1104900" y="3323233"/>
            <a:ext cx="2886507" cy="310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74"/>
              </a:lnSpc>
              <a:buNone/>
            </a:pPr>
            <a:r>
              <a:rPr lang="en-US" sz="1749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Entity Framework Core 8</a:t>
            </a:r>
            <a:endParaRPr lang="en-US" sz="1749" dirty="0"/>
          </a:p>
        </p:txBody>
      </p:sp>
      <p:sp>
        <p:nvSpPr>
          <p:cNvPr id="9" name="Text 7"/>
          <p:cNvSpPr/>
          <p:nvPr/>
        </p:nvSpPr>
        <p:spPr>
          <a:xfrm>
            <a:off x="1104900" y="3697387"/>
            <a:ext cx="2886507" cy="310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74"/>
              </a:lnSpc>
              <a:buNone/>
            </a:pPr>
            <a:r>
              <a:rPr lang="en-US" sz="1749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</a:t>
            </a:r>
            <a:endParaRPr lang="en-US" sz="1749" dirty="0"/>
          </a:p>
        </p:txBody>
      </p:sp>
      <p:sp>
        <p:nvSpPr>
          <p:cNvPr id="10" name="Text 8"/>
          <p:cNvSpPr/>
          <p:nvPr/>
        </p:nvSpPr>
        <p:spPr>
          <a:xfrm>
            <a:off x="1104900" y="4071541"/>
            <a:ext cx="2886507" cy="310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74"/>
              </a:lnSpc>
              <a:buNone/>
            </a:pPr>
            <a:r>
              <a:rPr lang="en-US" sz="1749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Redis</a:t>
            </a:r>
            <a:endParaRPr lang="en-US" sz="1749" dirty="0"/>
          </a:p>
        </p:txBody>
      </p:sp>
      <p:sp>
        <p:nvSpPr>
          <p:cNvPr id="11" name="Shape 9"/>
          <p:cNvSpPr/>
          <p:nvPr/>
        </p:nvSpPr>
        <p:spPr>
          <a:xfrm>
            <a:off x="4408984" y="1533624"/>
            <a:ext cx="3374033" cy="3058120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4734" y="1768574"/>
            <a:ext cx="28866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Klient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94734" y="2213074"/>
            <a:ext cx="2886609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Angular 22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94734" y="2599134"/>
            <a:ext cx="2886609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94734" y="2985195"/>
            <a:ext cx="2886609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RxJS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94734" y="3371255"/>
            <a:ext cx="2886609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 Crypto API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998916" y="1533624"/>
            <a:ext cx="3373934" cy="3058120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666" y="1768574"/>
            <a:ext cx="28865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Infratuzilma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84666" y="2213074"/>
            <a:ext cx="2886507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Docker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84666" y="2599134"/>
            <a:ext cx="2886507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Render bulut platformasi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84666" y="2985195"/>
            <a:ext cx="2886507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ClamAV antivirus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9150" y="4883845"/>
            <a:ext cx="10553700" cy="951805"/>
          </a:xfrm>
          <a:prstGeom prst="roundRect">
            <a:avLst>
              <a:gd name="adj" fmla="val 12676"/>
            </a:avLst>
          </a:prstGeom>
          <a:solidFill>
            <a:srgbClr val="FFF3E4"/>
          </a:solidFill>
          <a:ln w="12700">
            <a:solidFill>
              <a:srgbClr val="FBD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4900" y="5199757"/>
            <a:ext cx="183134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Nega SignalR?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111500" y="5060057"/>
            <a:ext cx="8255000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WebSocket → SSE → long polling: transport avtomatik tanlanadi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111500" y="5395317"/>
            <a:ext cx="7220405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Guruhlar va qayta ulanish tayyor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/ 16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Tizim arxitekturasi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780"/>
            <a:ext cx="68021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 Architecture · bog‘liqlik ichkariga →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9150" y="1906191"/>
            <a:ext cx="6591300" cy="3929459"/>
          </a:xfrm>
          <a:prstGeom prst="roundRect">
            <a:avLst>
              <a:gd name="adj" fmla="val 3717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2064941"/>
            <a:ext cx="64096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</a:t>
            </a: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controllerlar, ChatHub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9650" y="2388791"/>
            <a:ext cx="6210300" cy="3256359"/>
          </a:xfrm>
          <a:prstGeom prst="roundRect">
            <a:avLst>
              <a:gd name="adj" fmla="val 3705"/>
            </a:avLst>
          </a:prstGeom>
          <a:solidFill>
            <a:srgbClr val="F1F4FA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3800" y="2534841"/>
            <a:ext cx="60172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Infrastructure</a:t>
            </a: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EF Core, JWT, SMTP, ClamAV, Redis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00150" y="2858691"/>
            <a:ext cx="5829300" cy="2595959"/>
          </a:xfrm>
          <a:prstGeom prst="roundRect">
            <a:avLst>
              <a:gd name="adj" fmla="val 3669"/>
            </a:avLst>
          </a:prstGeom>
          <a:solidFill>
            <a:srgbClr val="EAF0FF"/>
          </a:solidFill>
          <a:ln w="12700">
            <a:solidFill>
              <a:srgbClr val="C7D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4300" y="3004741"/>
            <a:ext cx="56248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Application</a:t>
            </a: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servislar, DTO, validatsiya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84300" y="3322241"/>
            <a:ext cx="5461000" cy="1948259"/>
          </a:xfrm>
          <a:prstGeom prst="roundRect">
            <a:avLst>
              <a:gd name="adj" fmla="val 3911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3995341"/>
            <a:ext cx="525856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Domain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62100" y="4330601"/>
            <a:ext cx="52585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User, Chat, Message, Group, Story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23200" y="1513780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Joylashtirish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29550" y="1906191"/>
            <a:ext cx="3543300" cy="868561"/>
          </a:xfrm>
          <a:prstGeom prst="roundRect">
            <a:avLst>
              <a:gd name="adj" fmla="val 10966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3700" y="2064941"/>
            <a:ext cx="32702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Brauzer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013700" y="2367161"/>
            <a:ext cx="32702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Angular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01000" y="3052366"/>
            <a:ext cx="177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DB761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0" y="3105745"/>
            <a:ext cx="20634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HTTPS / WebSocket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29550" y="3685480"/>
            <a:ext cx="3543300" cy="619720"/>
          </a:xfrm>
          <a:prstGeom prst="roundRect">
            <a:avLst>
              <a:gd name="adj" fmla="val 15370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  <p:txBody>
          <a:bodyPr wrap="square" lIns="156252" tIns="130852" rIns="61002" bIns="105452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ASP.NET Core server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001000" y="4582815"/>
            <a:ext cx="177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DB761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↕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829550" y="5215930"/>
            <a:ext cx="3543300" cy="619720"/>
          </a:xfrm>
          <a:prstGeom prst="roundRect">
            <a:avLst>
              <a:gd name="adj" fmla="val 15370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  <p:txBody>
          <a:bodyPr wrap="square" lIns="156252" tIns="130852" rIns="61002" bIns="105452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/ 16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Ma’lumotlar bazasi va API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30"/>
            <a:ext cx="5168900" cy="2979539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5700" y="1856680"/>
            <a:ext cx="463067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5700" y="2318941"/>
            <a:ext cx="149197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400" b="1" kern="0" spc="-20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36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1155700" y="3411141"/>
            <a:ext cx="12941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jadval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805410" y="2318941"/>
            <a:ext cx="138314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400" b="1" kern="0" spc="-20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2805410" y="3411141"/>
            <a:ext cx="12034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sxema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03950" y="1570930"/>
            <a:ext cx="5168900" cy="2979539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0500" y="1856680"/>
            <a:ext cx="463067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ASP.NET Core 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40500" y="2318941"/>
            <a:ext cx="184881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400" b="1" kern="0" spc="-20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73</a:t>
            </a:r>
            <a:endParaRPr lang="en-US" sz="8400" dirty="0"/>
          </a:p>
        </p:txBody>
      </p:sp>
      <p:sp>
        <p:nvSpPr>
          <p:cNvPr id="12" name="Text 10"/>
          <p:cNvSpPr/>
          <p:nvPr/>
        </p:nvSpPr>
        <p:spPr>
          <a:xfrm>
            <a:off x="6540500" y="3411141"/>
            <a:ext cx="2153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 endpoint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741866" y="2318941"/>
            <a:ext cx="12715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400" b="1" kern="0" spc="-20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8400" dirty="0"/>
          </a:p>
        </p:txBody>
      </p:sp>
      <p:sp>
        <p:nvSpPr>
          <p:cNvPr id="14" name="Text 12"/>
          <p:cNvSpPr/>
          <p:nvPr/>
        </p:nvSpPr>
        <p:spPr>
          <a:xfrm>
            <a:off x="8741866" y="3411141"/>
            <a:ext cx="14649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2800" y="4861620"/>
            <a:ext cx="5181600" cy="980380"/>
          </a:xfrm>
          <a:prstGeom prst="roundRect">
            <a:avLst>
              <a:gd name="adj" fmla="val 12954"/>
            </a:avLst>
          </a:prstGeom>
          <a:solidFill>
            <a:srgbClr val="F1F4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5039420"/>
            <a:ext cx="481380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Kursorli sahifalash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66800" y="5379740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beforeId + limit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7600" y="4861620"/>
            <a:ext cx="5181600" cy="980380"/>
          </a:xfrm>
          <a:prstGeom prst="roundRect">
            <a:avLst>
              <a:gd name="adj" fmla="val 12954"/>
            </a:avLst>
          </a:prstGeom>
          <a:solidFill>
            <a:srgbClr val="F1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6451600" y="5039420"/>
            <a:ext cx="481380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Kelajakka tayyor sxema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51600" y="5379740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bir qismi kanallar va botlar uchun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 / 16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Xavfsizlik va autentifikatsiya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30"/>
            <a:ext cx="2317254" cy="3190379"/>
          </a:xfrm>
          <a:prstGeom prst="roundRect">
            <a:avLst>
              <a:gd name="adj" fmla="val 520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1805880"/>
            <a:ext cx="195509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· Kirish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8700" y="2156321"/>
            <a:ext cx="1955099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xonali kod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28700" y="3004641"/>
            <a:ext cx="195509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e-pochtaga yoki Google hisobi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18954" y="2952750"/>
            <a:ext cx="315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64533" y="1570930"/>
            <a:ext cx="2317353" cy="3190379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4083" y="1805880"/>
            <a:ext cx="195520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· JWT access token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74083" y="2156321"/>
            <a:ext cx="1955201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daqiqa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74083" y="2631281"/>
            <a:ext cx="195520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qisqa muddatli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64436" y="2952750"/>
            <a:ext cx="315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310015" y="1570930"/>
            <a:ext cx="2317353" cy="3190379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565" y="1805880"/>
            <a:ext cx="195520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· Refresh token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565" y="2156321"/>
            <a:ext cx="1955201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 kun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19565" y="2631281"/>
            <a:ext cx="195520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HttpOnly cookie, har safar almashadi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09918" y="2952750"/>
            <a:ext cx="315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055497" y="1570930"/>
            <a:ext cx="2317353" cy="3190379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5047" y="1805880"/>
            <a:ext cx="195520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· Sessiyalar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65047" y="2156321"/>
            <a:ext cx="2101453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Qurilmalar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265047" y="2631281"/>
            <a:ext cx="210145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bo‘yicha boshqariladi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9150" y="5078809"/>
            <a:ext cx="10553700" cy="756841"/>
          </a:xfrm>
          <a:prstGeom prst="roundRect">
            <a:avLst>
              <a:gd name="adj" fmla="val 15941"/>
            </a:avLst>
          </a:prstGeom>
          <a:solidFill>
            <a:srgbClr val="FFF3E4"/>
          </a:solidFill>
          <a:ln w="12700">
            <a:solidFill>
              <a:srgbClr val="FBD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4900" y="5288359"/>
            <a:ext cx="342722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Parol umuman yo‘q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432300" y="5288359"/>
            <a:ext cx="342722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Bazada faqat xeshlar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759700" y="5288359"/>
            <a:ext cx="342722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Fayllar antivirusdan o‘tadi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/ 16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vaqtda xabar yuborish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5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7800" y="1564580"/>
            <a:ext cx="40551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47800" y="1958280"/>
            <a:ext cx="405511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xabar tekshirilib, bazaga yoziladi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336619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47800" y="3366195"/>
            <a:ext cx="40551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ChatHub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47800" y="3759895"/>
            <a:ext cx="405511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chat a’zolariga darhol yuboriladi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516770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47800" y="5167709"/>
            <a:ext cx="40551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Holat belgilari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47800" y="5561409"/>
            <a:ext cx="405511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O‘qildi </a:t>
            </a:r>
            <a:r>
              <a:rPr lang="en-US" sz="17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✓✓</a:t>
            </a:r>
            <a:r>
              <a:rPr lang="en-US" sz="17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va “yozmoqda…”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797550" y="1570930"/>
            <a:ext cx="5575300" cy="4264720"/>
          </a:xfrm>
          <a:prstGeom prst="roundRect">
            <a:avLst>
              <a:gd name="adj" fmla="val 2829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3900" y="1577280"/>
            <a:ext cx="5562600" cy="355600"/>
          </a:xfrm>
          <a:custGeom>
            <a:avLst/>
            <a:gdLst/>
            <a:ahLst/>
            <a:cxnLst/>
            <a:rect l="l" t="t" r="r" b="b"/>
            <a:pathLst>
              <a:path w="5562600" h="355600">
                <a:moveTo>
                  <a:pt x="114300" y="0"/>
                </a:moveTo>
                <a:lnTo>
                  <a:pt x="5448300" y="0"/>
                </a:lnTo>
                <a:arcTo wR="114300" hR="114300" stAng="16200000" swAng="5400000"/>
                <a:lnTo>
                  <a:pt x="5562600" y="355600"/>
                </a:lnTo>
                <a:lnTo>
                  <a:pt x="0" y="355600"/>
                </a:lnTo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803900" y="1577280"/>
            <a:ext cx="5562600" cy="355600"/>
          </a:xfrm>
          <a:custGeom>
            <a:avLst/>
            <a:gdLst/>
            <a:ahLst/>
            <a:cxnLst/>
            <a:rect l="l" t="t" r="r" b="b"/>
            <a:pathLst>
              <a:path w="5562600" h="355600">
                <a:moveTo>
                  <a:pt x="5562600" y="342900"/>
                </a:moveTo>
                <a:lnTo>
                  <a:pt x="5562600" y="355600"/>
                </a:lnTo>
                <a:lnTo>
                  <a:pt x="0" y="355600"/>
                </a:lnTo>
                <a:lnTo>
                  <a:pt x="0" y="342900"/>
                </a:lnTo>
                <a:lnTo>
                  <a:pt x="5562600" y="3429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15" name="Shape 13"/>
          <p:cNvSpPr/>
          <p:nvPr/>
        </p:nvSpPr>
        <p:spPr>
          <a:xfrm>
            <a:off x="5956300" y="169793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6" name="Shape 14"/>
          <p:cNvSpPr/>
          <p:nvPr/>
        </p:nvSpPr>
        <p:spPr>
          <a:xfrm>
            <a:off x="6134100" y="169793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311900" y="169793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875" y="1663005"/>
            <a:ext cx="47180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pic>
        <p:nvPicPr>
          <p:cNvPr id="19" name="Skrinshot 17" descr="Shaxsiy cha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5825" y="2243980"/>
            <a:ext cx="5238750" cy="3274219"/>
          </a:xfrm>
          <a:prstGeom prst="roundRect">
            <a:avLst>
              <a:gd name="adj" fmla="val 1866"/>
            </a:avLst>
          </a:prstGeom>
          <a:ln>
            <a:noFill/>
          </a:ln>
        </p:spPr>
      </p:pic>
      <p:sp>
        <p:nvSpPr>
          <p:cNvPr id="22" name="Text 20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 / 16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O‘ziga xos imkoniyat 1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346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Lotin ↔ Kirill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655491"/>
            <a:ext cx="4572000" cy="0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25241"/>
            <a:ext cx="470916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Har kim o‘z yozuvida ko‘radi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249091"/>
            <a:ext cx="47091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xabar bazada asl holida qoladi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3284141"/>
            <a:ext cx="4572000" cy="0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839641"/>
            <a:ext cx="470916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Qidiruv yozuvga bog‘liq emas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800" y="3468291"/>
            <a:ext cx="804267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b="1" kern="0" spc="-20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769467" y="4135041"/>
            <a:ext cx="372379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juftlikli bitta test to‘plami: server (C#) va klient (TypeScript)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97550" y="1931591"/>
            <a:ext cx="5575300" cy="3904059"/>
          </a:xfrm>
          <a:prstGeom prst="roundRect">
            <a:avLst>
              <a:gd name="adj" fmla="val 3090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3900" y="1937941"/>
            <a:ext cx="5562600" cy="355600"/>
          </a:xfrm>
          <a:custGeom>
            <a:avLst/>
            <a:gdLst/>
            <a:ahLst/>
            <a:cxnLst/>
            <a:rect l="l" t="t" r="r" b="b"/>
            <a:pathLst>
              <a:path w="5562600" h="355600">
                <a:moveTo>
                  <a:pt x="114300" y="0"/>
                </a:moveTo>
                <a:lnTo>
                  <a:pt x="5448300" y="0"/>
                </a:lnTo>
                <a:arcTo wR="114300" hR="114300" stAng="16200000" swAng="5400000"/>
                <a:lnTo>
                  <a:pt x="5562600" y="355600"/>
                </a:lnTo>
                <a:lnTo>
                  <a:pt x="0" y="355600"/>
                </a:lnTo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803900" y="1937941"/>
            <a:ext cx="5562600" cy="355600"/>
          </a:xfrm>
          <a:custGeom>
            <a:avLst/>
            <a:gdLst/>
            <a:ahLst/>
            <a:cxnLst/>
            <a:rect l="l" t="t" r="r" b="b"/>
            <a:pathLst>
              <a:path w="5562600" h="355600">
                <a:moveTo>
                  <a:pt x="5562600" y="342900"/>
                </a:moveTo>
                <a:lnTo>
                  <a:pt x="5562600" y="355600"/>
                </a:lnTo>
                <a:lnTo>
                  <a:pt x="0" y="355600"/>
                </a:lnTo>
                <a:lnTo>
                  <a:pt x="0" y="342900"/>
                </a:lnTo>
                <a:lnTo>
                  <a:pt x="5562600" y="3429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956300" y="205859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5" name="Shape 13"/>
          <p:cNvSpPr/>
          <p:nvPr/>
        </p:nvSpPr>
        <p:spPr>
          <a:xfrm>
            <a:off x="6134100" y="205859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6" name="Shape 14"/>
          <p:cNvSpPr/>
          <p:nvPr/>
        </p:nvSpPr>
        <p:spPr>
          <a:xfrm>
            <a:off x="6311900" y="205859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875" y="2023666"/>
            <a:ext cx="47180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pic>
        <p:nvPicPr>
          <p:cNvPr id="18" name="Skrinshot 16" descr="Lotin yozuvidagi ko‘rinish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5825" y="2455466"/>
            <a:ext cx="5238750" cy="1555662"/>
          </a:xfrm>
          <a:prstGeom prst="roundRect">
            <a:avLst>
              <a:gd name="adj" fmla="val 2618"/>
            </a:avLst>
          </a:prstGeom>
          <a:ln w="9525">
            <a:solidFill>
              <a:srgbClr val="CBD5E6"/>
            </a:solidFill>
          </a:ln>
        </p:spPr>
      </p:pic>
      <p:sp>
        <p:nvSpPr>
          <p:cNvPr id="20" name="Yorliq Lotin"/>
          <p:cNvSpPr/>
          <p:nvPr/>
        </p:nvSpPr>
        <p:spPr>
          <a:xfrm>
            <a:off x="10399903" y="2528618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6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Lotin</a:t>
            </a:r>
          </a:p>
        </p:txBody>
      </p:sp>
      <p:pic>
        <p:nvPicPr>
          <p:cNvPr id="21" name="Skrinshot 19" descr="Kirill yozuvidagi ko‘rinish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5825" y="4111712"/>
            <a:ext cx="5238750" cy="1555662"/>
          </a:xfrm>
          <a:prstGeom prst="roundRect">
            <a:avLst>
              <a:gd name="adj" fmla="val 2618"/>
            </a:avLst>
          </a:prstGeom>
          <a:ln w="9525">
            <a:solidFill>
              <a:srgbClr val="CBD5E6"/>
            </a:solidFill>
          </a:ln>
        </p:spPr>
      </p:pic>
      <p:sp>
        <p:nvSpPr>
          <p:cNvPr id="23" name="Yorliq Kirill"/>
          <p:cNvSpPr/>
          <p:nvPr/>
        </p:nvSpPr>
        <p:spPr>
          <a:xfrm>
            <a:off x="10399903" y="4184864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6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Kirill</a:t>
            </a:r>
          </a:p>
        </p:txBody>
      </p:sp>
      <p:sp>
        <p:nvSpPr>
          <p:cNvPr id="24" name="Text 22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/ 16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O‘ziga xos imkoniyat 2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346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Tashkilot rejimi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99841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0800" y="1899841"/>
            <a:ext cx="510159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ali@tuit.uz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bilan kirish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7533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0800" y="2753320"/>
            <a:ext cx="510159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Tashkilot aniqlanadi: </a:t>
            </a:r>
            <a:r>
              <a:rPr lang="en-US" sz="16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tuit.uz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6068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0800" y="3606800"/>
            <a:ext cx="510159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Birinchi foydalanuvchi — admin; domenning yopiq guruhi avtomatik yaratiladi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46329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0800" y="4632920"/>
            <a:ext cx="510159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Keyingilar avtomatik a’zo, ism yonida </a:t>
            </a:r>
            <a:r>
              <a:rPr lang="en-US" sz="16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“tuit.uz ✓”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54864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DB76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0800" y="5486400"/>
            <a:ext cx="510159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Boshqalar — faqat </a:t>
            </a: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128 bitli taklif havolasi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orqali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35750" y="1906191"/>
            <a:ext cx="4737100" cy="3929459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42100" y="1912541"/>
            <a:ext cx="4724400" cy="355600"/>
          </a:xfrm>
          <a:custGeom>
            <a:avLst/>
            <a:gdLst/>
            <a:ahLst/>
            <a:cxnLst/>
            <a:rect l="l" t="t" r="r" b="b"/>
            <a:pathLst>
              <a:path w="4724400" h="355600">
                <a:moveTo>
                  <a:pt x="114300" y="0"/>
                </a:moveTo>
                <a:lnTo>
                  <a:pt x="4610100" y="0"/>
                </a:lnTo>
                <a:arcTo wR="114300" hR="114300" stAng="16200000" swAng="5400000"/>
                <a:lnTo>
                  <a:pt x="4724400" y="355600"/>
                </a:lnTo>
                <a:lnTo>
                  <a:pt x="0" y="355600"/>
                </a:lnTo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642100" y="1912541"/>
            <a:ext cx="4724400" cy="355600"/>
          </a:xfrm>
          <a:custGeom>
            <a:avLst/>
            <a:gdLst/>
            <a:ahLst/>
            <a:cxnLst/>
            <a:rect l="l" t="t" r="r" b="b"/>
            <a:pathLst>
              <a:path w="4724400" h="355600">
                <a:moveTo>
                  <a:pt x="4724400" y="342900"/>
                </a:moveTo>
                <a:lnTo>
                  <a:pt x="4724400" y="355600"/>
                </a:lnTo>
                <a:lnTo>
                  <a:pt x="0" y="355600"/>
                </a:lnTo>
                <a:lnTo>
                  <a:pt x="0" y="342900"/>
                </a:lnTo>
                <a:lnTo>
                  <a:pt x="4724400" y="3429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794500" y="203319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72300" y="203319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150100" y="203319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331075" y="1998266"/>
            <a:ext cx="38798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pic>
        <p:nvPicPr>
          <p:cNvPr id="21" name="Skrinshot 19" descr="Tashkilot (domen) guruhi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4025" y="2464522"/>
            <a:ext cx="4400550" cy="3168396"/>
          </a:xfrm>
          <a:prstGeom prst="roundRect">
            <a:avLst>
              <a:gd name="adj" fmla="val 2060"/>
            </a:avLst>
          </a:prstGeom>
          <a:ln>
            <a:noFill/>
          </a:ln>
        </p:spPr>
      </p:pic>
      <p:sp>
        <p:nvSpPr>
          <p:cNvPr id="24" name="Text 22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/ 16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O‘ziga xos imkoniyat 3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346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Maxfiy chat (E2E)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0791"/>
            <a:ext cx="2333724" cy="906661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 w="12700">
            <a:solidFill>
              <a:srgbClr val="C7D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2039541"/>
            <a:ext cx="202438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X25519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3300" y="2397621"/>
            <a:ext cx="202438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kalit kelishuvi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35424" y="2138561"/>
            <a:ext cx="29190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59076" y="1880791"/>
            <a:ext cx="2333823" cy="906661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 w="12700">
            <a:solidFill>
              <a:srgbClr val="C7D6FF"/>
            </a:solidFill>
            <a:prstDash val="solid"/>
          </a:ln>
        </p:spPr>
        <p:txBody>
          <a:bodyPr wrap="square" lIns="156252" tIns="130852" rIns="97287" bIns="130852" rtlCol="0" anchor="ctr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HKDF-SHA-256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75449" y="2138561"/>
            <a:ext cx="29190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99101" y="1880791"/>
            <a:ext cx="2333724" cy="906661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 w="12700">
            <a:solidFill>
              <a:srgbClr val="C7D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251" y="2039541"/>
            <a:ext cx="202438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HMAC ratchet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83251" y="2397621"/>
            <a:ext cx="202438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har xabarga yangi kalit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15375" y="2138561"/>
            <a:ext cx="29190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039027" y="1880791"/>
            <a:ext cx="2333823" cy="906661"/>
          </a:xfrm>
          <a:prstGeom prst="roundRect">
            <a:avLst>
              <a:gd name="adj" fmla="val 1050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156252" tIns="130852" rIns="97287" bIns="130852" rtlCol="0" anchor="ctr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AES-256-GCM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9150" y="3054152"/>
            <a:ext cx="3543300" cy="2781498"/>
          </a:xfrm>
          <a:prstGeom prst="roundRect">
            <a:avLst>
              <a:gd name="adj" fmla="val 4338"/>
            </a:avLst>
          </a:prstGeom>
          <a:solidFill>
            <a:srgbClr val="FFF3E4"/>
          </a:solidFill>
          <a:ln w="12700">
            <a:solidFill>
              <a:srgbClr val="FBD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9500" y="3965476"/>
            <a:ext cx="311327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Server xabar mazmunini ko‘rmaydi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9500" y="4676676"/>
            <a:ext cx="311327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bazada faqat shifrlangan matn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8350" y="3054152"/>
            <a:ext cx="3289300" cy="2781498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84700" y="3060502"/>
            <a:ext cx="3276600" cy="279400"/>
          </a:xfrm>
          <a:custGeom>
            <a:avLst/>
            <a:gdLst/>
            <a:ahLst/>
            <a:cxnLst/>
            <a:rect l="l" t="t" r="r" b="b"/>
            <a:pathLst>
              <a:path w="3276600" h="279400">
                <a:moveTo>
                  <a:pt x="114300" y="0"/>
                </a:moveTo>
                <a:lnTo>
                  <a:pt x="3162300" y="0"/>
                </a:lnTo>
                <a:arcTo wR="114300" hR="114300" stAng="16200000" swAng="5400000"/>
                <a:lnTo>
                  <a:pt x="3276600" y="279400"/>
                </a:lnTo>
                <a:lnTo>
                  <a:pt x="0" y="279400"/>
                </a:lnTo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84700" y="3060502"/>
            <a:ext cx="3276600" cy="279400"/>
          </a:xfrm>
          <a:custGeom>
            <a:avLst/>
            <a:gdLst/>
            <a:ahLst/>
            <a:cxnLst/>
            <a:rect l="l" t="t" r="r" b="b"/>
            <a:pathLst>
              <a:path w="3276600" h="279400">
                <a:moveTo>
                  <a:pt x="3276600" y="266700"/>
                </a:moveTo>
                <a:lnTo>
                  <a:pt x="3276600" y="279400"/>
                </a:lnTo>
                <a:lnTo>
                  <a:pt x="0" y="279400"/>
                </a:lnTo>
                <a:lnTo>
                  <a:pt x="0" y="266700"/>
                </a:lnTo>
                <a:lnTo>
                  <a:pt x="3276600" y="2667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11700" y="3149402"/>
            <a:ext cx="88900" cy="889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22" name="Shape 20"/>
          <p:cNvSpPr/>
          <p:nvPr/>
        </p:nvSpPr>
        <p:spPr>
          <a:xfrm>
            <a:off x="4864100" y="3149402"/>
            <a:ext cx="88900" cy="889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23" name="Shape 21"/>
          <p:cNvSpPr/>
          <p:nvPr/>
        </p:nvSpPr>
        <p:spPr>
          <a:xfrm>
            <a:off x="5016500" y="3149402"/>
            <a:ext cx="88900" cy="889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pic>
        <p:nvPicPr>
          <p:cNvPr id="24" name="Skrinshot 22" descr="Maxfiy cha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8525" y="3494179"/>
            <a:ext cx="3028950" cy="2180844"/>
          </a:xfrm>
          <a:prstGeom prst="roundRect">
            <a:avLst>
              <a:gd name="adj" fmla="val 2974"/>
            </a:avLst>
          </a:prstGeom>
          <a:ln>
            <a:noFill/>
          </a:ln>
        </p:spPr>
      </p:pic>
      <p:sp>
        <p:nvSpPr>
          <p:cNvPr id="27" name="Shape 25"/>
          <p:cNvSpPr/>
          <p:nvPr/>
        </p:nvSpPr>
        <p:spPr>
          <a:xfrm>
            <a:off x="8083550" y="3054152"/>
            <a:ext cx="3289300" cy="2781498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89900" y="3060502"/>
            <a:ext cx="3276600" cy="279400"/>
          </a:xfrm>
          <a:custGeom>
            <a:avLst/>
            <a:gdLst/>
            <a:ahLst/>
            <a:cxnLst/>
            <a:rect l="l" t="t" r="r" b="b"/>
            <a:pathLst>
              <a:path w="3276600" h="279400">
                <a:moveTo>
                  <a:pt x="114300" y="0"/>
                </a:moveTo>
                <a:lnTo>
                  <a:pt x="3162300" y="0"/>
                </a:lnTo>
                <a:arcTo wR="114300" hR="114300" stAng="16200000" swAng="5400000"/>
                <a:lnTo>
                  <a:pt x="3276600" y="279400"/>
                </a:lnTo>
                <a:lnTo>
                  <a:pt x="0" y="279400"/>
                </a:lnTo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29" name="Shape 27"/>
          <p:cNvSpPr/>
          <p:nvPr/>
        </p:nvSpPr>
        <p:spPr>
          <a:xfrm>
            <a:off x="8089900" y="3060502"/>
            <a:ext cx="3276600" cy="279400"/>
          </a:xfrm>
          <a:custGeom>
            <a:avLst/>
            <a:gdLst/>
            <a:ahLst/>
            <a:cxnLst/>
            <a:rect l="l" t="t" r="r" b="b"/>
            <a:pathLst>
              <a:path w="3276600" h="279400">
                <a:moveTo>
                  <a:pt x="3276600" y="266700"/>
                </a:moveTo>
                <a:lnTo>
                  <a:pt x="3276600" y="279400"/>
                </a:lnTo>
                <a:lnTo>
                  <a:pt x="0" y="279400"/>
                </a:lnTo>
                <a:lnTo>
                  <a:pt x="0" y="266700"/>
                </a:lnTo>
                <a:lnTo>
                  <a:pt x="3276600" y="2667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30" name="Shape 28"/>
          <p:cNvSpPr/>
          <p:nvPr/>
        </p:nvSpPr>
        <p:spPr>
          <a:xfrm>
            <a:off x="8216900" y="3149402"/>
            <a:ext cx="88900" cy="889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31" name="Shape 29"/>
          <p:cNvSpPr/>
          <p:nvPr/>
        </p:nvSpPr>
        <p:spPr>
          <a:xfrm>
            <a:off x="8369300" y="3149402"/>
            <a:ext cx="88900" cy="889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32" name="Shape 30"/>
          <p:cNvSpPr/>
          <p:nvPr/>
        </p:nvSpPr>
        <p:spPr>
          <a:xfrm>
            <a:off x="8521700" y="3149402"/>
            <a:ext cx="88900" cy="889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pic>
        <p:nvPicPr>
          <p:cNvPr id="33" name="Skrinshot 31" descr="Bazadagi shifrlangan yozuv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3725" y="3463727"/>
            <a:ext cx="3028950" cy="2241748"/>
          </a:xfrm>
          <a:prstGeom prst="roundRect">
            <a:avLst>
              <a:gd name="adj" fmla="val 2974"/>
            </a:avLst>
          </a:prstGeom>
          <a:ln>
            <a:noFill/>
          </a:ln>
        </p:spPr>
      </p:pic>
      <p:sp>
        <p:nvSpPr>
          <p:cNvPr id="36" name="Text 34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/ 16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Dastur interfeysi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16050" y="1520130"/>
            <a:ext cx="3543300" cy="16764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22400" y="1526480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88900" y="0"/>
                </a:moveTo>
                <a:lnTo>
                  <a:pt x="3441700" y="0"/>
                </a:lnTo>
                <a:arcTo wR="88900" hR="88900" stAng="16200000" swAng="5400000"/>
                <a:lnTo>
                  <a:pt x="3530600" y="228600"/>
                </a:lnTo>
                <a:lnTo>
                  <a:pt x="0" y="228600"/>
                </a:lnTo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5" name="Shape 3"/>
          <p:cNvSpPr/>
          <p:nvPr/>
        </p:nvSpPr>
        <p:spPr>
          <a:xfrm>
            <a:off x="1422400" y="1526480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3530600" y="215900"/>
                </a:moveTo>
                <a:lnTo>
                  <a:pt x="3530600" y="228600"/>
                </a:lnTo>
                <a:lnTo>
                  <a:pt x="0" y="228600"/>
                </a:lnTo>
                <a:lnTo>
                  <a:pt x="0" y="215900"/>
                </a:lnTo>
                <a:lnTo>
                  <a:pt x="3530600" y="2159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6" name="Shape 4"/>
          <p:cNvSpPr/>
          <p:nvPr/>
        </p:nvSpPr>
        <p:spPr>
          <a:xfrm>
            <a:off x="1524000" y="159633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7" name="Shape 5"/>
          <p:cNvSpPr/>
          <p:nvPr/>
        </p:nvSpPr>
        <p:spPr>
          <a:xfrm>
            <a:off x="1651000" y="159633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8" name="Shape 6"/>
          <p:cNvSpPr/>
          <p:nvPr/>
        </p:nvSpPr>
        <p:spPr>
          <a:xfrm>
            <a:off x="1778000" y="159633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pic>
        <p:nvPicPr>
          <p:cNvPr id="9" name="Skrinshot 7" descr="Kirish oynasi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0825" y="1853505"/>
            <a:ext cx="3333750" cy="1238250"/>
          </a:xfrm>
          <a:prstGeom prst="roundRect">
            <a:avLst>
              <a:gd name="adj" fmla="val 4359"/>
            </a:avLst>
          </a:prstGeom>
          <a:ln w="9525">
            <a:solidFill>
              <a:srgbClr val="CBD5E6"/>
            </a:solidFill>
          </a:ln>
        </p:spPr>
      </p:pic>
      <p:sp>
        <p:nvSpPr>
          <p:cNvPr id="10" name="Text 8"/>
          <p:cNvSpPr/>
          <p:nvPr/>
        </p:nvSpPr>
        <p:spPr>
          <a:xfrm>
            <a:off x="1409700" y="3266380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Kirish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72050" y="1520130"/>
            <a:ext cx="3543300" cy="16764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78400" y="1526480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88900" y="0"/>
                </a:moveTo>
                <a:lnTo>
                  <a:pt x="3441700" y="0"/>
                </a:lnTo>
                <a:arcTo wR="88900" hR="88900" stAng="16200000" swAng="5400000"/>
                <a:lnTo>
                  <a:pt x="3530600" y="228600"/>
                </a:lnTo>
                <a:lnTo>
                  <a:pt x="0" y="228600"/>
                </a:lnTo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978400" y="1526480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3530600" y="215900"/>
                </a:moveTo>
                <a:lnTo>
                  <a:pt x="3530600" y="228600"/>
                </a:lnTo>
                <a:lnTo>
                  <a:pt x="0" y="228600"/>
                </a:lnTo>
                <a:lnTo>
                  <a:pt x="0" y="215900"/>
                </a:lnTo>
                <a:lnTo>
                  <a:pt x="3530600" y="2159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080000" y="159633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207000" y="159633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334000" y="159633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pic>
        <p:nvPicPr>
          <p:cNvPr id="17" name="Skrinshot 15" descr="Guruh chat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6825" y="1853505"/>
            <a:ext cx="3333750" cy="1238250"/>
          </a:xfrm>
          <a:prstGeom prst="roundRect">
            <a:avLst>
              <a:gd name="adj" fmla="val 4359"/>
            </a:avLst>
          </a:prstGeom>
          <a:ln w="9525">
            <a:solidFill>
              <a:srgbClr val="CBD5E6"/>
            </a:solidFill>
          </a:ln>
        </p:spPr>
      </p:pic>
      <p:sp>
        <p:nvSpPr>
          <p:cNvPr id="18" name="Text 16"/>
          <p:cNvSpPr/>
          <p:nvPr/>
        </p:nvSpPr>
        <p:spPr>
          <a:xfrm>
            <a:off x="4965700" y="3266380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Guruh chati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16050" y="3684191"/>
            <a:ext cx="3543300" cy="16764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22400" y="3690541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88900" y="0"/>
                </a:moveTo>
                <a:lnTo>
                  <a:pt x="3441700" y="0"/>
                </a:lnTo>
                <a:arcTo wR="88900" hR="88900" stAng="16200000" swAng="5400000"/>
                <a:lnTo>
                  <a:pt x="3530600" y="228600"/>
                </a:lnTo>
                <a:lnTo>
                  <a:pt x="0" y="228600"/>
                </a:lnTo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422400" y="3690541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3530600" y="215900"/>
                </a:moveTo>
                <a:lnTo>
                  <a:pt x="3530600" y="228600"/>
                </a:lnTo>
                <a:lnTo>
                  <a:pt x="0" y="228600"/>
                </a:lnTo>
                <a:lnTo>
                  <a:pt x="0" y="215900"/>
                </a:lnTo>
                <a:lnTo>
                  <a:pt x="3530600" y="2159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22" name="Shape 20"/>
          <p:cNvSpPr/>
          <p:nvPr/>
        </p:nvSpPr>
        <p:spPr>
          <a:xfrm>
            <a:off x="1524000" y="3760391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23" name="Shape 21"/>
          <p:cNvSpPr/>
          <p:nvPr/>
        </p:nvSpPr>
        <p:spPr>
          <a:xfrm>
            <a:off x="1651000" y="3760391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24" name="Shape 22"/>
          <p:cNvSpPr/>
          <p:nvPr/>
        </p:nvSpPr>
        <p:spPr>
          <a:xfrm>
            <a:off x="1778000" y="3760391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pic>
        <p:nvPicPr>
          <p:cNvPr id="25" name="Skrinshot 23" descr="Hikoyala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0825" y="4017566"/>
            <a:ext cx="3333750" cy="1238250"/>
          </a:xfrm>
          <a:prstGeom prst="roundRect">
            <a:avLst>
              <a:gd name="adj" fmla="val 4359"/>
            </a:avLst>
          </a:prstGeom>
          <a:ln w="9525">
            <a:solidFill>
              <a:srgbClr val="CBD5E6"/>
            </a:solidFill>
          </a:ln>
        </p:spPr>
      </p:pic>
      <p:sp>
        <p:nvSpPr>
          <p:cNvPr id="26" name="Text 24"/>
          <p:cNvSpPr/>
          <p:nvPr/>
        </p:nvSpPr>
        <p:spPr>
          <a:xfrm>
            <a:off x="1409700" y="5430441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Hikoyalar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972050" y="3684191"/>
            <a:ext cx="3543300" cy="1676400"/>
          </a:xfrm>
          <a:prstGeom prst="roundRect">
            <a:avLst>
              <a:gd name="adj" fmla="val 5682"/>
            </a:avLst>
          </a:prstGeom>
          <a:solidFill>
            <a:srgbClr val="152150"/>
          </a:solidFill>
          <a:ln w="12700">
            <a:solidFill>
              <a:srgbClr val="34477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78400" y="3690541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88900" y="0"/>
                </a:moveTo>
                <a:lnTo>
                  <a:pt x="3441700" y="0"/>
                </a:lnTo>
                <a:arcTo wR="88900" hR="88900" stAng="16200000" swAng="5400000"/>
                <a:lnTo>
                  <a:pt x="3530600" y="228600"/>
                </a:lnTo>
                <a:lnTo>
                  <a:pt x="0" y="228600"/>
                </a:lnTo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101B42"/>
          </a:solidFill>
          <a:ln/>
        </p:spPr>
      </p:sp>
      <p:sp>
        <p:nvSpPr>
          <p:cNvPr id="29" name="Shape 27"/>
          <p:cNvSpPr/>
          <p:nvPr/>
        </p:nvSpPr>
        <p:spPr>
          <a:xfrm>
            <a:off x="4978400" y="3690541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3530600" y="215900"/>
                </a:moveTo>
                <a:lnTo>
                  <a:pt x="3530600" y="228600"/>
                </a:lnTo>
                <a:lnTo>
                  <a:pt x="0" y="228600"/>
                </a:lnTo>
                <a:lnTo>
                  <a:pt x="0" y="215900"/>
                </a:lnTo>
                <a:lnTo>
                  <a:pt x="3530600" y="215900"/>
                </a:lnTo>
                <a:close/>
              </a:path>
            </a:pathLst>
          </a:custGeom>
          <a:solidFill>
            <a:srgbClr val="26315A"/>
          </a:solidFill>
          <a:ln/>
        </p:spPr>
      </p:sp>
      <p:sp>
        <p:nvSpPr>
          <p:cNvPr id="30" name="Shape 28"/>
          <p:cNvSpPr/>
          <p:nvPr/>
        </p:nvSpPr>
        <p:spPr>
          <a:xfrm>
            <a:off x="5080000" y="3760391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477E"/>
          </a:solidFill>
          <a:ln/>
        </p:spPr>
      </p:sp>
      <p:sp>
        <p:nvSpPr>
          <p:cNvPr id="31" name="Shape 29"/>
          <p:cNvSpPr/>
          <p:nvPr/>
        </p:nvSpPr>
        <p:spPr>
          <a:xfrm>
            <a:off x="5207000" y="3760391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477E"/>
          </a:solidFill>
          <a:ln/>
        </p:spPr>
      </p:sp>
      <p:sp>
        <p:nvSpPr>
          <p:cNvPr id="32" name="Shape 30"/>
          <p:cNvSpPr/>
          <p:nvPr/>
        </p:nvSpPr>
        <p:spPr>
          <a:xfrm>
            <a:off x="5334000" y="3760391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477E"/>
          </a:solidFill>
          <a:ln/>
        </p:spPr>
      </p:sp>
      <p:pic>
        <p:nvPicPr>
          <p:cNvPr id="33" name="Skrinshot 31" descr="Qorong‘i mavzu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6825" y="4017566"/>
            <a:ext cx="3333750" cy="1238250"/>
          </a:xfrm>
          <a:prstGeom prst="roundRect">
            <a:avLst>
              <a:gd name="adj" fmla="val 4359"/>
            </a:avLst>
          </a:prstGeom>
          <a:ln w="9525">
            <a:solidFill>
              <a:srgbClr val="CBD5E6"/>
            </a:solidFill>
          </a:ln>
        </p:spPr>
      </p:pic>
      <p:sp>
        <p:nvSpPr>
          <p:cNvPr id="34" name="Text 32"/>
          <p:cNvSpPr/>
          <p:nvPr/>
        </p:nvSpPr>
        <p:spPr>
          <a:xfrm>
            <a:off x="4965700" y="5430441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Qorong‘i mavzu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877300" y="1513780"/>
            <a:ext cx="1905000" cy="3810000"/>
          </a:xfrm>
          <a:prstGeom prst="roundRect">
            <a:avLst>
              <a:gd name="adj" fmla="val 14667"/>
            </a:avLst>
          </a:prstGeom>
          <a:solidFill>
            <a:srgbClr val="10162E"/>
          </a:solidFill>
          <a:ln/>
        </p:spPr>
      </p:sp>
      <p:sp>
        <p:nvSpPr>
          <p:cNvPr id="36" name="Shape 34"/>
          <p:cNvSpPr/>
          <p:nvPr/>
        </p:nvSpPr>
        <p:spPr>
          <a:xfrm>
            <a:off x="9525000" y="1640780"/>
            <a:ext cx="609600" cy="76200"/>
          </a:xfrm>
          <a:prstGeom prst="roundRect">
            <a:avLst>
              <a:gd name="adj" fmla="val 50000"/>
            </a:avLst>
          </a:prstGeom>
          <a:solidFill>
            <a:srgbClr val="3D4868"/>
          </a:solidFill>
          <a:ln/>
        </p:spPr>
      </p:sp>
      <p:pic>
        <p:nvPicPr>
          <p:cNvPr id="37" name="Skrinshot 35" descr="Mobil ko‘rinish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75725" y="1802705"/>
            <a:ext cx="1708150" cy="3359150"/>
          </a:xfrm>
          <a:prstGeom prst="roundRect">
            <a:avLst>
              <a:gd name="adj" fmla="val 10595"/>
            </a:avLst>
          </a:prstGeom>
          <a:ln>
            <a:noFill/>
          </a:ln>
        </p:spPr>
      </p:pic>
      <p:sp>
        <p:nvSpPr>
          <p:cNvPr id="38" name="Text 36"/>
          <p:cNvSpPr/>
          <p:nvPr/>
        </p:nvSpPr>
        <p:spPr>
          <a:xfrm>
            <a:off x="8972322" y="5387280"/>
            <a:ext cx="171485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Mobil ko‘rinish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/ 16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Joylashtirish va testlash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45530"/>
            <a:ext cx="6218138" cy="3136999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0300" y="1805880"/>
            <a:ext cx="235208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0"/>
              </a:lnSpc>
              <a:buNone/>
            </a:pPr>
            <a:r>
              <a:rPr lang="en-US" sz="10000" b="1" kern="0" spc="-30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536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3482380" y="2506960"/>
            <a:ext cx="14166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unit test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30300" y="3853259"/>
            <a:ext cx="3206452" cy="177800"/>
          </a:xfrm>
          <a:custGeom>
            <a:avLst/>
            <a:gdLst/>
            <a:ahLst/>
            <a:cxnLst/>
            <a:rect l="l" t="t" r="r" b="b"/>
            <a:pathLst>
              <a:path w="3206452" h="177800">
                <a:moveTo>
                  <a:pt x="88900" y="0"/>
                </a:moveTo>
                <a:lnTo>
                  <a:pt x="3206452" y="0"/>
                </a:lnTo>
                <a:lnTo>
                  <a:pt x="3206452" y="177800"/>
                </a:lnTo>
                <a:lnTo>
                  <a:pt x="88900" y="17780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336752" y="3853259"/>
            <a:ext cx="2389386" cy="177800"/>
          </a:xfrm>
          <a:custGeom>
            <a:avLst/>
            <a:gdLst/>
            <a:ahLst/>
            <a:cxnLst/>
            <a:rect l="l" t="t" r="r" b="b"/>
            <a:pathLst>
              <a:path w="2389386" h="177800">
                <a:moveTo>
                  <a:pt x="0" y="0"/>
                </a:moveTo>
                <a:lnTo>
                  <a:pt x="2300486" y="0"/>
                </a:lnTo>
                <a:arcTo wR="88900" hR="88900" stAng="16200000" swAng="5400000"/>
                <a:lnTo>
                  <a:pt x="2389386" y="88900"/>
                </a:lnTo>
                <a:arcTo wR="88900" hR="88900" stAng="0" swAng="5400000"/>
                <a:lnTo>
                  <a:pt x="0" y="177800"/>
                </a:lnTo>
                <a:lnTo>
                  <a:pt x="0" y="0"/>
                </a:lnTo>
                <a:close/>
              </a:path>
            </a:pathLst>
          </a:custGeom>
          <a:solidFill>
            <a:srgbClr val="DB7612"/>
          </a:solidFill>
          <a:ln/>
        </p:spPr>
      </p:sp>
      <p:sp>
        <p:nvSpPr>
          <p:cNvPr id="8" name="Text 6"/>
          <p:cNvSpPr/>
          <p:nvPr/>
        </p:nvSpPr>
        <p:spPr>
          <a:xfrm>
            <a:off x="1130300" y="4119959"/>
            <a:ext cx="130837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307</a:t>
            </a:r>
            <a:r>
              <a:rPr lang="en-US" sz="17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server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93603" y="4119959"/>
            <a:ext cx="123253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229</a:t>
            </a:r>
            <a:r>
              <a:rPr lang="en-US" sz="17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klient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253188" y="1545530"/>
            <a:ext cx="4119662" cy="3136999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4338" y="1805880"/>
            <a:ext cx="3602283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0"/>
              </a:lnSpc>
              <a:buNone/>
            </a:pPr>
            <a:r>
              <a:rPr lang="en-US" sz="10000" b="1" kern="0" spc="-30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43</a:t>
            </a:r>
            <a:endParaRPr lang="en-US" sz="10000" dirty="0"/>
          </a:p>
        </p:txBody>
      </p:sp>
      <p:sp>
        <p:nvSpPr>
          <p:cNvPr id="12" name="Text 10"/>
          <p:cNvSpPr/>
          <p:nvPr/>
        </p:nvSpPr>
        <p:spPr>
          <a:xfrm>
            <a:off x="7564338" y="3025080"/>
            <a:ext cx="36022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integratsion tekshiruv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70688" y="3966270"/>
            <a:ext cx="2904133" cy="449560"/>
          </a:xfrm>
          <a:prstGeom prst="roundRect">
            <a:avLst>
              <a:gd name="adj" fmla="val 50000"/>
            </a:avLst>
          </a:prstGeom>
          <a:solidFill>
            <a:srgbClr val="E8F7EF"/>
          </a:solidFill>
          <a:ln w="12700">
            <a:solidFill>
              <a:srgbClr val="BDE8D1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7A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 Barchasi muvaffaqiyatli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9150" y="5116810"/>
            <a:ext cx="2273995" cy="576560"/>
          </a:xfrm>
          <a:prstGeom prst="roundRect">
            <a:avLst>
              <a:gd name="adj" fmla="val 16520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  <p:txBody>
          <a:bodyPr wrap="square" lIns="156252" tIns="118152" rIns="99081" bIns="9275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GitHub’ga push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26495" y="5227340"/>
            <a:ext cx="2699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79019" y="4974630"/>
            <a:ext cx="2274094" cy="861020"/>
          </a:xfrm>
          <a:prstGeom prst="roundRect">
            <a:avLst>
              <a:gd name="adj" fmla="val 11062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  <p:txBody>
          <a:bodyPr wrap="square" lIns="156252" tIns="118152" rIns="99078" bIns="9275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Avtomatik qayta yig‘ish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6463" y="5227340"/>
            <a:ext cx="2699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38987" y="5116810"/>
            <a:ext cx="2273995" cy="576560"/>
          </a:xfrm>
          <a:prstGeom prst="roundRect">
            <a:avLst>
              <a:gd name="adj" fmla="val 16520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  <p:txBody>
          <a:bodyPr wrap="square" lIns="156252" tIns="118152" rIns="99081" bIns="9275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Docker konteyner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46331" y="5227340"/>
            <a:ext cx="2699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855" y="5116810"/>
            <a:ext cx="2273995" cy="576560"/>
          </a:xfrm>
          <a:prstGeom prst="roundRect">
            <a:avLst>
              <a:gd name="adj" fmla="val 1652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156252" tIns="118152" rIns="99081" bIns="9275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Render bulut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/ 16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Hayot faoliyati xavfsizligi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30"/>
            <a:ext cx="2495550" cy="42647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4100" y="1831280"/>
            <a:ext cx="2086419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800"/>
              </a:lnSpc>
              <a:buNone/>
            </a:pPr>
            <a:r>
              <a:rPr lang="en-US" sz="6800" b="1" kern="0" spc="-20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1054100" y="2745680"/>
            <a:ext cx="208641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ish joyi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54100" y="5327650"/>
            <a:ext cx="208641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xona 6 × 6 × 3 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05200" y="1570930"/>
            <a:ext cx="2495550" cy="42647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0150" y="1831280"/>
            <a:ext cx="2086419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800"/>
              </a:lnSpc>
              <a:buNone/>
            </a:pPr>
            <a:r>
              <a:rPr lang="en-US" sz="6800" b="1" kern="0" spc="-20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421 lk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3740150" y="3609280"/>
            <a:ext cx="208641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yoritilganlik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740150" y="5080000"/>
            <a:ext cx="208641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ta LED panel, me’yor 400 lk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91250" y="1570930"/>
            <a:ext cx="2495550" cy="42647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6200" y="1831280"/>
            <a:ext cx="2086419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800"/>
              </a:lnSpc>
              <a:buNone/>
            </a:pPr>
            <a:r>
              <a:rPr lang="en-US" sz="6800" b="1" kern="0" spc="-20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150</a:t>
            </a:r>
            <a:endParaRPr lang="en-US" sz="6800" dirty="0"/>
          </a:p>
        </p:txBody>
      </p:sp>
      <p:sp>
        <p:nvSpPr>
          <p:cNvPr id="13" name="Text 11"/>
          <p:cNvSpPr/>
          <p:nvPr/>
        </p:nvSpPr>
        <p:spPr>
          <a:xfrm>
            <a:off x="6426200" y="2745680"/>
            <a:ext cx="208641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m³/soat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26200" y="5327650"/>
            <a:ext cx="208641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toza havo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77300" y="1570930"/>
            <a:ext cx="2495550" cy="42647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12250" y="1831280"/>
            <a:ext cx="2086419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800"/>
              </a:lnSpc>
              <a:buNone/>
            </a:pPr>
            <a:r>
              <a:rPr lang="en-US" sz="6800" b="1" kern="0" spc="-200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≈ 50</a:t>
            </a:r>
            <a:endParaRPr lang="en-US" sz="6800" dirty="0"/>
          </a:p>
        </p:txBody>
      </p:sp>
      <p:sp>
        <p:nvSpPr>
          <p:cNvPr id="17" name="Text 15"/>
          <p:cNvSpPr/>
          <p:nvPr/>
        </p:nvSpPr>
        <p:spPr>
          <a:xfrm>
            <a:off x="9112250" y="2745680"/>
            <a:ext cx="208641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soniya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12250" y="5080000"/>
            <a:ext cx="208641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hisobiy evakuatsiya vaqti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/ 16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kern="0" spc="-5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Xulosa va istiqbollar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45530"/>
            <a:ext cx="5168900" cy="3548459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900" y="1780480"/>
            <a:ext cx="473532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Natijalar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04900" y="2224980"/>
            <a:ext cx="4735322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Ishlaydigan veb-messenjer yaratildi va bulutga joylashtirildi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900" y="2892921"/>
            <a:ext cx="4735322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Uchta o‘ziga xos imkoniyat: lotin↔kirill, tashkilot rejimi, maxfiy chatlar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4900" y="3560862"/>
            <a:ext cx="473532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536 test bilan tekshirildi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03950" y="1545530"/>
            <a:ext cx="5168900" cy="3548459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700" y="1780480"/>
            <a:ext cx="473532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Istiqbollar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89700" y="2224980"/>
            <a:ext cx="473532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Android va iOS ilovalari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89700" y="2628801"/>
            <a:ext cx="473532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Push-bildirishnomalar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89700" y="3032621"/>
            <a:ext cx="473532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Ovozli va video qo‘ng‘iroqlar (WebRTC)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89700" y="3436441"/>
            <a:ext cx="473532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Kanallar va botlar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4304" y="537974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40"/>
              </a:lnSpc>
              <a:buNone/>
            </a:pPr>
            <a:r>
              <a:rPr lang="en-US" sz="2600" b="1" kern="0" spc="-25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E’tiboringiz uchun rahmat!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 / 16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lliy chat — BMI himoyasi">
  <a:themeElements>
    <a:clrScheme name="Milliy chat — BMI himoyasi">
      <a:dk1>
        <a:srgbClr val="10162E"/>
      </a:dk1>
      <a:lt1>
        <a:srgbClr val="F5F7FB"/>
      </a:lt1>
      <a:dk2>
        <a:srgbClr val="494E61"/>
      </a:dk2>
      <a:lt2>
        <a:srgbClr val="DEE1E7"/>
      </a:lt2>
      <a:accent1>
        <a:srgbClr val="3D4868"/>
      </a:accent1>
      <a:accent2>
        <a:srgbClr val="5F6B8A"/>
      </a:accent2>
      <a:accent3>
        <a:srgbClr val="1D4ED8"/>
      </a:accent3>
      <a:accent4>
        <a:srgbClr val="2563EB"/>
      </a:accent4>
      <a:accent5>
        <a:srgbClr val="B45309"/>
      </a:accent5>
      <a:accent6>
        <a:srgbClr val="DB7612"/>
      </a:accent6>
      <a:hlink>
        <a:srgbClr val="0563C1"/>
      </a:hlink>
      <a:folHlink>
        <a:srgbClr val="954F72"/>
      </a:folHlink>
    </a:clrScheme>
    <a:fontScheme name="Milliy chat — BMI himoyasi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1857</Words>
  <Application>Microsoft Office PowerPoint</Application>
  <PresentationFormat>Широкоэкранный</PresentationFormat>
  <Paragraphs>290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Manrope</vt:lpstr>
      <vt:lpstr>Milliy chat — BMI himoyasi</vt:lpstr>
      <vt:lpstr>Real vaqtda xabar almashish imkonini beruvchi “Milliy chat” dasturini ishlab chiqish</vt:lpstr>
      <vt:lpstr>Muammo va dolzarblik</vt:lpstr>
      <vt:lpstr>Maqsad va vazifalar</vt:lpstr>
      <vt:lpstr>Mavjud messenjerlar bilan taqqoslash</vt:lpstr>
      <vt:lpstr>Texnologiyalar</vt:lpstr>
      <vt:lpstr>Tizim arxitekturasi</vt:lpstr>
      <vt:lpstr>Ma’lumotlar bazasi va API</vt:lpstr>
      <vt:lpstr>Xavfsizlik va autentifikatsiya</vt:lpstr>
      <vt:lpstr>Real vaqtda xabar yuborish</vt:lpstr>
      <vt:lpstr>Lotin ↔ Kirill</vt:lpstr>
      <vt:lpstr>Tashkilot rejimi</vt:lpstr>
      <vt:lpstr>Maxfiy chat (E2E)</vt:lpstr>
      <vt:lpstr>Dastur interfeysi</vt:lpstr>
      <vt:lpstr>Joylashtirish va testlash</vt:lpstr>
      <vt:lpstr>Hayot faoliyati xavfsizligi</vt:lpstr>
      <vt:lpstr>Xulosa va istiqbollar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Milliy chat — BMI himoyasi</dc:title>
  <dc:subject/>
  <dc:creator/>
  <cp:lastModifiedBy>Sohinazarov Sardorbek O'rinboy o'gli</cp:lastModifiedBy>
  <cp:revision>2</cp:revision>
  <dcterms:created xsi:type="dcterms:W3CDTF">2026-10-03T06:35:01Z</dcterms:created>
  <dcterms:modified xsi:type="dcterms:W3CDTF">2026-10-06T04:21:03Z</dcterms:modified>
</cp:coreProperties>
</file>