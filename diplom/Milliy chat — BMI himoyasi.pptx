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Hurmatli davlat attestatsiya komissiyasi a’zolari! Men, 315-21 guruh talabasi Sohinazarov, “Real vaqtda xabar almashish imkonini beruvchi ‘Milliy chat’ dasturini ishlab chiqish” mavzusidagi bitiruv malakaviy ishimni taqdim etaman. Ilmiy rahbarim — dotsent Y.Sh. Yuldoshev.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Bugungi kunda fuqarolarimiz eng ko‘p foydalanadigan messenjerlar — Telegram, WhatsApp, Signal va WeChat — xorijiy yurisdiksiyada, ularning ma’lumotlari mamlakatdan tashqarida saqlanadi. Holbuki, “Shaxsga doir ma’lumotlar to‘g‘risida”gi Qonun bu ma’lumotlar respublika hududida saqlanishini talab qiladi, “Raqamli O‘zbekiston – 2030” strategiyasi esa mahalliy dasturiy mahsulotlarni ustuvor deb belgilaydi. Shu sababli ma’lumotlarni o‘z serverida saqlaydigan milliy messenjer kerak.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Ishning maqsadi — foydalanuvchi ma’lumotlarini o‘z serverida saqlaydigan, shaxsiy va guruh yozishmalarini real vaqtda ta’minlaydigan “Milliy chat” veb-messenjerini loyihalash va ishlab chiqish. Bu maqsadga erishish uchun oltita vazifa qo‘yildi: tahlil va talablardan boshlab, loyihalash, xavfsizlik, dasturlash hamda bulutga joylashtirish va sinashgacha.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Jadvalda mashhur to‘rtta messenjer bilan taqqoslash keltirilgan. Ularning barchasi xorijiy kompaniyalarga tegishli va ma’lumotlar xorijda saqlanadi. “Milliy chat” esa mahalliy bo‘lib, ma’lumotlarni O‘zbekistonda saqlash mumkin, lotin↔kirill o‘girish va e-pochta domeni orqali tashkilot tasdig‘i esa boshqalarda yo‘q.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Server qismi .NET 8 va ASP.NET Core’da, real vaqt aloqasi SignalR orqali, ma’lumotlar Entity Framework Core 8 yordamida PostgreSQL’da, kesh esa Redis’da. Klient Angular 22 va TypeScript’da yozilgan, shifrlash Web Crypto API orqali bajariladi. SignalR’ni tanlaganimizning sababi — u WebSocket, SSE va long polling orasidan transportni avtomatik tanlaydi, guruhlar va qayta ulanish esa tayyor holda keladi.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Server Clean Architecture asosida to‘rt qatlamga bo‘lingan va bog‘liqlik faqat ichkariga yo‘nalgan: API, Infrastructure, Application va markazda Domain. Domain qatlami — User, Chat, Message, Group, Story — hech qaysi tashqi texnologiyaga bog‘liq emas. Joylashtirishda brauzerdagi Angular ilovasi HTTPS va WebSocket orqali ASP.NET Core serveriga, server esa PostgreSQL’ga ulanadi.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Ma’lumotlar bazasi 10 ta sxemaga ajratilgan 36 ta jadvaldan iborat, API esa 11 ta controllerdagi 73 ta REST endpointdan tashkil topgan. Xabarlar tarixi kursorli sahifalash — beforeId va limit — orqali yuklanadi. Sxemaning bir qismi kelajakdagi kanallar va botlar uchun oldindan tayyorlab qo‘yilgan.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Tizimga kirish e-pochtaga yuboriladigan 6 xonali kod yoki Google hisobi orqali amalga oshadi. Shundan so‘ng 15 daqiqalik JWT access token va 30 kunlik refresh token beriladi; refresh token HttpOnly cookie’da saqlanadi va har foydalanishda almashadi, sessiyalar esa qurilmalar bo‘yicha boshqariladi. Eng muhimi — tizimda parol umuman yo‘q, bazada faqat xeshlar saqlanadi, yuklangan fayllar esa antivirusdan o‘tkaziladi.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Xabar yuborish uch bosqichda amalga oshadi. Avval xabar REST so‘rovi orqali tekshirilib, bazaga yoziladi; so‘ng ChatHub uni chat a’zolariga darhol yetkazadi. Shu bilan birga “o‘qildi” belgisi va “yozmoqda…” holati ham real vaqtda ko‘rsatiladi.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Birinchi o‘ziga xos imkoniyat — lotin va kirill yozuvlari o‘rtasida avtomatik o‘girish: har bir foydalanuvchi xabarni o‘zi tanlagan yozuvda ko‘radi, bazada esa xabar asl holida qoladi. Qidiruv ham yozuvga bog‘liq emas. Server (C#) va klient (TypeScript) tomondagi o‘girish bitta 80 juftlikli test to‘plami bilan tekshirilgan.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Ikkinchi imkoniyat — tashkilot rejimi. Masalan, foydalanuvchi ali@tuit.uz manzili bilan kirsa, tizim uni “tuit.uz” tashkilotiga bog‘laydi: birinchi foydalanuvchi admin bo‘ladi va domenning yopiq guruhi avtomatik yaratiladi. Keyingi xodimlar avtomatik a’zo bo‘ladi va ism yonida “tuit.uz ✓” belgisi chiqadi, tashqi foydalanuvchilar esa faqat 128 bitli taklif havolasi orqali qo‘shila oladi.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Uchinchi imkoniyat — uchdan-uchga shifrlangan maxfiy chatlar. Ikki tomon X25519 orqali kalit kelishadi, HKDF-SHA-256 yordamida kalit hosil qilinadi, HMAC ratchet har bir xabar uchun yangi kalit beradi va xabar AES-256-GCM bilan shifrlanadi. Natijada server xabar mazmunini ko‘rmaydi — skrinshotda ko‘rinib turibdiki, bazada faqat shifrlangan matn saqlanadi.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yerda dasturning asosiy ekranlari ko‘rsatilgan: kirish oynasi, guruh chati, hikoyalar, qorong‘i mavzu va mobil ko‘rinish. Interfeys ham kompyuter, ham telefon brauzerida qulay ishlaydi.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Dastur 536 ta unit test bilan tekshirildi: 307 tasi server va 229 tasi klient uchun, qo‘shimcha ravishda 43 ta integratsion tekshiruv o‘tkazildi — barchasi muvaffaqiyatli. Ilova Docker konteynerida Render bulutiga joylashtirilgan va GitHub’ga har bir push qilinganda avtomatik qayta yig‘iladi.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Hayot faoliyati xavfsizligi bo‘limida 6 × 6 × 3 metrli xonadagi 5 ta ish joyi uchun hisob-kitoblar bajarildi. 12 ta LED panel 421 lyuks yoritilganlikni ta’minlaydi, bu 400 lyuks me’yoridan yuqori; shamollatish soatiga 150 kub metr toza havo beradi. Hisobiy evakuatsiya vaqti taxminan 50 soniyani tashkil etadi.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Xulosa qilib aytganda, ishlaydigan veb-messenjer yaratildi va bulutga joylashtirildi, unda uchta o‘ziga xos imkoniyat — lotin↔kirill, tashkilot rejimi va maxfiy chatlar — amalga oshirildi va 536 ta test bilan tekshirildi. Kelgusida Android va iOS ilovalari, push-bildirishnomalar, WebRTC asosidagi ovozli va video qo‘ng‘iroqlar hamda kanallar va botlarni qo‘shish rejalashtirilgan. E’tiboringiz uchun rahmat, savollaringizga javob berishga tayyorman.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46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64580"/>
            <a:ext cx="10566400" cy="4480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46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64580"/>
            <a:ext cx="10566400" cy="4480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62000"/>
            <a:ext cx="10883392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5F6B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O‘zbekiston Respublikasi Raqamli texnologiyalar vazirligi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12800" y="1057275"/>
            <a:ext cx="10883392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Muhammad al-Xorazmiy nomidagi Toshkent axborot texnologiyalari universiteti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12800" y="1352550"/>
            <a:ext cx="10883392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3D48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“Axborot texnologiyalarining dasturiy ta’minoti” kafedrasi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2031802"/>
            <a:ext cx="10883392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Bitiruv malakaviy ishi</a:t>
            </a:r>
            <a:endParaRPr lang="en-US" sz="1800" dirty="0"/>
          </a:p>
        </p:txBody>
      </p:sp>
      <p:sp>
        <p:nvSpPr>
          <p:cNvPr id="6" name="Text 4"/>
          <p:cNvSpPr/>
          <p:nvPr>
            <p:ph type="title"/>
          </p:nvPr>
        </p:nvSpPr>
        <p:spPr>
          <a:xfrm>
            <a:off x="812800" y="2529582"/>
            <a:ext cx="10333990" cy="170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spc="-75" kern="0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Real vaqtda xabar almashish imkonini beruvchi </a:t>
            </a:r>
            <a:r>
              <a:rPr lang="en-US" sz="4000" b="1" i="0" spc="-75" kern="0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“Milliy chat”</a:t>
            </a:r>
            <a:r>
              <a:rPr lang="en-US" sz="4000" b="1" i="0" spc="-75" kern="0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dasturini ishlab chiqish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812800" y="4634309"/>
            <a:ext cx="10566400" cy="0"/>
          </a:xfrm>
          <a:prstGeom prst="line">
            <a:avLst/>
          </a:prstGeom>
          <a:noFill/>
          <a:ln w="12700">
            <a:solidFill>
              <a:srgbClr val="E4E9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4894659"/>
            <a:ext cx="213005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F6B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Bajardi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2800" y="5181600"/>
            <a:ext cx="24816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S.O. Sohinazarov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12800" y="5575300"/>
            <a:ext cx="213005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D48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315-21 guruh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42816" y="4894659"/>
            <a:ext cx="268855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F6B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Ilmiy rahbar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42816" y="5181600"/>
            <a:ext cx="31322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dots. Y.Sh. Yuldoshev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2800" y="6202759"/>
            <a:ext cx="39243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D48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Toshkent – 2026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804400" y="6202759"/>
            <a:ext cx="15748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F6B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 / 16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Muammo va dolzarblik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9150" y="1570930"/>
            <a:ext cx="3373934" cy="2546152"/>
          </a:xfrm>
          <a:prstGeom prst="roundRect">
            <a:avLst>
              <a:gd name="adj" fmla="val 4739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4900" y="1856680"/>
            <a:ext cx="288650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Xorijiy yurisdiksiya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04900" y="2288480"/>
            <a:ext cx="2886507" cy="1259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3D48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Telegram, WhatsApp, Signal, WeChat — ma’lumotlar mamlakatdan tashqarida saqlanadi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408984" y="1570930"/>
            <a:ext cx="3374033" cy="2546152"/>
          </a:xfrm>
          <a:prstGeom prst="roundRect">
            <a:avLst>
              <a:gd name="adj" fmla="val 4739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94734" y="1856680"/>
            <a:ext cx="288660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Qonun talabi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694734" y="2288480"/>
            <a:ext cx="2886609" cy="1568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3D48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“Shaxsga doir ma’lumotlar to‘g‘risida”gi Qonun: fuqarolar ma’lumotlari respublika hududida saqlanishi kerak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998916" y="1570930"/>
            <a:ext cx="3373934" cy="2546152"/>
          </a:xfrm>
          <a:prstGeom prst="roundRect">
            <a:avLst>
              <a:gd name="adj" fmla="val 4739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84666" y="1856680"/>
            <a:ext cx="288650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Davlat strategiyasi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84666" y="2288480"/>
            <a:ext cx="2886507" cy="95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3D48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“Raqamli O‘zbekiston – 2030”: mahalliy dasturiy mahsulotlar ustuvor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19150" y="4434582"/>
            <a:ext cx="10553700" cy="819150"/>
          </a:xfrm>
          <a:prstGeom prst="roundRect">
            <a:avLst>
              <a:gd name="adj" fmla="val 14729"/>
            </a:avLst>
          </a:prstGeom>
          <a:solidFill>
            <a:srgbClr val="FFF3E4"/>
          </a:solidFill>
          <a:ln w="12700">
            <a:solidFill>
              <a:srgbClr val="FBD7A8"/>
            </a:solidFill>
            <a:prstDash val="solid"/>
          </a:ln>
        </p:spPr>
        <p:txBody>
          <a:bodyPr wrap="square" lIns="275813" tIns="186913" rIns="275813" bIns="186913" rtlCol="0" anchor="ctr">
            <a:normAutofit/>
          </a:bodyPr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Ma’lumotlarni o‘z serverida saqlaydigan milliy messenjer kerak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804400" y="6202759"/>
            <a:ext cx="15748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F6B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 / 16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Maqsad va vazifalar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9150" y="1494730"/>
            <a:ext cx="10553700" cy="1344811"/>
          </a:xfrm>
          <a:prstGeom prst="roundRect">
            <a:avLst>
              <a:gd name="adj" fmla="val 8972"/>
            </a:avLst>
          </a:prstGeom>
          <a:solidFill>
            <a:srgbClr val="EAF0FF"/>
          </a:solidFill>
          <a:ln w="12700">
            <a:solidFill>
              <a:srgbClr val="C7D6FF"/>
            </a:solidFill>
            <a:prstDash val="solid"/>
          </a:ln>
        </p:spPr>
        <p:txBody>
          <a:bodyPr wrap="square" lIns="250413" tIns="174213" rIns="0" bIns="148813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Maqsad:</a:t>
            </a:r>
            <a:r>
              <a:rPr lang="en-US" sz="1800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foydalanuvchi ma’lumotlarini o‘z serverida saqlaydigan, shaxsiy va guruh yozishmalarini real vaqtda ta’minlaydigan “Milliy chat” veb-messenjerini loyihalash va ishlab chiqish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19150" y="3080841"/>
            <a:ext cx="3407767" cy="1160661"/>
          </a:xfrm>
          <a:prstGeom prst="roundRect">
            <a:avLst>
              <a:gd name="adj" fmla="val 10395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700" y="3264991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09700" y="3264991"/>
            <a:ext cx="2685897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Mavjud messenjerlar va real vaqt texnologiyalarini tahlil qilish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92017" y="3080841"/>
            <a:ext cx="3407866" cy="1160661"/>
          </a:xfrm>
          <a:prstGeom prst="roundRect">
            <a:avLst>
              <a:gd name="adj" fmla="val 10395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01567" y="3264991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982567" y="3264991"/>
            <a:ext cx="2167176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Talablarni aniqlash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964984" y="3080841"/>
            <a:ext cx="3407866" cy="1160661"/>
          </a:xfrm>
          <a:prstGeom prst="roundRect">
            <a:avLst>
              <a:gd name="adj" fmla="val 10395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74534" y="3264991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555534" y="3264991"/>
            <a:ext cx="2685999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Arxitektura, ma’lumotlar bazasi va UML modellarini loyihalash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9150" y="4406602"/>
            <a:ext cx="3407767" cy="1160661"/>
          </a:xfrm>
          <a:prstGeom prst="roundRect">
            <a:avLst>
              <a:gd name="adj" fmla="val 10395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8700" y="4590752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09700" y="4590752"/>
            <a:ext cx="2685897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Xavfsiz autentifikatsiya va shifrlangan maxfiy chatlar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92017" y="4406602"/>
            <a:ext cx="3407866" cy="1160661"/>
          </a:xfrm>
          <a:prstGeom prst="roundRect">
            <a:avLst>
              <a:gd name="adj" fmla="val 10395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01567" y="4590752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982567" y="4590752"/>
            <a:ext cx="2685999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Server, klient, lotin↔kirill va tashkilot rejimini ishlab chiqish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964984" y="4406602"/>
            <a:ext cx="3407866" cy="1160661"/>
          </a:xfrm>
          <a:prstGeom prst="roundRect">
            <a:avLst>
              <a:gd name="adj" fmla="val 10395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74534" y="4590752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555534" y="4590752"/>
            <a:ext cx="2685999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Bulutga joylashtirish va sinash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804400" y="6202759"/>
            <a:ext cx="15748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F6B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 / 16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594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21"/>
              </a:lnSpc>
              <a:buNone/>
            </a:pPr>
            <a:r>
              <a:rPr lang="en-US" sz="3110" b="1" i="0" spc="-50" kern="0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Mavjud messenjerlar bilan taqqoslash</a:t>
            </a:r>
            <a:endParaRPr lang="en-US" sz="3110" dirty="0"/>
          </a:p>
        </p:txBody>
      </p:sp>
      <p:sp>
        <p:nvSpPr>
          <p:cNvPr id="3" name="Shape 1"/>
          <p:cNvSpPr/>
          <p:nvPr/>
        </p:nvSpPr>
        <p:spPr>
          <a:xfrm>
            <a:off x="812800" y="1526282"/>
            <a:ext cx="10566400" cy="431571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11372850" y="1526282"/>
            <a:ext cx="0" cy="4315718"/>
          </a:xfrm>
          <a:prstGeom prst="line">
            <a:avLst/>
          </a:prstGeom>
          <a:noFill/>
          <a:ln w="12700">
            <a:solidFill>
              <a:srgbClr val="E4E9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" y="5835650"/>
            <a:ext cx="10566400" cy="0"/>
          </a:xfrm>
          <a:prstGeom prst="line">
            <a:avLst/>
          </a:prstGeom>
          <a:noFill/>
          <a:ln w="12700">
            <a:solidFill>
              <a:srgbClr val="E4E9F2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538982"/>
          <a:ext cx="10541000" cy="4290318"/>
        </p:xfrm>
        <a:graphic>
          <a:graphicData uri="http://schemas.openxmlformats.org/drawingml/2006/table">
            <a:tbl>
              <a:tblPr/>
              <a:tblGrid>
                <a:gridCol w="1878594"/>
                <a:gridCol w="1669861"/>
                <a:gridCol w="1669861"/>
                <a:gridCol w="1669861"/>
                <a:gridCol w="1669861"/>
                <a:gridCol w="1982960"/>
              </a:tblGrid>
              <a:tr h="539055">
                <a:tc>
                  <a:txBody>
                    <a:bodyPr/>
                    <a:lstStyle/>
                    <a:p>
                      <a:pPr indent="0" marL="0">
                        <a:lnSpc>
                          <a:spcPts val="2328"/>
                        </a:lnSpc>
                        <a:buNone/>
                      </a:pPr>
                      <a:endParaRPr lang="en-US" sz="1663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663" b="1" dirty="0">
                          <a:solidFill>
                            <a:srgbClr val="1016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Telegram</a:t>
                      </a:r>
                      <a:endParaRPr lang="en-US" sz="1663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663" b="1" dirty="0">
                          <a:solidFill>
                            <a:srgbClr val="1016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WhatsApp</a:t>
                      </a:r>
                      <a:endParaRPr lang="en-US" sz="1663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663" b="1" dirty="0">
                          <a:solidFill>
                            <a:srgbClr val="1016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Signal</a:t>
                      </a:r>
                      <a:endParaRPr lang="en-US" sz="1663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663" b="1" dirty="0">
                          <a:solidFill>
                            <a:srgbClr val="1016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WeChat</a:t>
                      </a:r>
                      <a:endParaRPr lang="en-US" sz="1663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663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Milliy chat</a:t>
                      </a:r>
                      <a:endParaRPr lang="en-US" sz="1663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802977">
                <a:tc>
                  <a:txBody>
                    <a:bodyPr/>
                    <a:lstStyle/>
                    <a:p>
                      <a:pPr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663" dirty="0">
                          <a:solidFill>
                            <a:srgbClr val="3D4868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Egasi</a:t>
                      </a:r>
                      <a:endParaRPr lang="en-US" sz="1663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663" dirty="0">
                          <a:solidFill>
                            <a:srgbClr val="1016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BAA</a:t>
                      </a:r>
                      <a:endParaRPr lang="en-US" sz="1663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663" dirty="0">
                          <a:solidFill>
                            <a:srgbClr val="1016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Meta (AQSh)</a:t>
                      </a:r>
                      <a:endParaRPr lang="en-US" sz="1663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663" dirty="0">
                          <a:solidFill>
                            <a:srgbClr val="1016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AQSh</a:t>
                      </a:r>
                      <a:endParaRPr lang="en-US" sz="1663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663" dirty="0">
                          <a:solidFill>
                            <a:srgbClr val="1016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Tencent (Xitoy)</a:t>
                      </a:r>
                      <a:endParaRPr lang="en-US" sz="1663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663" dirty="0">
                          <a:solidFill>
                            <a:srgbClr val="1D4ED8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Mahalliy</a:t>
                      </a:r>
                      <a:endParaRPr lang="en-US" sz="1663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2977">
                <a:tc>
                  <a:txBody>
                    <a:bodyPr/>
                    <a:lstStyle/>
                    <a:p>
                      <a:pPr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663" dirty="0">
                          <a:solidFill>
                            <a:srgbClr val="3D4868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E2E shifrlash</a:t>
                      </a:r>
                      <a:endParaRPr lang="en-US" sz="1663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663" dirty="0">
                          <a:solidFill>
                            <a:srgbClr val="1016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Faqat maxfiy chatlarda</a:t>
                      </a:r>
                      <a:endParaRPr lang="en-US" sz="1663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663" dirty="0">
                          <a:solidFill>
                            <a:srgbClr val="1016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Sukut bo‘yicha</a:t>
                      </a:r>
                      <a:endParaRPr lang="en-US" sz="1663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663" dirty="0">
                          <a:solidFill>
                            <a:srgbClr val="1016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Sukut bo‘yicha</a:t>
                      </a:r>
                      <a:endParaRPr lang="en-US" sz="1663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663" dirty="0">
                          <a:solidFill>
                            <a:srgbClr val="1016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Yo‘q</a:t>
                      </a:r>
                      <a:endParaRPr lang="en-US" sz="1663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663" dirty="0">
                          <a:solidFill>
                            <a:srgbClr val="1D4ED8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Maxfiy chatlarda</a:t>
                      </a:r>
                      <a:endParaRPr lang="en-US" sz="1663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3077">
                <a:tc>
                  <a:txBody>
                    <a:bodyPr/>
                    <a:lstStyle/>
                    <a:p>
                      <a:pPr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663" dirty="0">
                          <a:solidFill>
                            <a:srgbClr val="3D4868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Ma’lumotlar joyi</a:t>
                      </a:r>
                      <a:endParaRPr lang="en-US" sz="1663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663" dirty="0">
                          <a:solidFill>
                            <a:srgbClr val="1016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Xorijda</a:t>
                      </a:r>
                      <a:endParaRPr lang="en-US" sz="1663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663" dirty="0">
                          <a:solidFill>
                            <a:srgbClr val="1016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Xorijda</a:t>
                      </a:r>
                      <a:endParaRPr lang="en-US" sz="1663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663" dirty="0">
                          <a:solidFill>
                            <a:srgbClr val="1016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Xorijda</a:t>
                      </a:r>
                      <a:endParaRPr lang="en-US" sz="1663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663" dirty="0">
                          <a:solidFill>
                            <a:srgbClr val="1016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Xitoyda</a:t>
                      </a:r>
                      <a:endParaRPr lang="en-US" sz="1663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663" dirty="0">
                          <a:solidFill>
                            <a:srgbClr val="1D4ED8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O‘zbekistonda ham mumkin</a:t>
                      </a:r>
                      <a:endParaRPr lang="en-US" sz="1663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9155">
                <a:tc>
                  <a:txBody>
                    <a:bodyPr/>
                    <a:lstStyle/>
                    <a:p>
                      <a:pPr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663" dirty="0">
                          <a:solidFill>
                            <a:srgbClr val="3D4868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Lotin ↔ kirill</a:t>
                      </a:r>
                      <a:endParaRPr lang="en-US" sz="1663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663" dirty="0">
                          <a:solidFill>
                            <a:srgbClr val="5F6B8A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Yo‘q</a:t>
                      </a:r>
                      <a:endParaRPr lang="en-US" sz="1663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663" dirty="0">
                          <a:solidFill>
                            <a:srgbClr val="5F6B8A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Yo‘q</a:t>
                      </a:r>
                      <a:endParaRPr lang="en-US" sz="1663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663" dirty="0">
                          <a:solidFill>
                            <a:srgbClr val="5F6B8A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Yo‘q</a:t>
                      </a:r>
                      <a:endParaRPr lang="en-US" sz="1663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663" dirty="0">
                          <a:solidFill>
                            <a:srgbClr val="5F6B8A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Yo‘q</a:t>
                      </a:r>
                      <a:endParaRPr lang="en-US" sz="1663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663" dirty="0">
                          <a:solidFill>
                            <a:srgbClr val="1D4ED8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Bor (qidiruv ham)</a:t>
                      </a:r>
                      <a:endParaRPr lang="en-US" sz="1663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3077">
                <a:tc>
                  <a:txBody>
                    <a:bodyPr/>
                    <a:lstStyle/>
                    <a:p>
                      <a:pPr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663" dirty="0">
                          <a:solidFill>
                            <a:srgbClr val="3D4868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Tashkilot tasdig‘i</a:t>
                      </a:r>
                      <a:endParaRPr lang="en-US" sz="1663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663" dirty="0">
                          <a:solidFill>
                            <a:srgbClr val="5F6B8A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Yo‘q</a:t>
                      </a:r>
                      <a:endParaRPr lang="en-US" sz="1663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663" dirty="0">
                          <a:solidFill>
                            <a:srgbClr val="5F6B8A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Yo‘q</a:t>
                      </a:r>
                      <a:endParaRPr lang="en-US" sz="1663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663" dirty="0">
                          <a:solidFill>
                            <a:srgbClr val="5F6B8A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Yo‘q</a:t>
                      </a:r>
                      <a:endParaRPr lang="en-US" sz="1663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663" dirty="0">
                          <a:solidFill>
                            <a:srgbClr val="5F6B8A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Yo‘q</a:t>
                      </a:r>
                      <a:endParaRPr lang="en-US" sz="1663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663" dirty="0">
                          <a:solidFill>
                            <a:srgbClr val="1D4ED8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E-pochta domeni</a:t>
                      </a:r>
                      <a:endParaRPr lang="en-US" sz="1663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804400" y="6202759"/>
            <a:ext cx="15748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F6B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 / 16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b="1" i="0" spc="-50" kern="0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Texnologiyalar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819150" y="1533624"/>
            <a:ext cx="3373934" cy="3058120"/>
          </a:xfrm>
          <a:prstGeom prst="roundRect">
            <a:avLst>
              <a:gd name="adj" fmla="val 3945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4900" y="1768574"/>
            <a:ext cx="2886507" cy="317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18"/>
              </a:lnSpc>
              <a:buNone/>
            </a:pPr>
            <a:r>
              <a:rPr lang="en-US" sz="1931" b="1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Server</a:t>
            </a:r>
            <a:endParaRPr lang="en-US" sz="1931" dirty="0"/>
          </a:p>
        </p:txBody>
      </p:sp>
      <p:sp>
        <p:nvSpPr>
          <p:cNvPr id="5" name="Text 3"/>
          <p:cNvSpPr/>
          <p:nvPr/>
        </p:nvSpPr>
        <p:spPr>
          <a:xfrm>
            <a:off x="1104900" y="2200771"/>
            <a:ext cx="2886507" cy="3106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74"/>
              </a:lnSpc>
              <a:buNone/>
            </a:pPr>
            <a:r>
              <a:rPr lang="en-US" sz="1749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.NET 8</a:t>
            </a:r>
            <a:endParaRPr lang="en-US" sz="1749" dirty="0"/>
          </a:p>
        </p:txBody>
      </p:sp>
      <p:sp>
        <p:nvSpPr>
          <p:cNvPr id="6" name="Text 4"/>
          <p:cNvSpPr/>
          <p:nvPr/>
        </p:nvSpPr>
        <p:spPr>
          <a:xfrm>
            <a:off x="1104900" y="2574925"/>
            <a:ext cx="2886507" cy="3106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74"/>
              </a:lnSpc>
              <a:buNone/>
            </a:pPr>
            <a:r>
              <a:rPr lang="en-US" sz="1749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ASP.NET Core</a:t>
            </a:r>
            <a:endParaRPr lang="en-US" sz="1749" dirty="0"/>
          </a:p>
        </p:txBody>
      </p:sp>
      <p:sp>
        <p:nvSpPr>
          <p:cNvPr id="7" name="Text 5"/>
          <p:cNvSpPr/>
          <p:nvPr/>
        </p:nvSpPr>
        <p:spPr>
          <a:xfrm>
            <a:off x="1104900" y="2949079"/>
            <a:ext cx="2886507" cy="3106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74"/>
              </a:lnSpc>
              <a:buNone/>
            </a:pPr>
            <a:r>
              <a:rPr lang="en-US" sz="1749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SignalR</a:t>
            </a:r>
            <a:endParaRPr lang="en-US" sz="1749" dirty="0"/>
          </a:p>
        </p:txBody>
      </p:sp>
      <p:sp>
        <p:nvSpPr>
          <p:cNvPr id="8" name="Text 6"/>
          <p:cNvSpPr/>
          <p:nvPr/>
        </p:nvSpPr>
        <p:spPr>
          <a:xfrm>
            <a:off x="1104900" y="3323233"/>
            <a:ext cx="2886507" cy="3106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74"/>
              </a:lnSpc>
              <a:buNone/>
            </a:pPr>
            <a:r>
              <a:rPr lang="en-US" sz="1749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Entity Framework Core 8</a:t>
            </a:r>
            <a:endParaRPr lang="en-US" sz="1749" dirty="0"/>
          </a:p>
        </p:txBody>
      </p:sp>
      <p:sp>
        <p:nvSpPr>
          <p:cNvPr id="9" name="Text 7"/>
          <p:cNvSpPr/>
          <p:nvPr/>
        </p:nvSpPr>
        <p:spPr>
          <a:xfrm>
            <a:off x="1104900" y="3697387"/>
            <a:ext cx="2886507" cy="3106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74"/>
              </a:lnSpc>
              <a:buNone/>
            </a:pPr>
            <a:r>
              <a:rPr lang="en-US" sz="1749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PostgreSQL</a:t>
            </a:r>
            <a:endParaRPr lang="en-US" sz="1749" dirty="0"/>
          </a:p>
        </p:txBody>
      </p:sp>
      <p:sp>
        <p:nvSpPr>
          <p:cNvPr id="10" name="Text 8"/>
          <p:cNvSpPr/>
          <p:nvPr/>
        </p:nvSpPr>
        <p:spPr>
          <a:xfrm>
            <a:off x="1104900" y="4071541"/>
            <a:ext cx="2886507" cy="3106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74"/>
              </a:lnSpc>
              <a:buNone/>
            </a:pPr>
            <a:r>
              <a:rPr lang="en-US" sz="1749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Redis</a:t>
            </a:r>
            <a:endParaRPr lang="en-US" sz="1749" dirty="0"/>
          </a:p>
        </p:txBody>
      </p:sp>
      <p:sp>
        <p:nvSpPr>
          <p:cNvPr id="11" name="Shape 9"/>
          <p:cNvSpPr/>
          <p:nvPr/>
        </p:nvSpPr>
        <p:spPr>
          <a:xfrm>
            <a:off x="4408984" y="1533624"/>
            <a:ext cx="3374033" cy="3058120"/>
          </a:xfrm>
          <a:prstGeom prst="roundRect">
            <a:avLst>
              <a:gd name="adj" fmla="val 3945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4734" y="1768574"/>
            <a:ext cx="288660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Klient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94734" y="2213074"/>
            <a:ext cx="2886609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Angular 22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94734" y="2599134"/>
            <a:ext cx="2886609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TypeScript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94734" y="2985195"/>
            <a:ext cx="2886609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RxJS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94734" y="3371255"/>
            <a:ext cx="2886609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Web Crypto API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998916" y="1533624"/>
            <a:ext cx="3373934" cy="3058120"/>
          </a:xfrm>
          <a:prstGeom prst="roundRect">
            <a:avLst>
              <a:gd name="adj" fmla="val 3945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84666" y="1768574"/>
            <a:ext cx="288650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Infratuzilma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284666" y="2213074"/>
            <a:ext cx="2886507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Docker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84666" y="2599134"/>
            <a:ext cx="2886507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Render bulut platformasi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84666" y="2985195"/>
            <a:ext cx="2886507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ClamAV antivirus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19150" y="4883845"/>
            <a:ext cx="10553700" cy="951805"/>
          </a:xfrm>
          <a:prstGeom prst="roundRect">
            <a:avLst>
              <a:gd name="adj" fmla="val 12676"/>
            </a:avLst>
          </a:prstGeom>
          <a:solidFill>
            <a:srgbClr val="FFF3E4"/>
          </a:solidFill>
          <a:ln w="12700">
            <a:solidFill>
              <a:srgbClr val="FBD7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04900" y="5199757"/>
            <a:ext cx="183134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B4530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Nega SignalR?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111500" y="5060057"/>
            <a:ext cx="8255000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WebSocket → SSE → long polling: transport avtomatik tanlanadi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111500" y="5395317"/>
            <a:ext cx="7220405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3D48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Guruhlar va qayta ulanish tayyor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804400" y="6202759"/>
            <a:ext cx="15748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F6B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 / 16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Tizim arxitekturasi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13780"/>
            <a:ext cx="680212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D48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Clean Architecture · bog‘liqlik ichkariga →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19150" y="1906191"/>
            <a:ext cx="6591300" cy="3929459"/>
          </a:xfrm>
          <a:prstGeom prst="roundRect">
            <a:avLst>
              <a:gd name="adj" fmla="val 3717"/>
            </a:avLst>
          </a:prstGeom>
          <a:solidFill>
            <a:srgbClr val="FFFFFF"/>
          </a:solidFill>
          <a:ln w="12700">
            <a:solidFill>
              <a:srgbClr val="CBD5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3300" y="2064941"/>
            <a:ext cx="640969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API</a:t>
            </a:r>
            <a:r>
              <a:rPr lang="en-US" sz="1500" dirty="0">
                <a:solidFill>
                  <a:srgbClr val="3D48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controllerlar, ChatHub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09650" y="2388791"/>
            <a:ext cx="6210300" cy="3256359"/>
          </a:xfrm>
          <a:prstGeom prst="roundRect">
            <a:avLst>
              <a:gd name="adj" fmla="val 3705"/>
            </a:avLst>
          </a:prstGeom>
          <a:solidFill>
            <a:srgbClr val="F1F4FA"/>
          </a:solidFill>
          <a:ln w="12700">
            <a:solidFill>
              <a:srgbClr val="CBD5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93800" y="2534841"/>
            <a:ext cx="60172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Infrastructure</a:t>
            </a:r>
            <a:r>
              <a:rPr lang="en-US" sz="1500" dirty="0">
                <a:solidFill>
                  <a:srgbClr val="3D48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EF Core, JWT, SMTP, ClamAV, Redis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200150" y="2858691"/>
            <a:ext cx="5829300" cy="2595959"/>
          </a:xfrm>
          <a:prstGeom prst="roundRect">
            <a:avLst>
              <a:gd name="adj" fmla="val 3669"/>
            </a:avLst>
          </a:prstGeom>
          <a:solidFill>
            <a:srgbClr val="EAF0FF"/>
          </a:solidFill>
          <a:ln w="12700">
            <a:solidFill>
              <a:srgbClr val="C7D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84300" y="3004741"/>
            <a:ext cx="562483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Application</a:t>
            </a:r>
            <a:r>
              <a:rPr lang="en-US" sz="1500" dirty="0">
                <a:solidFill>
                  <a:srgbClr val="3D48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servislar, DTO, validatsiya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384300" y="3322241"/>
            <a:ext cx="5461000" cy="1948259"/>
          </a:xfrm>
          <a:prstGeom prst="roundRect">
            <a:avLst>
              <a:gd name="adj" fmla="val 3911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1562100" y="3995341"/>
            <a:ext cx="525856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Domain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62100" y="4330601"/>
            <a:ext cx="525856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User, Chat, Message, Group, Story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823200" y="1513780"/>
            <a:ext cx="366268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D48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Joylashtirish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829550" y="1906191"/>
            <a:ext cx="3543300" cy="868561"/>
          </a:xfrm>
          <a:prstGeom prst="roundRect">
            <a:avLst>
              <a:gd name="adj" fmla="val 10966"/>
            </a:avLst>
          </a:prstGeom>
          <a:solidFill>
            <a:srgbClr val="FFFFFF"/>
          </a:solidFill>
          <a:ln w="12700">
            <a:solidFill>
              <a:srgbClr val="CBD5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13700" y="2064941"/>
            <a:ext cx="327025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Brauzer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013700" y="2367161"/>
            <a:ext cx="327025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F6B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Angular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01000" y="3052366"/>
            <a:ext cx="177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DB761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↕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229600" y="3105745"/>
            <a:ext cx="206347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4530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HTTPS / WebSocket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829550" y="3685480"/>
            <a:ext cx="3543300" cy="619720"/>
          </a:xfrm>
          <a:prstGeom prst="roundRect">
            <a:avLst>
              <a:gd name="adj" fmla="val 15370"/>
            </a:avLst>
          </a:prstGeom>
          <a:solidFill>
            <a:srgbClr val="FFFFFF"/>
          </a:solidFill>
          <a:ln w="12700">
            <a:solidFill>
              <a:srgbClr val="CBD5E6"/>
            </a:solidFill>
            <a:prstDash val="solid"/>
          </a:ln>
        </p:spPr>
        <p:txBody>
          <a:bodyPr wrap="square" lIns="156252" tIns="130852" rIns="61002" bIns="105452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ASP.NET Core server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001000" y="4582815"/>
            <a:ext cx="177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DB761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↕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829550" y="5215930"/>
            <a:ext cx="3543300" cy="619720"/>
          </a:xfrm>
          <a:prstGeom prst="roundRect">
            <a:avLst>
              <a:gd name="adj" fmla="val 15370"/>
            </a:avLst>
          </a:prstGeom>
          <a:solidFill>
            <a:srgbClr val="FFFFFF"/>
          </a:solidFill>
          <a:ln w="12700">
            <a:solidFill>
              <a:srgbClr val="CBD5E6"/>
            </a:solidFill>
            <a:prstDash val="solid"/>
          </a:ln>
        </p:spPr>
        <p:txBody>
          <a:bodyPr wrap="square" lIns="156252" tIns="130852" rIns="61002" bIns="105452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PostgreSQL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804400" y="6202759"/>
            <a:ext cx="15748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F6B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 / 16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Ma’lumotlar bazasi va API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9150" y="1570930"/>
            <a:ext cx="5168900" cy="2979539"/>
          </a:xfrm>
          <a:prstGeom prst="roundRect">
            <a:avLst>
              <a:gd name="adj" fmla="val 4049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55700" y="1856680"/>
            <a:ext cx="4630674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5F6B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5700" y="2318941"/>
            <a:ext cx="1491972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00"/>
              </a:lnSpc>
              <a:buNone/>
            </a:pPr>
            <a:r>
              <a:rPr lang="en-US" sz="8400" b="1" spc="-200" kern="0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36</a:t>
            </a:r>
            <a:endParaRPr lang="en-US" sz="8400" dirty="0"/>
          </a:p>
        </p:txBody>
      </p:sp>
      <p:sp>
        <p:nvSpPr>
          <p:cNvPr id="6" name="Text 4"/>
          <p:cNvSpPr/>
          <p:nvPr/>
        </p:nvSpPr>
        <p:spPr>
          <a:xfrm>
            <a:off x="1155700" y="3411141"/>
            <a:ext cx="129411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jadval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805410" y="2318941"/>
            <a:ext cx="1383149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00"/>
              </a:lnSpc>
              <a:buNone/>
            </a:pPr>
            <a:r>
              <a:rPr lang="en-US" sz="8400" b="1" spc="-200" kern="0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</a:t>
            </a:r>
            <a:endParaRPr lang="en-US" sz="8400" dirty="0"/>
          </a:p>
        </p:txBody>
      </p:sp>
      <p:sp>
        <p:nvSpPr>
          <p:cNvPr id="8" name="Text 6"/>
          <p:cNvSpPr/>
          <p:nvPr/>
        </p:nvSpPr>
        <p:spPr>
          <a:xfrm>
            <a:off x="2805410" y="3411141"/>
            <a:ext cx="120342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sxema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203950" y="1570930"/>
            <a:ext cx="5168900" cy="2979539"/>
          </a:xfrm>
          <a:prstGeom prst="roundRect">
            <a:avLst>
              <a:gd name="adj" fmla="val 4049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40500" y="1856680"/>
            <a:ext cx="4630674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5F6B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ASP.NET Core API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40500" y="2318941"/>
            <a:ext cx="1848815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00"/>
              </a:lnSpc>
              <a:buNone/>
            </a:pPr>
            <a:r>
              <a:rPr lang="en-US" sz="8400" b="1" spc="-200" kern="0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73</a:t>
            </a:r>
            <a:endParaRPr lang="en-US" sz="8400" dirty="0"/>
          </a:p>
        </p:txBody>
      </p:sp>
      <p:sp>
        <p:nvSpPr>
          <p:cNvPr id="12" name="Text 10"/>
          <p:cNvSpPr/>
          <p:nvPr/>
        </p:nvSpPr>
        <p:spPr>
          <a:xfrm>
            <a:off x="6540500" y="3411141"/>
            <a:ext cx="21539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REST endpoint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741866" y="2318941"/>
            <a:ext cx="12715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00"/>
              </a:lnSpc>
              <a:buNone/>
            </a:pPr>
            <a:r>
              <a:rPr lang="en-US" sz="8400" b="1" spc="-200" kern="0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11</a:t>
            </a:r>
            <a:endParaRPr lang="en-US" sz="8400" dirty="0"/>
          </a:p>
        </p:txBody>
      </p:sp>
      <p:sp>
        <p:nvSpPr>
          <p:cNvPr id="14" name="Text 12"/>
          <p:cNvSpPr/>
          <p:nvPr/>
        </p:nvSpPr>
        <p:spPr>
          <a:xfrm>
            <a:off x="8741866" y="3411141"/>
            <a:ext cx="14649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controller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12800" y="4861620"/>
            <a:ext cx="5181600" cy="980380"/>
          </a:xfrm>
          <a:prstGeom prst="roundRect">
            <a:avLst>
              <a:gd name="adj" fmla="val 12954"/>
            </a:avLst>
          </a:prstGeom>
          <a:solidFill>
            <a:srgbClr val="F1F4FA"/>
          </a:solidFill>
          <a:ln/>
        </p:spPr>
      </p:sp>
      <p:sp>
        <p:nvSpPr>
          <p:cNvPr id="16" name="Text 14"/>
          <p:cNvSpPr/>
          <p:nvPr/>
        </p:nvSpPr>
        <p:spPr>
          <a:xfrm>
            <a:off x="1066800" y="5039420"/>
            <a:ext cx="4813808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Kursorli sahifalash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066800" y="5379740"/>
            <a:ext cx="481380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D48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beforeId + limit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97600" y="4861620"/>
            <a:ext cx="5181600" cy="980380"/>
          </a:xfrm>
          <a:prstGeom prst="roundRect">
            <a:avLst>
              <a:gd name="adj" fmla="val 12954"/>
            </a:avLst>
          </a:prstGeom>
          <a:solidFill>
            <a:srgbClr val="F1F4FA"/>
          </a:solidFill>
          <a:ln/>
        </p:spPr>
      </p:sp>
      <p:sp>
        <p:nvSpPr>
          <p:cNvPr id="19" name="Text 17"/>
          <p:cNvSpPr/>
          <p:nvPr/>
        </p:nvSpPr>
        <p:spPr>
          <a:xfrm>
            <a:off x="6451600" y="5039420"/>
            <a:ext cx="4813808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Kelajakka tayyor sxema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51600" y="5379740"/>
            <a:ext cx="481380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D48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bir qismi kanallar va botlar uchun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804400" y="6202759"/>
            <a:ext cx="15748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F6B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 / 16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Xavfsizlik va autentifikatsiya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9150" y="1570930"/>
            <a:ext cx="2317254" cy="3190379"/>
          </a:xfrm>
          <a:prstGeom prst="roundRect">
            <a:avLst>
              <a:gd name="adj" fmla="val 5207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700" y="1805880"/>
            <a:ext cx="195509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F6B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 · Kirish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28700" y="2156321"/>
            <a:ext cx="1955099" cy="77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800" b="1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 xonali kod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28700" y="3004641"/>
            <a:ext cx="1955099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3D48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e-pochtaga yoki Google hisobi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18954" y="2952750"/>
            <a:ext cx="31563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2563E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564533" y="1570930"/>
            <a:ext cx="2317353" cy="3190379"/>
          </a:xfrm>
          <a:prstGeom prst="roundRect">
            <a:avLst>
              <a:gd name="adj" fmla="val 520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74083" y="1805880"/>
            <a:ext cx="1955201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F6B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 · JWT access token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774083" y="2156321"/>
            <a:ext cx="1955201" cy="39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800" b="1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15 daqiqa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774083" y="2631281"/>
            <a:ext cx="195520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3D48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qisqa muddatli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64436" y="2952750"/>
            <a:ext cx="31563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2563E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310015" y="1570930"/>
            <a:ext cx="2317353" cy="3190379"/>
          </a:xfrm>
          <a:prstGeom prst="roundRect">
            <a:avLst>
              <a:gd name="adj" fmla="val 520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9565" y="1805880"/>
            <a:ext cx="1955201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F6B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 · Refresh token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19565" y="2156321"/>
            <a:ext cx="1955201" cy="39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800" b="1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30 kun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519565" y="2631281"/>
            <a:ext cx="1955201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3D48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HttpOnly cookie, har safar almashadi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709918" y="2952750"/>
            <a:ext cx="31563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2563E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055497" y="1570930"/>
            <a:ext cx="2317353" cy="3190379"/>
          </a:xfrm>
          <a:prstGeom prst="roundRect">
            <a:avLst>
              <a:gd name="adj" fmla="val 520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65047" y="1805880"/>
            <a:ext cx="1955201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F6B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 · Sessiyalar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265047" y="2156321"/>
            <a:ext cx="2101453" cy="39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800" b="1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Qurilmalar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9265047" y="2631281"/>
            <a:ext cx="2101453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3D48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bo‘yicha boshqariladi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19150" y="5078809"/>
            <a:ext cx="10553700" cy="756841"/>
          </a:xfrm>
          <a:prstGeom prst="roundRect">
            <a:avLst>
              <a:gd name="adj" fmla="val 15941"/>
            </a:avLst>
          </a:prstGeom>
          <a:solidFill>
            <a:srgbClr val="FFF3E4"/>
          </a:solidFill>
          <a:ln w="12700">
            <a:solidFill>
              <a:srgbClr val="FBD7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04900" y="5288359"/>
            <a:ext cx="3427222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Parol umuman yo‘q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4432300" y="5288359"/>
            <a:ext cx="3427222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Bazada faqat xeshlar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7759700" y="5288359"/>
            <a:ext cx="3427222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Fayllar antivirusdan o‘tadi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9804400" y="6202759"/>
            <a:ext cx="15748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F6B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 / 16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Real vaqtda xabar yuborish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645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47800" y="1564580"/>
            <a:ext cx="405511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47800" y="1958280"/>
            <a:ext cx="4055110" cy="3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3D48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xabar tekshirilib, bazaga yoziladi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12800" y="336619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47800" y="3366195"/>
            <a:ext cx="405511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ChatHub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47800" y="3759895"/>
            <a:ext cx="4055110" cy="3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3D48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chat a’zolariga darhol yuboriladi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12800" y="516770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47800" y="5167709"/>
            <a:ext cx="405511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Holat belgilari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47800" y="5561409"/>
            <a:ext cx="4055110" cy="3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3D48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O‘qildi </a:t>
            </a:r>
            <a:r>
              <a:rPr lang="en-US" sz="1700" b="1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✓✓</a:t>
            </a:r>
            <a:r>
              <a:rPr lang="en-US" sz="1700" dirty="0">
                <a:solidFill>
                  <a:srgbClr val="3D48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va “yozmoqda…”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797550" y="1570930"/>
            <a:ext cx="5575300" cy="4264720"/>
          </a:xfrm>
          <a:prstGeom prst="roundRect">
            <a:avLst>
              <a:gd name="adj" fmla="val 2829"/>
            </a:avLst>
          </a:prstGeom>
          <a:solidFill>
            <a:srgbClr val="FFFFFF"/>
          </a:solidFill>
          <a:ln w="12700">
            <a:solidFill>
              <a:srgbClr val="CBD5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03900" y="1577280"/>
            <a:ext cx="5562600" cy="355600"/>
          </a:xfrm>
          <a:custGeom>
            <a:avLst/>
            <a:gdLst/>
            <a:ahLst/>
            <a:cxnLst/>
            <a:rect l="l" t="t" r="r" b="b"/>
            <a:pathLst>
              <a:path w="5562600" h="355600">
                <a:moveTo>
                  <a:pt x="114300" y="0"/>
                </a:moveTo>
                <a:lnTo>
                  <a:pt x="5448300" y="0"/>
                </a:lnTo>
                <a:arcTo hR="114300" wR="114300" stAng="16200000" swAng="5400000"/>
                <a:lnTo>
                  <a:pt x="5562600" y="355600"/>
                </a:lnTo>
                <a:lnTo>
                  <a:pt x="0" y="355600"/>
                </a:lnTo>
                <a:lnTo>
                  <a:pt x="0" y="114300"/>
                </a:lnTo>
                <a:arcTo hR="114300" wR="114300" stAng="10800000" swAng="5400000"/>
                <a:close/>
              </a:path>
            </a:pathLst>
          </a:custGeom>
          <a:solidFill>
            <a:srgbClr val="F1F4FA"/>
          </a:solidFill>
          <a:ln/>
        </p:spPr>
      </p:sp>
      <p:sp>
        <p:nvSpPr>
          <p:cNvPr id="14" name="Shape 12"/>
          <p:cNvSpPr/>
          <p:nvPr/>
        </p:nvSpPr>
        <p:spPr>
          <a:xfrm>
            <a:off x="5803900" y="1577280"/>
            <a:ext cx="5562600" cy="355600"/>
          </a:xfrm>
          <a:custGeom>
            <a:avLst/>
            <a:gdLst/>
            <a:ahLst/>
            <a:cxnLst/>
            <a:rect l="l" t="t" r="r" b="b"/>
            <a:pathLst>
              <a:path w="5562600" h="355600">
                <a:moveTo>
                  <a:pt x="5562600" y="342900"/>
                </a:moveTo>
                <a:lnTo>
                  <a:pt x="5562600" y="355600"/>
                </a:lnTo>
                <a:lnTo>
                  <a:pt x="0" y="355600"/>
                </a:lnTo>
                <a:lnTo>
                  <a:pt x="0" y="342900"/>
                </a:lnTo>
                <a:lnTo>
                  <a:pt x="5562600" y="342900"/>
                </a:lnTo>
                <a:close/>
              </a:path>
            </a:pathLst>
          </a:custGeom>
          <a:solidFill>
            <a:srgbClr val="E4E9F2"/>
          </a:solidFill>
          <a:ln/>
        </p:spPr>
      </p:sp>
      <p:sp>
        <p:nvSpPr>
          <p:cNvPr id="15" name="Shape 13"/>
          <p:cNvSpPr/>
          <p:nvPr/>
        </p:nvSpPr>
        <p:spPr>
          <a:xfrm>
            <a:off x="5956300" y="169793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CBD5E6"/>
          </a:solidFill>
          <a:ln/>
        </p:spPr>
      </p:sp>
      <p:sp>
        <p:nvSpPr>
          <p:cNvPr id="16" name="Shape 14"/>
          <p:cNvSpPr/>
          <p:nvPr/>
        </p:nvSpPr>
        <p:spPr>
          <a:xfrm>
            <a:off x="6134100" y="169793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CBD5E6"/>
          </a:solidFill>
          <a:ln/>
        </p:spPr>
      </p:sp>
      <p:sp>
        <p:nvSpPr>
          <p:cNvPr id="17" name="Shape 15"/>
          <p:cNvSpPr/>
          <p:nvPr/>
        </p:nvSpPr>
        <p:spPr>
          <a:xfrm>
            <a:off x="6311900" y="169793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CBD5E6"/>
          </a:solidFill>
          <a:ln/>
        </p:spPr>
      </p:sp>
      <p:sp>
        <p:nvSpPr>
          <p:cNvPr id="18" name="Shape 16"/>
          <p:cNvSpPr/>
          <p:nvPr/>
        </p:nvSpPr>
        <p:spPr>
          <a:xfrm>
            <a:off x="6492875" y="1663005"/>
            <a:ext cx="47180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65825" y="2094805"/>
            <a:ext cx="5238750" cy="3572570"/>
          </a:xfrm>
          <a:prstGeom prst="roundRect">
            <a:avLst>
              <a:gd name="adj" fmla="val 1866"/>
            </a:avLst>
          </a:prstGeom>
          <a:solidFill>
            <a:srgbClr val="F5F7FB"/>
          </a:solidFill>
          <a:ln w="19050">
            <a:solidFill>
              <a:srgbClr val="CBD5E6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7201456" y="3600450"/>
            <a:ext cx="2767489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D48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Skrinshot: shaxsiy chat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563773" y="3948410"/>
            <a:ext cx="204275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rasm shu yerga qo‘yiladi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804400" y="6202759"/>
            <a:ext cx="15748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F6B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 / 16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530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O‘ziga xos imkoniyat 1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7346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Lotin ↔ Kirill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2655491"/>
            <a:ext cx="4572000" cy="0"/>
          </a:xfrm>
          <a:prstGeom prst="line">
            <a:avLst/>
          </a:prstGeom>
          <a:noFill/>
          <a:ln w="12700">
            <a:solidFill>
              <a:srgbClr val="E4E9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1925241"/>
            <a:ext cx="470916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Har kim o‘z yozuvida ko‘radi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" y="2249091"/>
            <a:ext cx="470916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3D48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xabar bazada asl holida qoladi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12800" y="3284141"/>
            <a:ext cx="4572000" cy="0"/>
          </a:xfrm>
          <a:prstGeom prst="line">
            <a:avLst/>
          </a:prstGeom>
          <a:noFill/>
          <a:ln w="12700">
            <a:solidFill>
              <a:srgbClr val="E4E9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2839641"/>
            <a:ext cx="470916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Qidiruv yozuvga bog‘liq emas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12800" y="3468291"/>
            <a:ext cx="804267" cy="185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7200" b="1" spc="-200" kern="0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80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1769467" y="4135041"/>
            <a:ext cx="3723793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3D48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juftlikli bitta test to‘plami: server (C#) va klient (TypeScript)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797550" y="1931591"/>
            <a:ext cx="5575300" cy="3904059"/>
          </a:xfrm>
          <a:prstGeom prst="roundRect">
            <a:avLst>
              <a:gd name="adj" fmla="val 3090"/>
            </a:avLst>
          </a:prstGeom>
          <a:solidFill>
            <a:srgbClr val="FFFFFF"/>
          </a:solidFill>
          <a:ln w="12700">
            <a:solidFill>
              <a:srgbClr val="CBD5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03900" y="1937941"/>
            <a:ext cx="5562600" cy="355600"/>
          </a:xfrm>
          <a:custGeom>
            <a:avLst/>
            <a:gdLst/>
            <a:ahLst/>
            <a:cxnLst/>
            <a:rect l="l" t="t" r="r" b="b"/>
            <a:pathLst>
              <a:path w="5562600" h="355600">
                <a:moveTo>
                  <a:pt x="114300" y="0"/>
                </a:moveTo>
                <a:lnTo>
                  <a:pt x="5448300" y="0"/>
                </a:lnTo>
                <a:arcTo hR="114300" wR="114300" stAng="16200000" swAng="5400000"/>
                <a:lnTo>
                  <a:pt x="5562600" y="355600"/>
                </a:lnTo>
                <a:lnTo>
                  <a:pt x="0" y="355600"/>
                </a:lnTo>
                <a:lnTo>
                  <a:pt x="0" y="114300"/>
                </a:lnTo>
                <a:arcTo hR="114300" wR="114300" stAng="10800000" swAng="5400000"/>
                <a:close/>
              </a:path>
            </a:pathLst>
          </a:custGeom>
          <a:solidFill>
            <a:srgbClr val="F1F4FA"/>
          </a:solidFill>
          <a:ln/>
        </p:spPr>
      </p:sp>
      <p:sp>
        <p:nvSpPr>
          <p:cNvPr id="13" name="Shape 11"/>
          <p:cNvSpPr/>
          <p:nvPr/>
        </p:nvSpPr>
        <p:spPr>
          <a:xfrm>
            <a:off x="5803900" y="1937941"/>
            <a:ext cx="5562600" cy="355600"/>
          </a:xfrm>
          <a:custGeom>
            <a:avLst/>
            <a:gdLst/>
            <a:ahLst/>
            <a:cxnLst/>
            <a:rect l="l" t="t" r="r" b="b"/>
            <a:pathLst>
              <a:path w="5562600" h="355600">
                <a:moveTo>
                  <a:pt x="5562600" y="342900"/>
                </a:moveTo>
                <a:lnTo>
                  <a:pt x="5562600" y="355600"/>
                </a:lnTo>
                <a:lnTo>
                  <a:pt x="0" y="355600"/>
                </a:lnTo>
                <a:lnTo>
                  <a:pt x="0" y="342900"/>
                </a:lnTo>
                <a:lnTo>
                  <a:pt x="5562600" y="342900"/>
                </a:lnTo>
                <a:close/>
              </a:path>
            </a:pathLst>
          </a:custGeom>
          <a:solidFill>
            <a:srgbClr val="E4E9F2"/>
          </a:solidFill>
          <a:ln/>
        </p:spPr>
      </p:sp>
      <p:sp>
        <p:nvSpPr>
          <p:cNvPr id="14" name="Shape 12"/>
          <p:cNvSpPr/>
          <p:nvPr/>
        </p:nvSpPr>
        <p:spPr>
          <a:xfrm>
            <a:off x="5956300" y="2058591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CBD5E6"/>
          </a:solidFill>
          <a:ln/>
        </p:spPr>
      </p:sp>
      <p:sp>
        <p:nvSpPr>
          <p:cNvPr id="15" name="Shape 13"/>
          <p:cNvSpPr/>
          <p:nvPr/>
        </p:nvSpPr>
        <p:spPr>
          <a:xfrm>
            <a:off x="6134100" y="2058591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CBD5E6"/>
          </a:solidFill>
          <a:ln/>
        </p:spPr>
      </p:sp>
      <p:sp>
        <p:nvSpPr>
          <p:cNvPr id="16" name="Shape 14"/>
          <p:cNvSpPr/>
          <p:nvPr/>
        </p:nvSpPr>
        <p:spPr>
          <a:xfrm>
            <a:off x="6311900" y="2058591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CBD5E6"/>
          </a:solidFill>
          <a:ln/>
        </p:spPr>
      </p:sp>
      <p:sp>
        <p:nvSpPr>
          <p:cNvPr id="17" name="Shape 15"/>
          <p:cNvSpPr/>
          <p:nvPr/>
        </p:nvSpPr>
        <p:spPr>
          <a:xfrm>
            <a:off x="6492875" y="2023666"/>
            <a:ext cx="47180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65825" y="2455466"/>
            <a:ext cx="2546350" cy="3211909"/>
          </a:xfrm>
          <a:prstGeom prst="roundRect">
            <a:avLst>
              <a:gd name="adj" fmla="val 2618"/>
            </a:avLst>
          </a:prstGeom>
          <a:solidFill>
            <a:srgbClr val="F5F7FB"/>
          </a:solidFill>
          <a:ln w="19050">
            <a:solidFill>
              <a:srgbClr val="CBD5E6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6935281" y="3780730"/>
            <a:ext cx="60733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D48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Lotin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99619" y="4128691"/>
            <a:ext cx="16786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skrinshot shu yerga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658225" y="2455466"/>
            <a:ext cx="2546350" cy="3211909"/>
          </a:xfrm>
          <a:prstGeom prst="roundRect">
            <a:avLst>
              <a:gd name="adj" fmla="val 2618"/>
            </a:avLst>
          </a:prstGeom>
          <a:solidFill>
            <a:srgbClr val="F5F7FB"/>
          </a:solidFill>
          <a:ln w="19050">
            <a:solidFill>
              <a:srgbClr val="CBD5E6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9666972" y="3780730"/>
            <a:ext cx="52875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D48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Kirill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092019" y="4128691"/>
            <a:ext cx="16786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skrinshot shu yerga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804400" y="6202759"/>
            <a:ext cx="15748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F6B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 / 16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530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O‘ziga xos imkoniyat 2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7346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Tashkilot rejimi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99841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20800" y="1899841"/>
            <a:ext cx="5101590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ali@tuit.uz</a:t>
            </a:r>
            <a:r>
              <a:rPr lang="en-US" sz="16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bilan kirish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275332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0800" y="2753320"/>
            <a:ext cx="5101590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Tashkilot aniqlanadi: </a:t>
            </a:r>
            <a:r>
              <a:rPr lang="en-US" sz="1600" b="1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tuit.uz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" y="360680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0800" y="3606800"/>
            <a:ext cx="5101590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Birinchi foydalanuvchi — admin; domenning yopiq guruhi avtomatik yaratiladi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" y="463292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0800" y="4632920"/>
            <a:ext cx="5101590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Keyingilar avtomatik a’zo, ism yonida </a:t>
            </a:r>
            <a:r>
              <a:rPr lang="en-US" sz="1600" b="1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“tuit.uz ✓”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2800" y="548640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DB7612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0800" y="5486400"/>
            <a:ext cx="5101590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Boshqalar — faqat </a:t>
            </a:r>
            <a:r>
              <a:rPr lang="en-US" sz="1600" b="1" dirty="0">
                <a:solidFill>
                  <a:srgbClr val="B4530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128 bitli taklif havolasi</a:t>
            </a:r>
            <a:r>
              <a:rPr lang="en-US" sz="16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orqali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635750" y="1906191"/>
            <a:ext cx="4737100" cy="3929459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12700">
            <a:solidFill>
              <a:srgbClr val="CBD5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42100" y="1912541"/>
            <a:ext cx="4724400" cy="355600"/>
          </a:xfrm>
          <a:custGeom>
            <a:avLst/>
            <a:gdLst/>
            <a:ahLst/>
            <a:cxnLst/>
            <a:rect l="l" t="t" r="r" b="b"/>
            <a:pathLst>
              <a:path w="4724400" h="355600">
                <a:moveTo>
                  <a:pt x="114300" y="0"/>
                </a:moveTo>
                <a:lnTo>
                  <a:pt x="4610100" y="0"/>
                </a:lnTo>
                <a:arcTo hR="114300" wR="114300" stAng="16200000" swAng="5400000"/>
                <a:lnTo>
                  <a:pt x="4724400" y="355600"/>
                </a:lnTo>
                <a:lnTo>
                  <a:pt x="0" y="355600"/>
                </a:lnTo>
                <a:lnTo>
                  <a:pt x="0" y="114300"/>
                </a:lnTo>
                <a:arcTo hR="114300" wR="114300" stAng="10800000" swAng="5400000"/>
                <a:close/>
              </a:path>
            </a:pathLst>
          </a:custGeom>
          <a:solidFill>
            <a:srgbClr val="F1F4FA"/>
          </a:solidFill>
          <a:ln/>
        </p:spPr>
      </p:sp>
      <p:sp>
        <p:nvSpPr>
          <p:cNvPr id="16" name="Shape 14"/>
          <p:cNvSpPr/>
          <p:nvPr/>
        </p:nvSpPr>
        <p:spPr>
          <a:xfrm>
            <a:off x="6642100" y="1912541"/>
            <a:ext cx="4724400" cy="355600"/>
          </a:xfrm>
          <a:custGeom>
            <a:avLst/>
            <a:gdLst/>
            <a:ahLst/>
            <a:cxnLst/>
            <a:rect l="l" t="t" r="r" b="b"/>
            <a:pathLst>
              <a:path w="4724400" h="355600">
                <a:moveTo>
                  <a:pt x="4724400" y="342900"/>
                </a:moveTo>
                <a:lnTo>
                  <a:pt x="4724400" y="355600"/>
                </a:lnTo>
                <a:lnTo>
                  <a:pt x="0" y="355600"/>
                </a:lnTo>
                <a:lnTo>
                  <a:pt x="0" y="342900"/>
                </a:lnTo>
                <a:lnTo>
                  <a:pt x="4724400" y="342900"/>
                </a:lnTo>
                <a:close/>
              </a:path>
            </a:pathLst>
          </a:custGeom>
          <a:solidFill>
            <a:srgbClr val="E4E9F2"/>
          </a:solidFill>
          <a:ln/>
        </p:spPr>
      </p:sp>
      <p:sp>
        <p:nvSpPr>
          <p:cNvPr id="17" name="Shape 15"/>
          <p:cNvSpPr/>
          <p:nvPr/>
        </p:nvSpPr>
        <p:spPr>
          <a:xfrm>
            <a:off x="6794500" y="2033191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CBD5E6"/>
          </a:solidFill>
          <a:ln/>
        </p:spPr>
      </p:sp>
      <p:sp>
        <p:nvSpPr>
          <p:cNvPr id="18" name="Shape 16"/>
          <p:cNvSpPr/>
          <p:nvPr/>
        </p:nvSpPr>
        <p:spPr>
          <a:xfrm>
            <a:off x="6972300" y="2033191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CBD5E6"/>
          </a:solidFill>
          <a:ln/>
        </p:spPr>
      </p:sp>
      <p:sp>
        <p:nvSpPr>
          <p:cNvPr id="19" name="Shape 17"/>
          <p:cNvSpPr/>
          <p:nvPr/>
        </p:nvSpPr>
        <p:spPr>
          <a:xfrm>
            <a:off x="7150100" y="2033191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CBD5E6"/>
          </a:solidFill>
          <a:ln/>
        </p:spPr>
      </p:sp>
      <p:sp>
        <p:nvSpPr>
          <p:cNvPr id="20" name="Shape 18"/>
          <p:cNvSpPr/>
          <p:nvPr/>
        </p:nvSpPr>
        <p:spPr>
          <a:xfrm>
            <a:off x="7331075" y="1998266"/>
            <a:ext cx="38798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04025" y="2430066"/>
            <a:ext cx="4400550" cy="3237309"/>
          </a:xfrm>
          <a:prstGeom prst="roundRect">
            <a:avLst>
              <a:gd name="adj" fmla="val 2060"/>
            </a:avLst>
          </a:prstGeom>
          <a:solidFill>
            <a:srgbClr val="F5F7FB"/>
          </a:solidFill>
          <a:ln w="19050">
            <a:solidFill>
              <a:srgbClr val="CBD5E6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544723" y="3768030"/>
            <a:ext cx="2919055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D48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Skrinshot: domen guruhi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982873" y="4115991"/>
            <a:ext cx="204275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rasm shu yerga qo‘yiladi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804400" y="6202759"/>
            <a:ext cx="15748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F6B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11 / 16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530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O‘ziga xos imkoniyat 3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7346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Maxfiy chat (E2E)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880791"/>
            <a:ext cx="2333724" cy="906661"/>
          </a:xfrm>
          <a:prstGeom prst="roundRect">
            <a:avLst>
              <a:gd name="adj" fmla="val 10506"/>
            </a:avLst>
          </a:prstGeom>
          <a:solidFill>
            <a:srgbClr val="FFFFFF"/>
          </a:solidFill>
          <a:ln w="12700">
            <a:solidFill>
              <a:srgbClr val="C7D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3300" y="2039541"/>
            <a:ext cx="2024387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X25519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3300" y="2397621"/>
            <a:ext cx="202438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D48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kalit kelishuvi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35424" y="2138561"/>
            <a:ext cx="29190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559076" y="1880791"/>
            <a:ext cx="2333823" cy="906661"/>
          </a:xfrm>
          <a:prstGeom prst="roundRect">
            <a:avLst>
              <a:gd name="adj" fmla="val 10506"/>
            </a:avLst>
          </a:prstGeom>
          <a:solidFill>
            <a:srgbClr val="FFFFFF"/>
          </a:solidFill>
          <a:ln w="12700">
            <a:solidFill>
              <a:srgbClr val="C7D6FF"/>
            </a:solidFill>
            <a:prstDash val="solid"/>
          </a:ln>
        </p:spPr>
        <p:txBody>
          <a:bodyPr wrap="square" lIns="156252" tIns="130852" rIns="97287" bIns="130852" rtlCol="0" anchor="ctr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HKDF-SHA-256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75449" y="2138561"/>
            <a:ext cx="29190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299101" y="1880791"/>
            <a:ext cx="2333724" cy="906661"/>
          </a:xfrm>
          <a:prstGeom prst="roundRect">
            <a:avLst>
              <a:gd name="adj" fmla="val 10506"/>
            </a:avLst>
          </a:prstGeom>
          <a:solidFill>
            <a:srgbClr val="FFFFFF"/>
          </a:solidFill>
          <a:ln w="12700">
            <a:solidFill>
              <a:srgbClr val="C7D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83251" y="2039541"/>
            <a:ext cx="2024387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HMAC ratchet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83251" y="2397621"/>
            <a:ext cx="202438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D48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har xabarga yangi kalit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715375" y="2138561"/>
            <a:ext cx="29190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039027" y="1880791"/>
            <a:ext cx="2333823" cy="906661"/>
          </a:xfrm>
          <a:prstGeom prst="roundRect">
            <a:avLst>
              <a:gd name="adj" fmla="val 1050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 wrap="square" lIns="156252" tIns="130852" rIns="97287" bIns="130852" rtlCol="0" anchor="ctr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AES-256-GCM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19150" y="3054152"/>
            <a:ext cx="3543300" cy="2781498"/>
          </a:xfrm>
          <a:prstGeom prst="roundRect">
            <a:avLst>
              <a:gd name="adj" fmla="val 4338"/>
            </a:avLst>
          </a:prstGeom>
          <a:solidFill>
            <a:srgbClr val="FFF3E4"/>
          </a:solidFill>
          <a:ln w="12700">
            <a:solidFill>
              <a:srgbClr val="FBD7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9500" y="3965476"/>
            <a:ext cx="3113278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Server xabar mazmunini ko‘rmaydi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79500" y="4676676"/>
            <a:ext cx="3113278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3D48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bazada faqat shifrlangan matn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8350" y="3054152"/>
            <a:ext cx="3289300" cy="2781498"/>
          </a:xfrm>
          <a:prstGeom prst="roundRect">
            <a:avLst>
              <a:gd name="adj" fmla="val 4338"/>
            </a:avLst>
          </a:prstGeom>
          <a:solidFill>
            <a:srgbClr val="FFFFFF"/>
          </a:solidFill>
          <a:ln w="12700">
            <a:solidFill>
              <a:srgbClr val="CBD5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84700" y="3060502"/>
            <a:ext cx="3276600" cy="279400"/>
          </a:xfrm>
          <a:custGeom>
            <a:avLst/>
            <a:gdLst/>
            <a:ahLst/>
            <a:cxnLst/>
            <a:rect l="l" t="t" r="r" b="b"/>
            <a:pathLst>
              <a:path w="3276600" h="279400">
                <a:moveTo>
                  <a:pt x="114300" y="0"/>
                </a:moveTo>
                <a:lnTo>
                  <a:pt x="3162300" y="0"/>
                </a:lnTo>
                <a:arcTo hR="114300" wR="114300" stAng="16200000" swAng="5400000"/>
                <a:lnTo>
                  <a:pt x="3276600" y="279400"/>
                </a:lnTo>
                <a:lnTo>
                  <a:pt x="0" y="279400"/>
                </a:lnTo>
                <a:lnTo>
                  <a:pt x="0" y="114300"/>
                </a:lnTo>
                <a:arcTo hR="114300" wR="114300" stAng="10800000" swAng="5400000"/>
                <a:close/>
              </a:path>
            </a:pathLst>
          </a:custGeom>
          <a:solidFill>
            <a:srgbClr val="F1F4FA"/>
          </a:solidFill>
          <a:ln/>
        </p:spPr>
      </p:sp>
      <p:sp>
        <p:nvSpPr>
          <p:cNvPr id="20" name="Shape 18"/>
          <p:cNvSpPr/>
          <p:nvPr/>
        </p:nvSpPr>
        <p:spPr>
          <a:xfrm>
            <a:off x="4584700" y="3060502"/>
            <a:ext cx="3276600" cy="279400"/>
          </a:xfrm>
          <a:custGeom>
            <a:avLst/>
            <a:gdLst/>
            <a:ahLst/>
            <a:cxnLst/>
            <a:rect l="l" t="t" r="r" b="b"/>
            <a:pathLst>
              <a:path w="3276600" h="279400">
                <a:moveTo>
                  <a:pt x="3276600" y="266700"/>
                </a:moveTo>
                <a:lnTo>
                  <a:pt x="3276600" y="279400"/>
                </a:lnTo>
                <a:lnTo>
                  <a:pt x="0" y="279400"/>
                </a:lnTo>
                <a:lnTo>
                  <a:pt x="0" y="266700"/>
                </a:lnTo>
                <a:lnTo>
                  <a:pt x="3276600" y="266700"/>
                </a:lnTo>
                <a:close/>
              </a:path>
            </a:pathLst>
          </a:custGeom>
          <a:solidFill>
            <a:srgbClr val="E4E9F2"/>
          </a:solidFill>
          <a:ln/>
        </p:spPr>
      </p:sp>
      <p:sp>
        <p:nvSpPr>
          <p:cNvPr id="21" name="Shape 19"/>
          <p:cNvSpPr/>
          <p:nvPr/>
        </p:nvSpPr>
        <p:spPr>
          <a:xfrm>
            <a:off x="4711700" y="3149402"/>
            <a:ext cx="88900" cy="88900"/>
          </a:xfrm>
          <a:prstGeom prst="roundRect">
            <a:avLst>
              <a:gd name="adj" fmla="val 50000"/>
            </a:avLst>
          </a:prstGeom>
          <a:solidFill>
            <a:srgbClr val="CBD5E6"/>
          </a:solidFill>
          <a:ln/>
        </p:spPr>
      </p:sp>
      <p:sp>
        <p:nvSpPr>
          <p:cNvPr id="22" name="Shape 20"/>
          <p:cNvSpPr/>
          <p:nvPr/>
        </p:nvSpPr>
        <p:spPr>
          <a:xfrm>
            <a:off x="4864100" y="3149402"/>
            <a:ext cx="88900" cy="88900"/>
          </a:xfrm>
          <a:prstGeom prst="roundRect">
            <a:avLst>
              <a:gd name="adj" fmla="val 50000"/>
            </a:avLst>
          </a:prstGeom>
          <a:solidFill>
            <a:srgbClr val="CBD5E6"/>
          </a:solidFill>
          <a:ln/>
        </p:spPr>
      </p:sp>
      <p:sp>
        <p:nvSpPr>
          <p:cNvPr id="23" name="Shape 21"/>
          <p:cNvSpPr/>
          <p:nvPr/>
        </p:nvSpPr>
        <p:spPr>
          <a:xfrm>
            <a:off x="5016500" y="3149402"/>
            <a:ext cx="88900" cy="88900"/>
          </a:xfrm>
          <a:prstGeom prst="roundRect">
            <a:avLst>
              <a:gd name="adj" fmla="val 50000"/>
            </a:avLst>
          </a:prstGeom>
          <a:solidFill>
            <a:srgbClr val="CBD5E6"/>
          </a:solidFill>
          <a:ln/>
        </p:spPr>
      </p:sp>
      <p:sp>
        <p:nvSpPr>
          <p:cNvPr id="24" name="Shape 22"/>
          <p:cNvSpPr/>
          <p:nvPr/>
        </p:nvSpPr>
        <p:spPr>
          <a:xfrm>
            <a:off x="4708525" y="3463727"/>
            <a:ext cx="3028950" cy="2241748"/>
          </a:xfrm>
          <a:prstGeom prst="roundRect">
            <a:avLst>
              <a:gd name="adj" fmla="val 2974"/>
            </a:avLst>
          </a:prstGeom>
          <a:solidFill>
            <a:srgbClr val="F5F7FB"/>
          </a:solidFill>
          <a:ln w="19050">
            <a:solidFill>
              <a:srgbClr val="CBD5E6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056664" y="4328120"/>
            <a:ext cx="233267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D48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Skrinshot: maxfiy chat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575776" y="4627761"/>
            <a:ext cx="129444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rasm shu yerga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83550" y="3054152"/>
            <a:ext cx="3289300" cy="2781498"/>
          </a:xfrm>
          <a:prstGeom prst="roundRect">
            <a:avLst>
              <a:gd name="adj" fmla="val 4338"/>
            </a:avLst>
          </a:prstGeom>
          <a:solidFill>
            <a:srgbClr val="FFFFFF"/>
          </a:solidFill>
          <a:ln w="12700">
            <a:solidFill>
              <a:srgbClr val="CBD5E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89900" y="3060502"/>
            <a:ext cx="3276600" cy="279400"/>
          </a:xfrm>
          <a:custGeom>
            <a:avLst/>
            <a:gdLst/>
            <a:ahLst/>
            <a:cxnLst/>
            <a:rect l="l" t="t" r="r" b="b"/>
            <a:pathLst>
              <a:path w="3276600" h="279400">
                <a:moveTo>
                  <a:pt x="114300" y="0"/>
                </a:moveTo>
                <a:lnTo>
                  <a:pt x="3162300" y="0"/>
                </a:lnTo>
                <a:arcTo hR="114300" wR="114300" stAng="16200000" swAng="5400000"/>
                <a:lnTo>
                  <a:pt x="3276600" y="279400"/>
                </a:lnTo>
                <a:lnTo>
                  <a:pt x="0" y="279400"/>
                </a:lnTo>
                <a:lnTo>
                  <a:pt x="0" y="114300"/>
                </a:lnTo>
                <a:arcTo hR="114300" wR="114300" stAng="10800000" swAng="5400000"/>
                <a:close/>
              </a:path>
            </a:pathLst>
          </a:custGeom>
          <a:solidFill>
            <a:srgbClr val="F1F4FA"/>
          </a:solidFill>
          <a:ln/>
        </p:spPr>
      </p:sp>
      <p:sp>
        <p:nvSpPr>
          <p:cNvPr id="29" name="Shape 27"/>
          <p:cNvSpPr/>
          <p:nvPr/>
        </p:nvSpPr>
        <p:spPr>
          <a:xfrm>
            <a:off x="8089900" y="3060502"/>
            <a:ext cx="3276600" cy="279400"/>
          </a:xfrm>
          <a:custGeom>
            <a:avLst/>
            <a:gdLst/>
            <a:ahLst/>
            <a:cxnLst/>
            <a:rect l="l" t="t" r="r" b="b"/>
            <a:pathLst>
              <a:path w="3276600" h="279400">
                <a:moveTo>
                  <a:pt x="3276600" y="266700"/>
                </a:moveTo>
                <a:lnTo>
                  <a:pt x="3276600" y="279400"/>
                </a:lnTo>
                <a:lnTo>
                  <a:pt x="0" y="279400"/>
                </a:lnTo>
                <a:lnTo>
                  <a:pt x="0" y="266700"/>
                </a:lnTo>
                <a:lnTo>
                  <a:pt x="3276600" y="266700"/>
                </a:lnTo>
                <a:close/>
              </a:path>
            </a:pathLst>
          </a:custGeom>
          <a:solidFill>
            <a:srgbClr val="E4E9F2"/>
          </a:solidFill>
          <a:ln/>
        </p:spPr>
      </p:sp>
      <p:sp>
        <p:nvSpPr>
          <p:cNvPr id="30" name="Shape 28"/>
          <p:cNvSpPr/>
          <p:nvPr/>
        </p:nvSpPr>
        <p:spPr>
          <a:xfrm>
            <a:off x="8216900" y="3149402"/>
            <a:ext cx="88900" cy="88900"/>
          </a:xfrm>
          <a:prstGeom prst="roundRect">
            <a:avLst>
              <a:gd name="adj" fmla="val 50000"/>
            </a:avLst>
          </a:prstGeom>
          <a:solidFill>
            <a:srgbClr val="CBD5E6"/>
          </a:solidFill>
          <a:ln/>
        </p:spPr>
      </p:sp>
      <p:sp>
        <p:nvSpPr>
          <p:cNvPr id="31" name="Shape 29"/>
          <p:cNvSpPr/>
          <p:nvPr/>
        </p:nvSpPr>
        <p:spPr>
          <a:xfrm>
            <a:off x="8369300" y="3149402"/>
            <a:ext cx="88900" cy="88900"/>
          </a:xfrm>
          <a:prstGeom prst="roundRect">
            <a:avLst>
              <a:gd name="adj" fmla="val 50000"/>
            </a:avLst>
          </a:prstGeom>
          <a:solidFill>
            <a:srgbClr val="CBD5E6"/>
          </a:solidFill>
          <a:ln/>
        </p:spPr>
      </p:sp>
      <p:sp>
        <p:nvSpPr>
          <p:cNvPr id="32" name="Shape 30"/>
          <p:cNvSpPr/>
          <p:nvPr/>
        </p:nvSpPr>
        <p:spPr>
          <a:xfrm>
            <a:off x="8521700" y="3149402"/>
            <a:ext cx="88900" cy="88900"/>
          </a:xfrm>
          <a:prstGeom prst="roundRect">
            <a:avLst>
              <a:gd name="adj" fmla="val 50000"/>
            </a:avLst>
          </a:prstGeom>
          <a:solidFill>
            <a:srgbClr val="CBD5E6"/>
          </a:solidFill>
          <a:ln/>
        </p:spPr>
      </p:sp>
      <p:sp>
        <p:nvSpPr>
          <p:cNvPr id="33" name="Shape 31"/>
          <p:cNvSpPr/>
          <p:nvPr/>
        </p:nvSpPr>
        <p:spPr>
          <a:xfrm>
            <a:off x="8213725" y="3463727"/>
            <a:ext cx="3028950" cy="2241748"/>
          </a:xfrm>
          <a:prstGeom prst="roundRect">
            <a:avLst>
              <a:gd name="adj" fmla="val 2974"/>
            </a:avLst>
          </a:prstGeom>
          <a:solidFill>
            <a:srgbClr val="F5F7FB"/>
          </a:solidFill>
          <a:ln w="19050">
            <a:solidFill>
              <a:srgbClr val="CBD5E6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8376364" y="4328120"/>
            <a:ext cx="2703671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D48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Skrinshot: bazadagi yozuv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080976" y="4627761"/>
            <a:ext cx="129444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rasm shu yerga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804400" y="6202759"/>
            <a:ext cx="15748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F6B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 / 16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Dastur interfeysi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416050" y="1520130"/>
            <a:ext cx="3543300" cy="1676400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CBD5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22400" y="1526480"/>
            <a:ext cx="3530600" cy="228600"/>
          </a:xfrm>
          <a:custGeom>
            <a:avLst/>
            <a:gdLst/>
            <a:ahLst/>
            <a:cxnLst/>
            <a:rect l="l" t="t" r="r" b="b"/>
            <a:pathLst>
              <a:path w="3530600" h="228600">
                <a:moveTo>
                  <a:pt x="88900" y="0"/>
                </a:moveTo>
                <a:lnTo>
                  <a:pt x="3441700" y="0"/>
                </a:lnTo>
                <a:arcTo hR="88900" wR="88900" stAng="16200000" swAng="5400000"/>
                <a:lnTo>
                  <a:pt x="3530600" y="228600"/>
                </a:lnTo>
                <a:lnTo>
                  <a:pt x="0" y="228600"/>
                </a:lnTo>
                <a:lnTo>
                  <a:pt x="0" y="88900"/>
                </a:lnTo>
                <a:arcTo hR="88900" wR="88900" stAng="10800000" swAng="5400000"/>
                <a:close/>
              </a:path>
            </a:pathLst>
          </a:custGeom>
          <a:solidFill>
            <a:srgbClr val="F1F4FA"/>
          </a:solidFill>
          <a:ln/>
        </p:spPr>
      </p:sp>
      <p:sp>
        <p:nvSpPr>
          <p:cNvPr id="5" name="Shape 3"/>
          <p:cNvSpPr/>
          <p:nvPr/>
        </p:nvSpPr>
        <p:spPr>
          <a:xfrm>
            <a:off x="1422400" y="1526480"/>
            <a:ext cx="3530600" cy="228600"/>
          </a:xfrm>
          <a:custGeom>
            <a:avLst/>
            <a:gdLst/>
            <a:ahLst/>
            <a:cxnLst/>
            <a:rect l="l" t="t" r="r" b="b"/>
            <a:pathLst>
              <a:path w="3530600" h="228600">
                <a:moveTo>
                  <a:pt x="3530600" y="215900"/>
                </a:moveTo>
                <a:lnTo>
                  <a:pt x="3530600" y="228600"/>
                </a:lnTo>
                <a:lnTo>
                  <a:pt x="0" y="228600"/>
                </a:lnTo>
                <a:lnTo>
                  <a:pt x="0" y="215900"/>
                </a:lnTo>
                <a:lnTo>
                  <a:pt x="3530600" y="215900"/>
                </a:lnTo>
                <a:close/>
              </a:path>
            </a:pathLst>
          </a:custGeom>
          <a:solidFill>
            <a:srgbClr val="E4E9F2"/>
          </a:solidFill>
          <a:ln/>
        </p:spPr>
      </p:sp>
      <p:sp>
        <p:nvSpPr>
          <p:cNvPr id="6" name="Shape 4"/>
          <p:cNvSpPr/>
          <p:nvPr/>
        </p:nvSpPr>
        <p:spPr>
          <a:xfrm>
            <a:off x="1524000" y="1596330"/>
            <a:ext cx="76200" cy="76200"/>
          </a:xfrm>
          <a:prstGeom prst="roundRect">
            <a:avLst>
              <a:gd name="adj" fmla="val 50000"/>
            </a:avLst>
          </a:prstGeom>
          <a:solidFill>
            <a:srgbClr val="CBD5E6"/>
          </a:solidFill>
          <a:ln/>
        </p:spPr>
      </p:sp>
      <p:sp>
        <p:nvSpPr>
          <p:cNvPr id="7" name="Shape 5"/>
          <p:cNvSpPr/>
          <p:nvPr/>
        </p:nvSpPr>
        <p:spPr>
          <a:xfrm>
            <a:off x="1651000" y="1596330"/>
            <a:ext cx="76200" cy="76200"/>
          </a:xfrm>
          <a:prstGeom prst="roundRect">
            <a:avLst>
              <a:gd name="adj" fmla="val 50000"/>
            </a:avLst>
          </a:prstGeom>
          <a:solidFill>
            <a:srgbClr val="CBD5E6"/>
          </a:solidFill>
          <a:ln/>
        </p:spPr>
      </p:sp>
      <p:sp>
        <p:nvSpPr>
          <p:cNvPr id="8" name="Shape 6"/>
          <p:cNvSpPr/>
          <p:nvPr/>
        </p:nvSpPr>
        <p:spPr>
          <a:xfrm>
            <a:off x="1778000" y="1596330"/>
            <a:ext cx="76200" cy="76200"/>
          </a:xfrm>
          <a:prstGeom prst="roundRect">
            <a:avLst>
              <a:gd name="adj" fmla="val 50000"/>
            </a:avLst>
          </a:prstGeom>
          <a:solidFill>
            <a:srgbClr val="CBD5E6"/>
          </a:solidFill>
          <a:ln/>
        </p:spPr>
      </p:sp>
      <p:sp>
        <p:nvSpPr>
          <p:cNvPr id="9" name="Text 7"/>
          <p:cNvSpPr/>
          <p:nvPr/>
        </p:nvSpPr>
        <p:spPr>
          <a:xfrm>
            <a:off x="1520825" y="1853505"/>
            <a:ext cx="3333750" cy="1238250"/>
          </a:xfrm>
          <a:prstGeom prst="roundRect">
            <a:avLst>
              <a:gd name="adj" fmla="val 4359"/>
            </a:avLst>
          </a:prstGeom>
          <a:solidFill>
            <a:srgbClr val="F5F7FB"/>
          </a:solidFill>
          <a:ln w="19050">
            <a:solidFill>
              <a:srgbClr val="CBD5E6"/>
            </a:solidFill>
            <a:prstDash val="dash"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F6B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skrinshot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09700" y="3266380"/>
            <a:ext cx="366268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Kirish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972050" y="1520130"/>
            <a:ext cx="3543300" cy="1676400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CBD5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78400" y="1526480"/>
            <a:ext cx="3530600" cy="228600"/>
          </a:xfrm>
          <a:custGeom>
            <a:avLst/>
            <a:gdLst/>
            <a:ahLst/>
            <a:cxnLst/>
            <a:rect l="l" t="t" r="r" b="b"/>
            <a:pathLst>
              <a:path w="3530600" h="228600">
                <a:moveTo>
                  <a:pt x="88900" y="0"/>
                </a:moveTo>
                <a:lnTo>
                  <a:pt x="3441700" y="0"/>
                </a:lnTo>
                <a:arcTo hR="88900" wR="88900" stAng="16200000" swAng="5400000"/>
                <a:lnTo>
                  <a:pt x="3530600" y="228600"/>
                </a:lnTo>
                <a:lnTo>
                  <a:pt x="0" y="228600"/>
                </a:lnTo>
                <a:lnTo>
                  <a:pt x="0" y="88900"/>
                </a:lnTo>
                <a:arcTo hR="88900" wR="88900" stAng="10800000" swAng="5400000"/>
                <a:close/>
              </a:path>
            </a:pathLst>
          </a:custGeom>
          <a:solidFill>
            <a:srgbClr val="F1F4FA"/>
          </a:solidFill>
          <a:ln/>
        </p:spPr>
      </p:sp>
      <p:sp>
        <p:nvSpPr>
          <p:cNvPr id="13" name="Shape 11"/>
          <p:cNvSpPr/>
          <p:nvPr/>
        </p:nvSpPr>
        <p:spPr>
          <a:xfrm>
            <a:off x="4978400" y="1526480"/>
            <a:ext cx="3530600" cy="228600"/>
          </a:xfrm>
          <a:custGeom>
            <a:avLst/>
            <a:gdLst/>
            <a:ahLst/>
            <a:cxnLst/>
            <a:rect l="l" t="t" r="r" b="b"/>
            <a:pathLst>
              <a:path w="3530600" h="228600">
                <a:moveTo>
                  <a:pt x="3530600" y="215900"/>
                </a:moveTo>
                <a:lnTo>
                  <a:pt x="3530600" y="228600"/>
                </a:lnTo>
                <a:lnTo>
                  <a:pt x="0" y="228600"/>
                </a:lnTo>
                <a:lnTo>
                  <a:pt x="0" y="215900"/>
                </a:lnTo>
                <a:lnTo>
                  <a:pt x="3530600" y="215900"/>
                </a:lnTo>
                <a:close/>
              </a:path>
            </a:pathLst>
          </a:custGeom>
          <a:solidFill>
            <a:srgbClr val="E4E9F2"/>
          </a:solidFill>
          <a:ln/>
        </p:spPr>
      </p:sp>
      <p:sp>
        <p:nvSpPr>
          <p:cNvPr id="14" name="Shape 12"/>
          <p:cNvSpPr/>
          <p:nvPr/>
        </p:nvSpPr>
        <p:spPr>
          <a:xfrm>
            <a:off x="5080000" y="1596330"/>
            <a:ext cx="76200" cy="76200"/>
          </a:xfrm>
          <a:prstGeom prst="roundRect">
            <a:avLst>
              <a:gd name="adj" fmla="val 50000"/>
            </a:avLst>
          </a:prstGeom>
          <a:solidFill>
            <a:srgbClr val="CBD5E6"/>
          </a:solidFill>
          <a:ln/>
        </p:spPr>
      </p:sp>
      <p:sp>
        <p:nvSpPr>
          <p:cNvPr id="15" name="Shape 13"/>
          <p:cNvSpPr/>
          <p:nvPr/>
        </p:nvSpPr>
        <p:spPr>
          <a:xfrm>
            <a:off x="5207000" y="1596330"/>
            <a:ext cx="76200" cy="76200"/>
          </a:xfrm>
          <a:prstGeom prst="roundRect">
            <a:avLst>
              <a:gd name="adj" fmla="val 50000"/>
            </a:avLst>
          </a:prstGeom>
          <a:solidFill>
            <a:srgbClr val="CBD5E6"/>
          </a:solidFill>
          <a:ln/>
        </p:spPr>
      </p:sp>
      <p:sp>
        <p:nvSpPr>
          <p:cNvPr id="16" name="Shape 14"/>
          <p:cNvSpPr/>
          <p:nvPr/>
        </p:nvSpPr>
        <p:spPr>
          <a:xfrm>
            <a:off x="5334000" y="1596330"/>
            <a:ext cx="76200" cy="76200"/>
          </a:xfrm>
          <a:prstGeom prst="roundRect">
            <a:avLst>
              <a:gd name="adj" fmla="val 50000"/>
            </a:avLst>
          </a:prstGeom>
          <a:solidFill>
            <a:srgbClr val="CBD5E6"/>
          </a:solidFill>
          <a:ln/>
        </p:spPr>
      </p:sp>
      <p:sp>
        <p:nvSpPr>
          <p:cNvPr id="17" name="Text 15"/>
          <p:cNvSpPr/>
          <p:nvPr/>
        </p:nvSpPr>
        <p:spPr>
          <a:xfrm>
            <a:off x="5076825" y="1853505"/>
            <a:ext cx="3333750" cy="1238250"/>
          </a:xfrm>
          <a:prstGeom prst="roundRect">
            <a:avLst>
              <a:gd name="adj" fmla="val 4359"/>
            </a:avLst>
          </a:prstGeom>
          <a:solidFill>
            <a:srgbClr val="F5F7FB"/>
          </a:solidFill>
          <a:ln w="19050">
            <a:solidFill>
              <a:srgbClr val="CBD5E6"/>
            </a:solidFill>
            <a:prstDash val="dash"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F6B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skrinshot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65700" y="3266380"/>
            <a:ext cx="366268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Guruh chati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416050" y="3684191"/>
            <a:ext cx="3543300" cy="1676400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CBD5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22400" y="3690541"/>
            <a:ext cx="3530600" cy="228600"/>
          </a:xfrm>
          <a:custGeom>
            <a:avLst/>
            <a:gdLst/>
            <a:ahLst/>
            <a:cxnLst/>
            <a:rect l="l" t="t" r="r" b="b"/>
            <a:pathLst>
              <a:path w="3530600" h="228600">
                <a:moveTo>
                  <a:pt x="88900" y="0"/>
                </a:moveTo>
                <a:lnTo>
                  <a:pt x="3441700" y="0"/>
                </a:lnTo>
                <a:arcTo hR="88900" wR="88900" stAng="16200000" swAng="5400000"/>
                <a:lnTo>
                  <a:pt x="3530600" y="228600"/>
                </a:lnTo>
                <a:lnTo>
                  <a:pt x="0" y="228600"/>
                </a:lnTo>
                <a:lnTo>
                  <a:pt x="0" y="88900"/>
                </a:lnTo>
                <a:arcTo hR="88900" wR="88900" stAng="10800000" swAng="5400000"/>
                <a:close/>
              </a:path>
            </a:pathLst>
          </a:custGeom>
          <a:solidFill>
            <a:srgbClr val="F1F4FA"/>
          </a:solidFill>
          <a:ln/>
        </p:spPr>
      </p:sp>
      <p:sp>
        <p:nvSpPr>
          <p:cNvPr id="21" name="Shape 19"/>
          <p:cNvSpPr/>
          <p:nvPr/>
        </p:nvSpPr>
        <p:spPr>
          <a:xfrm>
            <a:off x="1422400" y="3690541"/>
            <a:ext cx="3530600" cy="228600"/>
          </a:xfrm>
          <a:custGeom>
            <a:avLst/>
            <a:gdLst/>
            <a:ahLst/>
            <a:cxnLst/>
            <a:rect l="l" t="t" r="r" b="b"/>
            <a:pathLst>
              <a:path w="3530600" h="228600">
                <a:moveTo>
                  <a:pt x="3530600" y="215900"/>
                </a:moveTo>
                <a:lnTo>
                  <a:pt x="3530600" y="228600"/>
                </a:lnTo>
                <a:lnTo>
                  <a:pt x="0" y="228600"/>
                </a:lnTo>
                <a:lnTo>
                  <a:pt x="0" y="215900"/>
                </a:lnTo>
                <a:lnTo>
                  <a:pt x="3530600" y="215900"/>
                </a:lnTo>
                <a:close/>
              </a:path>
            </a:pathLst>
          </a:custGeom>
          <a:solidFill>
            <a:srgbClr val="E4E9F2"/>
          </a:solidFill>
          <a:ln/>
        </p:spPr>
      </p:sp>
      <p:sp>
        <p:nvSpPr>
          <p:cNvPr id="22" name="Shape 20"/>
          <p:cNvSpPr/>
          <p:nvPr/>
        </p:nvSpPr>
        <p:spPr>
          <a:xfrm>
            <a:off x="1524000" y="3760391"/>
            <a:ext cx="76200" cy="76200"/>
          </a:xfrm>
          <a:prstGeom prst="roundRect">
            <a:avLst>
              <a:gd name="adj" fmla="val 50000"/>
            </a:avLst>
          </a:prstGeom>
          <a:solidFill>
            <a:srgbClr val="CBD5E6"/>
          </a:solidFill>
          <a:ln/>
        </p:spPr>
      </p:sp>
      <p:sp>
        <p:nvSpPr>
          <p:cNvPr id="23" name="Shape 21"/>
          <p:cNvSpPr/>
          <p:nvPr/>
        </p:nvSpPr>
        <p:spPr>
          <a:xfrm>
            <a:off x="1651000" y="3760391"/>
            <a:ext cx="76200" cy="76200"/>
          </a:xfrm>
          <a:prstGeom prst="roundRect">
            <a:avLst>
              <a:gd name="adj" fmla="val 50000"/>
            </a:avLst>
          </a:prstGeom>
          <a:solidFill>
            <a:srgbClr val="CBD5E6"/>
          </a:solidFill>
          <a:ln/>
        </p:spPr>
      </p:sp>
      <p:sp>
        <p:nvSpPr>
          <p:cNvPr id="24" name="Shape 22"/>
          <p:cNvSpPr/>
          <p:nvPr/>
        </p:nvSpPr>
        <p:spPr>
          <a:xfrm>
            <a:off x="1778000" y="3760391"/>
            <a:ext cx="76200" cy="76200"/>
          </a:xfrm>
          <a:prstGeom prst="roundRect">
            <a:avLst>
              <a:gd name="adj" fmla="val 50000"/>
            </a:avLst>
          </a:prstGeom>
          <a:solidFill>
            <a:srgbClr val="CBD5E6"/>
          </a:solidFill>
          <a:ln/>
        </p:spPr>
      </p:sp>
      <p:sp>
        <p:nvSpPr>
          <p:cNvPr id="25" name="Text 23"/>
          <p:cNvSpPr/>
          <p:nvPr/>
        </p:nvSpPr>
        <p:spPr>
          <a:xfrm>
            <a:off x="1520825" y="4017566"/>
            <a:ext cx="3333750" cy="1238250"/>
          </a:xfrm>
          <a:prstGeom prst="roundRect">
            <a:avLst>
              <a:gd name="adj" fmla="val 4359"/>
            </a:avLst>
          </a:prstGeom>
          <a:solidFill>
            <a:srgbClr val="F5F7FB"/>
          </a:solidFill>
          <a:ln w="19050">
            <a:solidFill>
              <a:srgbClr val="CBD5E6"/>
            </a:solidFill>
            <a:prstDash val="dash"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F6B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skrinshot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409700" y="5430441"/>
            <a:ext cx="366268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Hikoyalar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972050" y="3684191"/>
            <a:ext cx="3543300" cy="1676400"/>
          </a:xfrm>
          <a:prstGeom prst="roundRect">
            <a:avLst>
              <a:gd name="adj" fmla="val 5682"/>
            </a:avLst>
          </a:prstGeom>
          <a:solidFill>
            <a:srgbClr val="152150"/>
          </a:solidFill>
          <a:ln w="12700">
            <a:solidFill>
              <a:srgbClr val="34477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78400" y="3690541"/>
            <a:ext cx="3530600" cy="228600"/>
          </a:xfrm>
          <a:custGeom>
            <a:avLst/>
            <a:gdLst/>
            <a:ahLst/>
            <a:cxnLst/>
            <a:rect l="l" t="t" r="r" b="b"/>
            <a:pathLst>
              <a:path w="3530600" h="228600">
                <a:moveTo>
                  <a:pt x="88900" y="0"/>
                </a:moveTo>
                <a:lnTo>
                  <a:pt x="3441700" y="0"/>
                </a:lnTo>
                <a:arcTo hR="88900" wR="88900" stAng="16200000" swAng="5400000"/>
                <a:lnTo>
                  <a:pt x="3530600" y="228600"/>
                </a:lnTo>
                <a:lnTo>
                  <a:pt x="0" y="228600"/>
                </a:lnTo>
                <a:lnTo>
                  <a:pt x="0" y="88900"/>
                </a:lnTo>
                <a:arcTo hR="88900" wR="88900" stAng="10800000" swAng="5400000"/>
                <a:close/>
              </a:path>
            </a:pathLst>
          </a:custGeom>
          <a:solidFill>
            <a:srgbClr val="101B42"/>
          </a:solidFill>
          <a:ln/>
        </p:spPr>
      </p:sp>
      <p:sp>
        <p:nvSpPr>
          <p:cNvPr id="29" name="Shape 27"/>
          <p:cNvSpPr/>
          <p:nvPr/>
        </p:nvSpPr>
        <p:spPr>
          <a:xfrm>
            <a:off x="4978400" y="3690541"/>
            <a:ext cx="3530600" cy="228600"/>
          </a:xfrm>
          <a:custGeom>
            <a:avLst/>
            <a:gdLst/>
            <a:ahLst/>
            <a:cxnLst/>
            <a:rect l="l" t="t" r="r" b="b"/>
            <a:pathLst>
              <a:path w="3530600" h="228600">
                <a:moveTo>
                  <a:pt x="3530600" y="215900"/>
                </a:moveTo>
                <a:lnTo>
                  <a:pt x="3530600" y="228600"/>
                </a:lnTo>
                <a:lnTo>
                  <a:pt x="0" y="228600"/>
                </a:lnTo>
                <a:lnTo>
                  <a:pt x="0" y="215900"/>
                </a:lnTo>
                <a:lnTo>
                  <a:pt x="3530600" y="215900"/>
                </a:lnTo>
                <a:close/>
              </a:path>
            </a:pathLst>
          </a:custGeom>
          <a:solidFill>
            <a:srgbClr val="26315A"/>
          </a:solidFill>
          <a:ln/>
        </p:spPr>
      </p:sp>
      <p:sp>
        <p:nvSpPr>
          <p:cNvPr id="30" name="Shape 28"/>
          <p:cNvSpPr/>
          <p:nvPr/>
        </p:nvSpPr>
        <p:spPr>
          <a:xfrm>
            <a:off x="5080000" y="3760391"/>
            <a:ext cx="76200" cy="76200"/>
          </a:xfrm>
          <a:prstGeom prst="roundRect">
            <a:avLst>
              <a:gd name="adj" fmla="val 50000"/>
            </a:avLst>
          </a:prstGeom>
          <a:solidFill>
            <a:srgbClr val="34477E"/>
          </a:solidFill>
          <a:ln/>
        </p:spPr>
      </p:sp>
      <p:sp>
        <p:nvSpPr>
          <p:cNvPr id="31" name="Shape 29"/>
          <p:cNvSpPr/>
          <p:nvPr/>
        </p:nvSpPr>
        <p:spPr>
          <a:xfrm>
            <a:off x="5207000" y="3760391"/>
            <a:ext cx="76200" cy="76200"/>
          </a:xfrm>
          <a:prstGeom prst="roundRect">
            <a:avLst>
              <a:gd name="adj" fmla="val 50000"/>
            </a:avLst>
          </a:prstGeom>
          <a:solidFill>
            <a:srgbClr val="34477E"/>
          </a:solidFill>
          <a:ln/>
        </p:spPr>
      </p:sp>
      <p:sp>
        <p:nvSpPr>
          <p:cNvPr id="32" name="Shape 30"/>
          <p:cNvSpPr/>
          <p:nvPr/>
        </p:nvSpPr>
        <p:spPr>
          <a:xfrm>
            <a:off x="5334000" y="3760391"/>
            <a:ext cx="76200" cy="76200"/>
          </a:xfrm>
          <a:prstGeom prst="roundRect">
            <a:avLst>
              <a:gd name="adj" fmla="val 50000"/>
            </a:avLst>
          </a:prstGeom>
          <a:solidFill>
            <a:srgbClr val="34477E"/>
          </a:solidFill>
          <a:ln/>
        </p:spPr>
      </p:sp>
      <p:sp>
        <p:nvSpPr>
          <p:cNvPr id="33" name="Text 31"/>
          <p:cNvSpPr/>
          <p:nvPr/>
        </p:nvSpPr>
        <p:spPr>
          <a:xfrm>
            <a:off x="5076825" y="4017566"/>
            <a:ext cx="3333750" cy="1238250"/>
          </a:xfrm>
          <a:prstGeom prst="roundRect">
            <a:avLst>
              <a:gd name="adj" fmla="val 4359"/>
            </a:avLst>
          </a:prstGeom>
          <a:solidFill>
            <a:srgbClr val="0B1437"/>
          </a:solidFill>
          <a:ln w="19050">
            <a:solidFill>
              <a:srgbClr val="34477E"/>
            </a:solidFill>
            <a:prstDash val="dash"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AA7C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skrinshot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65700" y="5430441"/>
            <a:ext cx="366268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Qorong‘i mavzu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877300" y="1513780"/>
            <a:ext cx="1905000" cy="3810000"/>
          </a:xfrm>
          <a:prstGeom prst="roundRect">
            <a:avLst>
              <a:gd name="adj" fmla="val 14667"/>
            </a:avLst>
          </a:prstGeom>
          <a:solidFill>
            <a:srgbClr val="10162E"/>
          </a:solidFill>
          <a:ln/>
        </p:spPr>
      </p:sp>
      <p:sp>
        <p:nvSpPr>
          <p:cNvPr id="36" name="Shape 34"/>
          <p:cNvSpPr/>
          <p:nvPr/>
        </p:nvSpPr>
        <p:spPr>
          <a:xfrm>
            <a:off x="9525000" y="1640780"/>
            <a:ext cx="609600" cy="76200"/>
          </a:xfrm>
          <a:prstGeom prst="roundRect">
            <a:avLst>
              <a:gd name="adj" fmla="val 50000"/>
            </a:avLst>
          </a:prstGeom>
          <a:solidFill>
            <a:srgbClr val="3D4868"/>
          </a:solidFill>
          <a:ln/>
        </p:spPr>
      </p:sp>
      <p:sp>
        <p:nvSpPr>
          <p:cNvPr id="37" name="Text 35"/>
          <p:cNvSpPr/>
          <p:nvPr/>
        </p:nvSpPr>
        <p:spPr>
          <a:xfrm>
            <a:off x="8975725" y="1802705"/>
            <a:ext cx="1708150" cy="3359150"/>
          </a:xfrm>
          <a:prstGeom prst="roundRect">
            <a:avLst>
              <a:gd name="adj" fmla="val 10595"/>
            </a:avLst>
          </a:prstGeom>
          <a:solidFill>
            <a:srgbClr val="F5F7FB"/>
          </a:solidFill>
          <a:ln w="19050">
            <a:solidFill>
              <a:srgbClr val="CBD5E6"/>
            </a:solidFill>
            <a:prstDash val="dash"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F6B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skrinshot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972322" y="5387280"/>
            <a:ext cx="171485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Mobil ko‘rinish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804400" y="6202759"/>
            <a:ext cx="15748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F6B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13 / 16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Joylashtirish va testlash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9150" y="1545530"/>
            <a:ext cx="6218138" cy="3136999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0300" y="1805880"/>
            <a:ext cx="235208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000"/>
              </a:lnSpc>
              <a:buNone/>
            </a:pPr>
            <a:r>
              <a:rPr lang="en-US" sz="10000" b="1" spc="-300" kern="0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536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3482380" y="2506960"/>
            <a:ext cx="141660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unit test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130300" y="3853259"/>
            <a:ext cx="3206452" cy="177800"/>
          </a:xfrm>
          <a:custGeom>
            <a:avLst/>
            <a:gdLst/>
            <a:ahLst/>
            <a:cxnLst/>
            <a:rect l="l" t="t" r="r" b="b"/>
            <a:pathLst>
              <a:path w="3206452" h="177800">
                <a:moveTo>
                  <a:pt x="88900" y="0"/>
                </a:moveTo>
                <a:lnTo>
                  <a:pt x="3206452" y="0"/>
                </a:lnTo>
                <a:lnTo>
                  <a:pt x="3206452" y="177800"/>
                </a:lnTo>
                <a:lnTo>
                  <a:pt x="88900" y="177800"/>
                </a:lnTo>
                <a:arcTo hR="88900" wR="88900" stAng="5400000" swAng="5400000"/>
                <a:lnTo>
                  <a:pt x="0" y="88900"/>
                </a:lnTo>
                <a:arcTo hR="88900" wR="88900" stAng="10800000" swAng="5400000"/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4336752" y="3853259"/>
            <a:ext cx="2389386" cy="177800"/>
          </a:xfrm>
          <a:custGeom>
            <a:avLst/>
            <a:gdLst/>
            <a:ahLst/>
            <a:cxnLst/>
            <a:rect l="l" t="t" r="r" b="b"/>
            <a:pathLst>
              <a:path w="2389386" h="177800">
                <a:moveTo>
                  <a:pt x="0" y="0"/>
                </a:moveTo>
                <a:lnTo>
                  <a:pt x="2300486" y="0"/>
                </a:lnTo>
                <a:arcTo hR="88900" wR="88900" stAng="16200000" swAng="5400000"/>
                <a:lnTo>
                  <a:pt x="2389386" y="88900"/>
                </a:lnTo>
                <a:arcTo hR="88900" wR="88900" stAng="0" swAng="5400000"/>
                <a:lnTo>
                  <a:pt x="0" y="177800"/>
                </a:lnTo>
                <a:lnTo>
                  <a:pt x="0" y="0"/>
                </a:lnTo>
                <a:close/>
              </a:path>
            </a:pathLst>
          </a:custGeom>
          <a:solidFill>
            <a:srgbClr val="DB7612"/>
          </a:solidFill>
          <a:ln/>
        </p:spPr>
      </p:sp>
      <p:sp>
        <p:nvSpPr>
          <p:cNvPr id="8" name="Text 6"/>
          <p:cNvSpPr/>
          <p:nvPr/>
        </p:nvSpPr>
        <p:spPr>
          <a:xfrm>
            <a:off x="1130300" y="4119959"/>
            <a:ext cx="1308378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307</a:t>
            </a:r>
            <a:r>
              <a:rPr lang="en-US" sz="17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server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93603" y="4119959"/>
            <a:ext cx="1232535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B4530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229</a:t>
            </a:r>
            <a:r>
              <a:rPr lang="en-US" sz="17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klient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253188" y="1545530"/>
            <a:ext cx="4119662" cy="3136999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64338" y="1805880"/>
            <a:ext cx="3602283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000"/>
              </a:lnSpc>
              <a:buNone/>
            </a:pPr>
            <a:r>
              <a:rPr lang="en-US" sz="10000" b="1" spc="-300" kern="0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43</a:t>
            </a:r>
            <a:endParaRPr lang="en-US" sz="10000" dirty="0"/>
          </a:p>
        </p:txBody>
      </p:sp>
      <p:sp>
        <p:nvSpPr>
          <p:cNvPr id="12" name="Text 10"/>
          <p:cNvSpPr/>
          <p:nvPr/>
        </p:nvSpPr>
        <p:spPr>
          <a:xfrm>
            <a:off x="7564338" y="3025080"/>
            <a:ext cx="360228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integratsion tekshiruv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570688" y="3966270"/>
            <a:ext cx="2904133" cy="449560"/>
          </a:xfrm>
          <a:prstGeom prst="roundRect">
            <a:avLst>
              <a:gd name="adj" fmla="val 50000"/>
            </a:avLst>
          </a:prstGeom>
          <a:solidFill>
            <a:srgbClr val="E8F7EF"/>
          </a:solidFill>
          <a:ln w="12700">
            <a:solidFill>
              <a:srgbClr val="BDE8D1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F7A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✓ Barchasi muvaffaqiyatli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9150" y="5116810"/>
            <a:ext cx="2273995" cy="576560"/>
          </a:xfrm>
          <a:prstGeom prst="roundRect">
            <a:avLst>
              <a:gd name="adj" fmla="val 16520"/>
            </a:avLst>
          </a:prstGeom>
          <a:solidFill>
            <a:srgbClr val="FFFFFF"/>
          </a:solidFill>
          <a:ln w="12700">
            <a:solidFill>
              <a:srgbClr val="CBD5E6"/>
            </a:solidFill>
            <a:prstDash val="solid"/>
          </a:ln>
        </p:spPr>
        <p:txBody>
          <a:bodyPr wrap="square" lIns="156252" tIns="118152" rIns="99081" bIns="92752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GitHub’ga push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26495" y="5227340"/>
            <a:ext cx="26997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563E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579019" y="4974630"/>
            <a:ext cx="2274094" cy="861020"/>
          </a:xfrm>
          <a:prstGeom prst="roundRect">
            <a:avLst>
              <a:gd name="adj" fmla="val 11062"/>
            </a:avLst>
          </a:prstGeom>
          <a:solidFill>
            <a:srgbClr val="FFFFFF"/>
          </a:solidFill>
          <a:ln w="12700">
            <a:solidFill>
              <a:srgbClr val="CBD5E6"/>
            </a:solidFill>
            <a:prstDash val="solid"/>
          </a:ln>
        </p:spPr>
        <p:txBody>
          <a:bodyPr wrap="square" lIns="156252" tIns="118152" rIns="99078" bIns="92752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Avtomatik qayta yig‘ish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86463" y="5227340"/>
            <a:ext cx="26997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563E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38987" y="5116810"/>
            <a:ext cx="2273995" cy="576560"/>
          </a:xfrm>
          <a:prstGeom prst="roundRect">
            <a:avLst>
              <a:gd name="adj" fmla="val 16520"/>
            </a:avLst>
          </a:prstGeom>
          <a:solidFill>
            <a:srgbClr val="FFFFFF"/>
          </a:solidFill>
          <a:ln w="12700">
            <a:solidFill>
              <a:srgbClr val="CBD5E6"/>
            </a:solidFill>
            <a:prstDash val="solid"/>
          </a:ln>
        </p:spPr>
        <p:txBody>
          <a:bodyPr wrap="square" lIns="156252" tIns="118152" rIns="99081" bIns="92752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Docker konteyner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746331" y="5227340"/>
            <a:ext cx="26997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563E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098855" y="5116810"/>
            <a:ext cx="2273995" cy="576560"/>
          </a:xfrm>
          <a:prstGeom prst="roundRect">
            <a:avLst>
              <a:gd name="adj" fmla="val 1652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 wrap="square" lIns="156252" tIns="118152" rIns="99081" bIns="92752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Render bulut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804400" y="6202759"/>
            <a:ext cx="15748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F6B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14 / 16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Hayot faoliyati xavfsizligi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9150" y="1570930"/>
            <a:ext cx="2495550" cy="4264720"/>
          </a:xfrm>
          <a:prstGeom prst="roundRect">
            <a:avLst>
              <a:gd name="adj" fmla="val 4835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4100" y="1831280"/>
            <a:ext cx="2086419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800"/>
              </a:lnSpc>
              <a:buNone/>
            </a:pPr>
            <a:r>
              <a:rPr lang="en-US" sz="6800" b="1" spc="-200" kern="0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1054100" y="2745680"/>
            <a:ext cx="2086419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ish joyi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54100" y="5327650"/>
            <a:ext cx="208641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3D48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xona 6 × 6 × 3 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505200" y="1570930"/>
            <a:ext cx="2495550" cy="4264720"/>
          </a:xfrm>
          <a:prstGeom prst="roundRect">
            <a:avLst>
              <a:gd name="adj" fmla="val 4835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40150" y="1831280"/>
            <a:ext cx="2086419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800"/>
              </a:lnSpc>
              <a:buNone/>
            </a:pPr>
            <a:r>
              <a:rPr lang="en-US" sz="6800" b="1" spc="-200" kern="0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421 lk</a:t>
            </a:r>
            <a:endParaRPr lang="en-US" sz="6800" dirty="0"/>
          </a:p>
        </p:txBody>
      </p:sp>
      <p:sp>
        <p:nvSpPr>
          <p:cNvPr id="9" name="Text 7"/>
          <p:cNvSpPr/>
          <p:nvPr/>
        </p:nvSpPr>
        <p:spPr>
          <a:xfrm>
            <a:off x="3740150" y="3609280"/>
            <a:ext cx="2086419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yoritilganlik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3740150" y="5080000"/>
            <a:ext cx="2086419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3D48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 ta LED panel, me’yor 400 lk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91250" y="1570930"/>
            <a:ext cx="2495550" cy="4264720"/>
          </a:xfrm>
          <a:prstGeom prst="roundRect">
            <a:avLst>
              <a:gd name="adj" fmla="val 4835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6200" y="1831280"/>
            <a:ext cx="2086419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800"/>
              </a:lnSpc>
              <a:buNone/>
            </a:pPr>
            <a:r>
              <a:rPr lang="en-US" sz="6800" b="1" spc="-200" kern="0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150</a:t>
            </a:r>
            <a:endParaRPr lang="en-US" sz="6800" dirty="0"/>
          </a:p>
        </p:txBody>
      </p:sp>
      <p:sp>
        <p:nvSpPr>
          <p:cNvPr id="13" name="Text 11"/>
          <p:cNvSpPr/>
          <p:nvPr/>
        </p:nvSpPr>
        <p:spPr>
          <a:xfrm>
            <a:off x="6426200" y="2745680"/>
            <a:ext cx="2086419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m³/soat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426200" y="5327650"/>
            <a:ext cx="208641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3D48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toza havo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877300" y="1570930"/>
            <a:ext cx="2495550" cy="4264720"/>
          </a:xfrm>
          <a:prstGeom prst="roundRect">
            <a:avLst>
              <a:gd name="adj" fmla="val 4835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12250" y="1831280"/>
            <a:ext cx="2086419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800"/>
              </a:lnSpc>
              <a:buNone/>
            </a:pPr>
            <a:r>
              <a:rPr lang="en-US" sz="6800" b="1" spc="-200" kern="0" dirty="0">
                <a:solidFill>
                  <a:srgbClr val="B4530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≈ 50</a:t>
            </a:r>
            <a:endParaRPr lang="en-US" sz="6800" dirty="0"/>
          </a:p>
        </p:txBody>
      </p:sp>
      <p:sp>
        <p:nvSpPr>
          <p:cNvPr id="17" name="Text 15"/>
          <p:cNvSpPr/>
          <p:nvPr/>
        </p:nvSpPr>
        <p:spPr>
          <a:xfrm>
            <a:off x="9112250" y="2745680"/>
            <a:ext cx="2086419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soniya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9112250" y="5080000"/>
            <a:ext cx="2086419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3D48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hisobiy evakuatsiya vaqti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804400" y="6202759"/>
            <a:ext cx="15748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F6B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15 / 16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Xulosa va istiqbollar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9150" y="1545530"/>
            <a:ext cx="5168900" cy="3548459"/>
          </a:xfrm>
          <a:prstGeom prst="roundRect">
            <a:avLst>
              <a:gd name="adj" fmla="val 3400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4900" y="1780480"/>
            <a:ext cx="473532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Natijalar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04900" y="2224980"/>
            <a:ext cx="4735322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✓</a:t>
            </a:r>
            <a:r>
              <a:rPr lang="en-US" sz="16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Ishlaydigan veb-messenjer yaratildi va bulutga joylashtirildi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04900" y="2892921"/>
            <a:ext cx="4735322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✓</a:t>
            </a:r>
            <a:r>
              <a:rPr lang="en-US" sz="16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Uchta o‘ziga xos imkoniyat: lotin↔kirill, tashkilot rejimi, maxfiy chatlar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04900" y="3560862"/>
            <a:ext cx="4735322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✓</a:t>
            </a:r>
            <a:r>
              <a:rPr lang="en-US" sz="16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536 test bilan tekshirildi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03950" y="1545530"/>
            <a:ext cx="5168900" cy="3548459"/>
          </a:xfrm>
          <a:prstGeom prst="roundRect">
            <a:avLst>
              <a:gd name="adj" fmla="val 3400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89700" y="1780480"/>
            <a:ext cx="473532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4530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Istiqbollar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89700" y="2224980"/>
            <a:ext cx="4735322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B4530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</a:t>
            </a:r>
            <a:r>
              <a:rPr lang="en-US" sz="16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Android va iOS ilovalari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89700" y="2628801"/>
            <a:ext cx="4735322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B4530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</a:t>
            </a:r>
            <a:r>
              <a:rPr lang="en-US" sz="16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Push-bildirishnomalar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89700" y="3032621"/>
            <a:ext cx="4735322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B4530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</a:t>
            </a:r>
            <a:r>
              <a:rPr lang="en-US" sz="16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Ovozli va video qo‘ng‘iroqlar (WebRTC)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89700" y="3436441"/>
            <a:ext cx="4735322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B4530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</a:t>
            </a:r>
            <a:r>
              <a:rPr lang="en-US" sz="1600" b="1" dirty="0">
                <a:solidFill>
                  <a:srgbClr val="1016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Kanallar va botlar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4304" y="5379740"/>
            <a:ext cx="10883392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640"/>
              </a:lnSpc>
              <a:buNone/>
            </a:pPr>
            <a:r>
              <a:rPr lang="en-US" sz="2600" b="1" spc="-25" kern="0" dirty="0">
                <a:solidFill>
                  <a:srgbClr val="1D4E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E’tiboringiz uchun rahmat!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804400" y="6202759"/>
            <a:ext cx="15748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F6B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16 / 16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lliy chat — BMI himoyasi">
  <a:themeElements>
    <a:clrScheme name="Milliy chat — BMI himoyasi">
      <a:dk1>
        <a:srgbClr val="10162E"/>
      </a:dk1>
      <a:lt1>
        <a:srgbClr val="F5F7FB"/>
      </a:lt1>
      <a:dk2>
        <a:srgbClr val="494E61"/>
      </a:dk2>
      <a:lt2>
        <a:srgbClr val="DEE1E7"/>
      </a:lt2>
      <a:accent1>
        <a:srgbClr val="3D4868"/>
      </a:accent1>
      <a:accent2>
        <a:srgbClr val="5F6B8A"/>
      </a:accent2>
      <a:accent3>
        <a:srgbClr val="1D4ED8"/>
      </a:accent3>
      <a:accent4>
        <a:srgbClr val="2563EB"/>
      </a:accent4>
      <a:accent5>
        <a:srgbClr val="B45309"/>
      </a:accent5>
      <a:accent6>
        <a:srgbClr val="DB7612"/>
      </a:accent6>
      <a:hlink>
        <a:srgbClr val="0563C1"/>
      </a:hlink>
      <a:folHlink>
        <a:srgbClr val="954F72"/>
      </a:folHlink>
    </a:clrScheme>
    <a:fontScheme name="Milliy chat — BMI himoyasi">
      <a:majorFont>
        <a:latin typeface="Manrop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nrop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Milliy chat — BMI himoyasi</dc:title>
  <dc:subject/>
  <dc:creator/>
  <cp:lastModifiedBy/>
  <cp:revision>1</cp:revision>
  <dcterms:created xsi:type="dcterms:W3CDTF">2026-10-03T06:35:01Z</dcterms:created>
  <dcterms:modified xsi:type="dcterms:W3CDTF">2026-10-03T06:35:01Z</dcterms:modified>
</cp:coreProperties>
</file>