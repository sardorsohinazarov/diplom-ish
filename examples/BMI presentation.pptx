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75" r:id="rId3"/>
    <p:sldId id="258" r:id="rId4"/>
    <p:sldId id="273" r:id="rId5"/>
    <p:sldId id="259" r:id="rId6"/>
    <p:sldId id="260" r:id="rId7"/>
    <p:sldId id="281" r:id="rId8"/>
    <p:sldId id="282" r:id="rId9"/>
    <p:sldId id="261" r:id="rId10"/>
    <p:sldId id="262" r:id="rId11"/>
    <p:sldId id="263" r:id="rId12"/>
    <p:sldId id="264" r:id="rId13"/>
    <p:sldId id="265" r:id="rId14"/>
    <p:sldId id="266" r:id="rId15"/>
    <p:sldId id="268" r:id="rId16"/>
    <p:sldId id="269" r:id="rId17"/>
    <p:sldId id="283" r:id="rId18"/>
    <p:sldId id="270" r:id="rId19"/>
    <p:sldId id="276" r:id="rId20"/>
    <p:sldId id="277" r:id="rId21"/>
    <p:sldId id="278" r:id="rId22"/>
    <p:sldId id="279" r:id="rId23"/>
    <p:sldId id="280" r:id="rId24"/>
    <p:sldId id="284" r:id="rId25"/>
    <p:sldId id="272" r:id="rId26"/>
    <p:sldId id="271" r:id="rId27"/>
    <p:sldId id="274" r:id="rId2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16" autoAdjust="0"/>
    <p:restoredTop sz="94660"/>
  </p:normalViewPr>
  <p:slideViewPr>
    <p:cSldViewPr snapToGrid="0">
      <p:cViewPr varScale="1">
        <p:scale>
          <a:sx n="136" d="100"/>
          <a:sy n="136" d="100"/>
        </p:scale>
        <p:origin x="248" y="2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208933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051" name="Rectangle 3"/>
          <p:cNvSpPr>
            <a:spLocks noGrp="1" noChangeArrowheads="1"/>
          </p:cNvSpPr>
          <p:nvPr>
            <p:ph type="ctrTitle"/>
          </p:nvPr>
        </p:nvSpPr>
        <p:spPr>
          <a:xfrm>
            <a:off x="624417" y="1196975"/>
            <a:ext cx="10943167" cy="1082675"/>
          </a:xfrm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altLang="zh-CN" noProof="0"/>
              <a:t>Click to edit Master title style</a:t>
            </a:r>
          </a:p>
        </p:txBody>
      </p:sp>
      <p:sp>
        <p:nvSpPr>
          <p:cNvPr id="2052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626533" y="2422525"/>
            <a:ext cx="10949517" cy="1752600"/>
          </a:xfrm>
        </p:spPr>
        <p:txBody>
          <a:bodyPr/>
          <a:lstStyle>
            <a:lvl1pPr marL="0" indent="0" algn="ctr">
              <a:buFontTx/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altLang="zh-CN" noProof="0"/>
              <a:t>Click to edit Master subtitle style</a:t>
            </a:r>
          </a:p>
        </p:txBody>
      </p:sp>
      <p:sp>
        <p:nvSpPr>
          <p:cNvPr id="9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fld id="{48A87A34-81AB-432B-8DAE-1953F412C126}" type="datetimeFigureOut">
              <a:rPr lang="en-US" dirty="0"/>
              <a:t>10/8/25</a:t>
            </a:fld>
            <a:endParaRPr lang="en-US" dirty="0"/>
          </a:p>
        </p:txBody>
      </p:sp>
      <p:sp>
        <p:nvSpPr>
          <p:cNvPr id="10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endParaRPr lang="en-US" dirty="0"/>
          </a:p>
        </p:txBody>
      </p:sp>
      <p:sp>
        <p:nvSpPr>
          <p:cNvPr id="11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10/8/25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3"/>
            <a:ext cx="105156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10/8/25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174750"/>
            <a:ext cx="5384800" cy="4953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174750"/>
            <a:ext cx="5384800" cy="4953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10/8/25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0317" y="1681163"/>
            <a:ext cx="515831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0317" y="2505075"/>
            <a:ext cx="5158316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10/8/25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10/8/25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10/8/25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717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7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10/8/25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717" y="987425"/>
            <a:ext cx="6172200" cy="4873625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7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10/8/25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10/8/25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190500"/>
            <a:ext cx="2743200" cy="593725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190500"/>
            <a:ext cx="8026400" cy="59372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10/8/25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9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0" y="0"/>
            <a:ext cx="12208933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27" name="Rectangle 3"/>
          <p:cNvSpPr>
            <a:spLocks noGrp="1"/>
          </p:cNvSpPr>
          <p:nvPr>
            <p:ph type="title"/>
          </p:nvPr>
        </p:nvSpPr>
        <p:spPr>
          <a:xfrm>
            <a:off x="609600" y="190500"/>
            <a:ext cx="10972800" cy="582613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/>
          <a:p>
            <a:pPr lvl="0"/>
            <a:r>
              <a:rPr lang="en-US" altLang="zh-CN" dirty="0"/>
              <a:t>Click to edit Master title style</a:t>
            </a:r>
          </a:p>
        </p:txBody>
      </p:sp>
      <p:sp>
        <p:nvSpPr>
          <p:cNvPr id="1028" name="Rectangle 4"/>
          <p:cNvSpPr>
            <a:spLocks noGrp="1"/>
          </p:cNvSpPr>
          <p:nvPr>
            <p:ph type="body" idx="1"/>
          </p:nvPr>
        </p:nvSpPr>
        <p:spPr>
          <a:xfrm>
            <a:off x="609600" y="1174750"/>
            <a:ext cx="10972800" cy="49530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r>
              <a:rPr lang="en-US" altLang="zh-CN" dirty="0"/>
              <a:t>Click to edit Master text styles</a:t>
            </a:r>
          </a:p>
          <a:p>
            <a:pPr lvl="1"/>
            <a:r>
              <a:rPr lang="en-US" altLang="zh-CN" dirty="0"/>
              <a:t>Second level</a:t>
            </a:r>
          </a:p>
          <a:p>
            <a:pPr lvl="2"/>
            <a:r>
              <a:rPr lang="en-US" altLang="zh-CN" dirty="0"/>
              <a:t>Third level</a:t>
            </a:r>
          </a:p>
          <a:p>
            <a:pPr lvl="3"/>
            <a:r>
              <a:rPr lang="en-US" altLang="zh-CN" dirty="0"/>
              <a:t>Fourth level</a:t>
            </a:r>
          </a:p>
          <a:p>
            <a:pPr lvl="4"/>
            <a:r>
              <a:rPr lang="en-US" altLang="zh-CN" dirty="0"/>
              <a:t>Fifth level</a:t>
            </a: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 sz="1400"/>
            </a:lvl1pPr>
          </a:lstStyle>
          <a:p>
            <a:fld id="{48A87A34-81AB-432B-8DAE-1953F412C126}" type="datetimeFigureOut">
              <a:rPr lang="en-US" dirty="0"/>
              <a:t>10/8/25</a:t>
            </a:fld>
            <a:endParaRPr lang="en-US" dirty="0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/>
            </a:lvl1pPr>
          </a:lstStyle>
          <a:p>
            <a:endParaRPr lang="en-US" dirty="0"/>
          </a:p>
        </p:txBody>
      </p:sp>
      <p:sp>
        <p:nvSpPr>
          <p:cNvPr id="1031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/>
            </a:lvl1pPr>
          </a:lstStyle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rtl="0" fontAlgn="base">
        <a:spcBef>
          <a:spcPct val="0"/>
        </a:spcBef>
        <a:spcAft>
          <a:spcPct val="0"/>
        </a:spcAft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2pPr>
      <a:lvl3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3pPr>
      <a:lvl4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4pPr>
      <a:lvl5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4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hyperlink" Target="https://exambuilder.uz/" TargetMode="External"/><Relationship Id="rId2" Type="http://schemas.openxmlformats.org/officeDocument/2006/relationships/hyperlink" Target="https://www.w3schools.com/" TargetMode="Externa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876423" y="349623"/>
            <a:ext cx="8791575" cy="1909763"/>
          </a:xfrm>
        </p:spPr>
        <p:txBody>
          <a:bodyPr>
            <a:noAutofit/>
          </a:bodyPr>
          <a:lstStyle/>
          <a:p>
            <a:pPr algn="ctr"/>
            <a:r>
              <a:rPr lang="ms-MY" sz="24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O‘ZBEKISTON RESPUBLIKASI RAQAMLI</a:t>
            </a:r>
            <a:br>
              <a:rPr lang="ms-MY" sz="24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ms-MY" sz="24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TEXNALOGIYALRI VAZIRLIGI</a:t>
            </a:r>
            <a:br>
              <a:rPr lang="ru-RU" sz="24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ms-MY" sz="24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MUHAMMAD AL-XORAZIMIY NOMIDAGI TOSHKENT AXBOROT TEXNOLOGIYALARI UNIVERSITETI</a:t>
            </a:r>
            <a:br>
              <a:rPr lang="ru-RU" sz="24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“ATDT” KAFEDRASI</a:t>
            </a:r>
            <a:endParaRPr lang="en-US" sz="2400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876422" y="3295873"/>
            <a:ext cx="8791575" cy="996577"/>
          </a:xfrm>
        </p:spPr>
        <p:txBody>
          <a:bodyPr/>
          <a:lstStyle/>
          <a:p>
            <a:pPr algn="ctr"/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Mavzu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Z" sz="2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Nazorat biletlarini avtomatik generatsiya qilish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046880" y="2638324"/>
            <a:ext cx="609824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BITIRUV MALAKAVIY ISH</a:t>
            </a:r>
            <a:endParaRPr lang="ru-RU" sz="3200" dirty="0"/>
          </a:p>
        </p:txBody>
      </p:sp>
      <p:sp>
        <p:nvSpPr>
          <p:cNvPr id="7" name="TextBox 6"/>
          <p:cNvSpPr txBox="1"/>
          <p:nvPr/>
        </p:nvSpPr>
        <p:spPr>
          <a:xfrm>
            <a:off x="7220585" y="5324475"/>
            <a:ext cx="4163060" cy="9836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Bajaruvch</a:t>
            </a:r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Axlidinov</a:t>
            </a:r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Jamshidbek</a:t>
            </a:r>
            <a:b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Rahbar: </a:t>
            </a:r>
            <a:r>
              <a:rPr lang="uz-Latn-UZ" sz="2000" b="1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Saidrasulov Sh.N</a:t>
            </a:r>
            <a:endParaRPr lang="ru-RU" sz="2000" b="1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49A018-BC57-0512-22E5-E31A532B91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5514" y="1991762"/>
            <a:ext cx="7840300" cy="4372824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n-US" sz="1400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Hujjatda</a:t>
            </a:r>
            <a:r>
              <a:rPr lang="en-US" sz="1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respublika</a:t>
            </a:r>
            <a:r>
              <a:rPr lang="en-US" sz="1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tuman (</a:t>
            </a:r>
            <a:r>
              <a:rPr lang="en-US" sz="1400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shahar</a:t>
            </a:r>
            <a:r>
              <a:rPr lang="en-US" sz="1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sz="1400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larida</a:t>
            </a:r>
            <a:r>
              <a:rPr lang="en-US" sz="1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mavjud</a:t>
            </a:r>
            <a:r>
              <a:rPr lang="en-US" sz="1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umumta’lim</a:t>
            </a:r>
            <a:r>
              <a:rPr lang="en-US" sz="1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maktablari</a:t>
            </a:r>
            <a:r>
              <a:rPr lang="en-US" sz="1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negizida</a:t>
            </a:r>
            <a:r>
              <a:rPr lang="en-US" sz="1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informatika</a:t>
            </a:r>
            <a:r>
              <a:rPr lang="en-US" sz="1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sz="1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</a:t>
            </a:r>
            <a:r>
              <a:rPr lang="ru-RU" sz="1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х</a:t>
            </a:r>
            <a:r>
              <a:rPr lang="en-US" sz="1400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borot</a:t>
            </a:r>
            <a:r>
              <a:rPr lang="en-US" sz="1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te</a:t>
            </a:r>
            <a:r>
              <a:rPr lang="ru-RU" sz="1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х</a:t>
            </a:r>
            <a:r>
              <a:rPr lang="en-US" sz="1400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nologiyalarini</a:t>
            </a:r>
            <a:r>
              <a:rPr lang="en-US" sz="1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chuqurlashtirib</a:t>
            </a:r>
            <a:r>
              <a:rPr lang="en-US" sz="1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oʻqitishga</a:t>
            </a:r>
            <a:r>
              <a:rPr lang="en-US" sz="1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ru-RU" sz="1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х</a:t>
            </a:r>
            <a:r>
              <a:rPr lang="en-US" sz="1400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tisoslashtirilgan</a:t>
            </a:r>
            <a:r>
              <a:rPr lang="en-US" sz="1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maktablar</a:t>
            </a:r>
            <a:r>
              <a:rPr lang="en-US" sz="1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sz="1400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keyingi</a:t>
            </a:r>
            <a:r>
              <a:rPr lang="en-US" sz="1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oʻrinlarda</a:t>
            </a:r>
            <a:r>
              <a:rPr lang="en-US" sz="1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  <a:r>
              <a:rPr lang="en-US" sz="1400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ru-RU" sz="1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х</a:t>
            </a:r>
            <a:r>
              <a:rPr lang="en-US" sz="1400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tisoslashtirilgan</a:t>
            </a:r>
            <a:r>
              <a:rPr lang="en-US" sz="1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maktablar</a:t>
            </a:r>
            <a:r>
              <a:rPr lang="en-US" sz="1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sz="1400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bosqichma-bosqich</a:t>
            </a:r>
            <a:r>
              <a:rPr lang="en-US" sz="1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tashkil</a:t>
            </a:r>
            <a:r>
              <a:rPr lang="en-US" sz="1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etilishi</a:t>
            </a:r>
            <a:r>
              <a:rPr lang="en-US" sz="1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nazarda</a:t>
            </a:r>
            <a:r>
              <a:rPr lang="en-US" sz="1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tutilgan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en-US" sz="1400" b="0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sz="1400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Ular</a:t>
            </a:r>
            <a:r>
              <a:rPr lang="en-US" sz="1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faoliyatining</a:t>
            </a:r>
            <a:r>
              <a:rPr lang="en-US" sz="1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asosiy</a:t>
            </a:r>
            <a:r>
              <a:rPr lang="en-US" sz="1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yoʻnalishlari</a:t>
            </a:r>
            <a:r>
              <a:rPr lang="en-US" sz="1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quyidagilar</a:t>
            </a:r>
            <a:r>
              <a:rPr lang="en-US" sz="1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etib</a:t>
            </a:r>
            <a:r>
              <a:rPr lang="en-US" sz="1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belgilangan</a:t>
            </a:r>
            <a:r>
              <a:rPr lang="en-US" sz="1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1400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ijodiy</a:t>
            </a:r>
            <a:r>
              <a:rPr lang="en-US" sz="1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rivojlanish</a:t>
            </a:r>
            <a:r>
              <a:rPr lang="en-US" sz="1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uchun</a:t>
            </a:r>
            <a:r>
              <a:rPr lang="en-US" sz="1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sharoitlar</a:t>
            </a:r>
            <a:r>
              <a:rPr lang="en-US" sz="1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yaratish</a:t>
            </a:r>
            <a:r>
              <a:rPr lang="en-US" sz="1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«Bir million </a:t>
            </a:r>
            <a:r>
              <a:rPr lang="en-US" sz="1400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dasturchi</a:t>
            </a:r>
            <a:r>
              <a:rPr lang="en-US" sz="1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» </a:t>
            </a:r>
            <a:r>
              <a:rPr lang="en-US" sz="1400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loyihasini</a:t>
            </a:r>
            <a:r>
              <a:rPr lang="en-US" sz="1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maktab</a:t>
            </a:r>
            <a:r>
              <a:rPr lang="en-US" sz="1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oʻquv</a:t>
            </a:r>
            <a:r>
              <a:rPr lang="en-US" sz="1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dasturlariga</a:t>
            </a:r>
            <a:r>
              <a:rPr lang="en-US" sz="1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integratsiya</a:t>
            </a:r>
            <a:r>
              <a:rPr lang="en-US" sz="1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qilish</a:t>
            </a:r>
            <a:r>
              <a:rPr lang="en-US" sz="1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orqali</a:t>
            </a:r>
            <a:r>
              <a:rPr lang="en-US" sz="1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oʻquvchilarga</a:t>
            </a:r>
            <a:r>
              <a:rPr lang="en-US" sz="1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</a:t>
            </a:r>
            <a:r>
              <a:rPr lang="ru-RU" sz="1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х</a:t>
            </a:r>
            <a:r>
              <a:rPr lang="en-US" sz="1400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borot</a:t>
            </a:r>
            <a:r>
              <a:rPr lang="en-US" sz="1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te</a:t>
            </a:r>
            <a:r>
              <a:rPr lang="ru-RU" sz="1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х</a:t>
            </a:r>
            <a:r>
              <a:rPr lang="en-US" sz="1400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nologiyalari</a:t>
            </a:r>
            <a:r>
              <a:rPr lang="en-US" sz="1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sz="1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kompyuterda</a:t>
            </a:r>
            <a:r>
              <a:rPr lang="en-US" sz="1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dasturlash</a:t>
            </a:r>
            <a:r>
              <a:rPr lang="en-US" sz="1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asoslarining</a:t>
            </a:r>
            <a:r>
              <a:rPr lang="en-US" sz="1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chuqur</a:t>
            </a:r>
            <a:r>
              <a:rPr lang="en-US" sz="1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oʻrgatilishini</a:t>
            </a:r>
            <a:r>
              <a:rPr lang="en-US" sz="1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tashkil</a:t>
            </a:r>
            <a:r>
              <a:rPr lang="en-US" sz="1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etish</a:t>
            </a:r>
            <a:r>
              <a:rPr lang="en-US" sz="1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1400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oʻquvchilarni</a:t>
            </a:r>
            <a:r>
              <a:rPr lang="en-US" sz="1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oʻqitish</a:t>
            </a:r>
            <a:r>
              <a:rPr lang="en-US" sz="1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sz="1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bilimlarini</a:t>
            </a:r>
            <a:r>
              <a:rPr lang="en-US" sz="1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baholashning</a:t>
            </a:r>
            <a:r>
              <a:rPr lang="en-US" sz="1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zamonaviy</a:t>
            </a:r>
            <a:r>
              <a:rPr lang="en-US" sz="1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uslublarini</a:t>
            </a:r>
            <a:r>
              <a:rPr lang="en-US" sz="1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joriy</a:t>
            </a:r>
            <a:r>
              <a:rPr lang="en-US" sz="1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qilish</a:t>
            </a:r>
            <a:r>
              <a:rPr lang="en-US" sz="1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400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raqamli</a:t>
            </a:r>
            <a:r>
              <a:rPr lang="en-US" sz="1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oʻquv</a:t>
            </a:r>
            <a:r>
              <a:rPr lang="en-US" sz="1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vositalari</a:t>
            </a:r>
            <a:r>
              <a:rPr lang="en-US" sz="1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sz="1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masofaviy</a:t>
            </a:r>
            <a:r>
              <a:rPr lang="en-US" sz="1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ta’lim</a:t>
            </a:r>
            <a:r>
              <a:rPr lang="en-US" sz="1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shaklini</a:t>
            </a:r>
            <a:r>
              <a:rPr lang="en-US" sz="1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keng</a:t>
            </a:r>
            <a:r>
              <a:rPr lang="en-US" sz="1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qoʻllash</a:t>
            </a:r>
            <a:r>
              <a:rPr lang="en-US" sz="1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400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shuningdek</a:t>
            </a:r>
            <a:r>
              <a:rPr lang="en-US" sz="1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ta’lim</a:t>
            </a:r>
            <a:r>
              <a:rPr lang="en-US" sz="1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jarayonini</a:t>
            </a:r>
            <a:r>
              <a:rPr lang="en-US" sz="1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umumiy</a:t>
            </a:r>
            <a:r>
              <a:rPr lang="en-US" sz="1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kasb</a:t>
            </a:r>
            <a:r>
              <a:rPr lang="en-US" sz="1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mahoratini</a:t>
            </a:r>
            <a:r>
              <a:rPr lang="en-US" sz="1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shakllantirishga</a:t>
            </a:r>
            <a:r>
              <a:rPr lang="en-US" sz="1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yoʻnaltirilgan</a:t>
            </a:r>
            <a:r>
              <a:rPr lang="en-US" sz="1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fanlararo</a:t>
            </a:r>
            <a:r>
              <a:rPr lang="en-US" sz="1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modullardan</a:t>
            </a:r>
            <a:r>
              <a:rPr lang="en-US" sz="1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foydalangan</a:t>
            </a:r>
            <a:r>
              <a:rPr lang="en-US" sz="1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holda</a:t>
            </a:r>
            <a:r>
              <a:rPr lang="en-US" sz="1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tashkil</a:t>
            </a:r>
            <a:r>
              <a:rPr lang="en-US" sz="1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etish</a:t>
            </a:r>
            <a:r>
              <a:rPr lang="en-US" sz="1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1400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oʻquv</a:t>
            </a:r>
            <a:r>
              <a:rPr lang="en-US" sz="1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dasturlarining</a:t>
            </a:r>
            <a:r>
              <a:rPr lang="en-US" sz="1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raqamli</a:t>
            </a:r>
            <a:r>
              <a:rPr lang="en-US" sz="1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iqtisodiyot</a:t>
            </a:r>
            <a:r>
              <a:rPr lang="en-US" sz="1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talablariga</a:t>
            </a:r>
            <a:r>
              <a:rPr lang="en-US" sz="1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moslashishini</a:t>
            </a:r>
            <a:r>
              <a:rPr lang="en-US" sz="1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ta’minlash</a:t>
            </a:r>
            <a:r>
              <a:rPr lang="en-US" sz="1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sz="1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bu</a:t>
            </a:r>
            <a:r>
              <a:rPr lang="en-US" sz="1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borada</a:t>
            </a:r>
            <a:r>
              <a:rPr lang="en-US" sz="1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ta’lim</a:t>
            </a:r>
            <a:r>
              <a:rPr lang="en-US" sz="1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hamda</a:t>
            </a:r>
            <a:r>
              <a:rPr lang="en-US" sz="1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ilmiy-tadqiqot</a:t>
            </a:r>
            <a:r>
              <a:rPr lang="en-US" sz="1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muassasalari</a:t>
            </a:r>
            <a:r>
              <a:rPr lang="en-US" sz="1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400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davlat</a:t>
            </a:r>
            <a:r>
              <a:rPr lang="en-US" sz="1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idoralari</a:t>
            </a:r>
            <a:r>
              <a:rPr lang="en-US" sz="1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sz="1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tarmoq</a:t>
            </a:r>
            <a:r>
              <a:rPr lang="en-US" sz="1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kor</a:t>
            </a:r>
            <a:r>
              <a:rPr lang="ru-RU" sz="1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х</a:t>
            </a:r>
            <a:r>
              <a:rPr lang="en-US" sz="1400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onalari</a:t>
            </a:r>
            <a:r>
              <a:rPr lang="en-US" sz="1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bilan</a:t>
            </a:r>
            <a:r>
              <a:rPr lang="en-US" sz="1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hamkorlikni</a:t>
            </a:r>
            <a:r>
              <a:rPr lang="en-US" sz="1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rivojlantirish</a:t>
            </a:r>
            <a:r>
              <a:rPr lang="en-US" sz="1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1400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oʻquvchilarning</a:t>
            </a:r>
            <a:r>
              <a:rPr lang="en-US" sz="1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Dasturiy</a:t>
            </a:r>
            <a:r>
              <a:rPr lang="en-US" sz="1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mahsulotlar</a:t>
            </a:r>
            <a:r>
              <a:rPr lang="en-US" sz="1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sz="1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</a:t>
            </a:r>
            <a:r>
              <a:rPr lang="ru-RU" sz="1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х</a:t>
            </a:r>
            <a:r>
              <a:rPr lang="en-US" sz="1400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borot</a:t>
            </a:r>
            <a:r>
              <a:rPr lang="en-US" sz="1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te</a:t>
            </a:r>
            <a:r>
              <a:rPr lang="ru-RU" sz="1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х</a:t>
            </a:r>
            <a:r>
              <a:rPr lang="en-US" sz="1400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nologiyalari</a:t>
            </a:r>
            <a:r>
              <a:rPr lang="en-US" sz="1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te</a:t>
            </a:r>
            <a:r>
              <a:rPr lang="ru-RU" sz="1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х</a:t>
            </a:r>
            <a:r>
              <a:rPr lang="en-US" sz="1400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nologik</a:t>
            </a:r>
            <a:r>
              <a:rPr lang="en-US" sz="1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parki</a:t>
            </a:r>
            <a:r>
              <a:rPr lang="en-US" sz="1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sz="1400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keyingi</a:t>
            </a:r>
            <a:r>
              <a:rPr lang="en-US" sz="1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oʻrinlarda</a:t>
            </a:r>
            <a:r>
              <a:rPr lang="en-US" sz="1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– IT-park) </a:t>
            </a:r>
            <a:r>
              <a:rPr lang="en-US" sz="1400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rezidentlari</a:t>
            </a:r>
            <a:r>
              <a:rPr lang="en-US" sz="1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faoliyati</a:t>
            </a:r>
            <a:r>
              <a:rPr lang="en-US" sz="1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bilan</a:t>
            </a:r>
            <a:r>
              <a:rPr lang="en-US" sz="1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yaqindan</a:t>
            </a:r>
            <a:r>
              <a:rPr lang="en-US" sz="1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tanishishi</a:t>
            </a:r>
            <a:r>
              <a:rPr lang="en-US" sz="1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uchun</a:t>
            </a:r>
            <a:r>
              <a:rPr lang="en-US" sz="1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sharoitlar</a:t>
            </a:r>
            <a:r>
              <a:rPr lang="en-US" sz="1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yaratish</a:t>
            </a:r>
            <a:r>
              <a:rPr lang="en-US" sz="1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400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ularning</a:t>
            </a:r>
            <a:r>
              <a:rPr lang="en-US" sz="1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ushbu</a:t>
            </a:r>
            <a:r>
              <a:rPr lang="en-US" sz="1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yoʻnalishga</a:t>
            </a:r>
            <a:r>
              <a:rPr lang="en-US" sz="1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qiziqishini</a:t>
            </a:r>
            <a:r>
              <a:rPr lang="en-US" sz="1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oshirish</a:t>
            </a:r>
            <a:r>
              <a:rPr lang="en-US" sz="1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A7E8657F-2CE9-7C9A-F4F3-32E5BD999216}"/>
              </a:ext>
            </a:extLst>
          </p:cNvPr>
          <p:cNvSpPr txBox="1">
            <a:spLocks/>
          </p:cNvSpPr>
          <p:nvPr/>
        </p:nvSpPr>
        <p:spPr>
          <a:xfrm>
            <a:off x="812921" y="444882"/>
            <a:ext cx="10131425" cy="1355638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 cap="all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US" sz="16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ru-RU" sz="16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х</a:t>
            </a:r>
            <a:r>
              <a:rPr lang="en-US" sz="1600" b="1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borot</a:t>
            </a:r>
            <a:r>
              <a:rPr lang="en-US" sz="16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1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te</a:t>
            </a:r>
            <a:r>
              <a:rPr lang="ru-RU" sz="16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х</a:t>
            </a:r>
            <a:r>
              <a:rPr lang="en-US" sz="1600" b="1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nologiyalari</a:t>
            </a:r>
            <a:r>
              <a:rPr lang="en-US" sz="16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1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sohasida</a:t>
            </a:r>
            <a:r>
              <a:rPr lang="en-US" sz="16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1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ta’lim</a:t>
            </a:r>
            <a:r>
              <a:rPr lang="en-US" sz="16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1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tizimini</a:t>
            </a:r>
            <a:r>
              <a:rPr lang="en-US" sz="16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1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yanada</a:t>
            </a:r>
            <a:r>
              <a:rPr lang="en-US" sz="16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1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takomillashtirish</a:t>
            </a:r>
            <a:r>
              <a:rPr lang="en-US" sz="16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600" b="1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ilmiy</a:t>
            </a:r>
            <a:r>
              <a:rPr lang="en-US" sz="16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1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tadqiqotlarni</a:t>
            </a:r>
            <a:r>
              <a:rPr lang="en-US" sz="16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1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rivojlantirish</a:t>
            </a:r>
            <a:r>
              <a:rPr lang="en-US" sz="16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1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sz="16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1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ularni</a:t>
            </a:r>
            <a:r>
              <a:rPr lang="en-US" sz="16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IT-</a:t>
            </a:r>
            <a:r>
              <a:rPr lang="en-US" sz="1600" b="1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industriya</a:t>
            </a:r>
            <a:r>
              <a:rPr lang="en-US" sz="16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1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bilan</a:t>
            </a:r>
            <a:r>
              <a:rPr lang="en-US" sz="16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1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integratsiya</a:t>
            </a:r>
            <a:r>
              <a:rPr lang="en-US" sz="16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1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qilish</a:t>
            </a:r>
            <a:r>
              <a:rPr lang="en-US" sz="16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1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chora-tadbirlari</a:t>
            </a:r>
            <a:r>
              <a:rPr lang="en-US" sz="16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1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toʻgʻrisida</a:t>
            </a:r>
            <a:r>
              <a:rPr lang="en-US" sz="16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algn="ctr"/>
            <a:endParaRPr lang="en-US" sz="1600" b="1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1400" b="0" i="0" dirty="0" err="1">
                <a:solidFill>
                  <a:srgbClr val="212529"/>
                </a:solidFill>
                <a:effectLst/>
                <a:latin typeface="Montserrat" pitchFamily="2" charset="77"/>
              </a:rPr>
              <a:t>O‘zbekiston</a:t>
            </a:r>
            <a:r>
              <a:rPr lang="en-US" sz="1400" b="0" i="0" dirty="0">
                <a:solidFill>
                  <a:srgbClr val="212529"/>
                </a:solidFill>
                <a:effectLst/>
                <a:latin typeface="Montserrat" pitchFamily="2" charset="77"/>
              </a:rPr>
              <a:t> </a:t>
            </a:r>
            <a:r>
              <a:rPr lang="en-US" sz="1400" b="0" i="0" dirty="0" err="1">
                <a:solidFill>
                  <a:srgbClr val="212529"/>
                </a:solidFill>
                <a:effectLst/>
                <a:latin typeface="Montserrat" pitchFamily="2" charset="77"/>
              </a:rPr>
              <a:t>Respublikasi</a:t>
            </a:r>
            <a:r>
              <a:rPr lang="en-US" sz="1400" b="0" i="0" dirty="0">
                <a:solidFill>
                  <a:srgbClr val="212529"/>
                </a:solidFill>
                <a:effectLst/>
                <a:latin typeface="Montserrat" pitchFamily="2" charset="77"/>
              </a:rPr>
              <a:t> </a:t>
            </a:r>
            <a:r>
              <a:rPr lang="en-US" sz="1400" b="0" i="0" dirty="0" err="1">
                <a:solidFill>
                  <a:srgbClr val="212529"/>
                </a:solidFill>
                <a:effectLst/>
                <a:latin typeface="Montserrat" pitchFamily="2" charset="77"/>
              </a:rPr>
              <a:t>Prezidentining</a:t>
            </a:r>
            <a:r>
              <a:rPr lang="en-US" sz="1400" b="0" i="0" dirty="0">
                <a:solidFill>
                  <a:srgbClr val="212529"/>
                </a:solidFill>
                <a:effectLst/>
                <a:latin typeface="Montserrat" pitchFamily="2" charset="77"/>
              </a:rPr>
              <a:t> </a:t>
            </a:r>
            <a:r>
              <a:rPr lang="en-US" sz="1400" b="0" i="0" dirty="0" err="1">
                <a:solidFill>
                  <a:srgbClr val="212529"/>
                </a:solidFill>
                <a:effectLst/>
                <a:latin typeface="Montserrat" pitchFamily="2" charset="77"/>
              </a:rPr>
              <a:t>qarori</a:t>
            </a:r>
            <a:r>
              <a:rPr lang="en-US" sz="1400" b="0" i="0" dirty="0">
                <a:solidFill>
                  <a:srgbClr val="212529"/>
                </a:solidFill>
                <a:effectLst/>
                <a:latin typeface="Montserrat" pitchFamily="2" charset="77"/>
              </a:rPr>
              <a:t>, 06.10.2020 </a:t>
            </a:r>
            <a:r>
              <a:rPr lang="en-US" sz="1400" b="0" i="0" dirty="0" err="1">
                <a:solidFill>
                  <a:srgbClr val="212529"/>
                </a:solidFill>
                <a:effectLst/>
                <a:latin typeface="Montserrat" pitchFamily="2" charset="77"/>
              </a:rPr>
              <a:t>yildagi</a:t>
            </a:r>
            <a:r>
              <a:rPr lang="en-US" sz="1400" b="0" i="0" dirty="0">
                <a:solidFill>
                  <a:srgbClr val="212529"/>
                </a:solidFill>
                <a:effectLst/>
                <a:latin typeface="Montserrat" pitchFamily="2" charset="77"/>
              </a:rPr>
              <a:t> PQ-4851-son</a:t>
            </a:r>
            <a:b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Z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4F9F45F-9B36-D91D-4B6B-573303562D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16426" y="2157289"/>
            <a:ext cx="3150060" cy="37703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09490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CF3A0D-CCF0-C8A7-6E3B-69C7D0A074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3085" y="307817"/>
            <a:ext cx="11090495" cy="6373640"/>
          </a:xfrm>
        </p:spPr>
        <p:txBody>
          <a:bodyPr>
            <a:noAutofit/>
          </a:bodyPr>
          <a:lstStyle/>
          <a:p>
            <a:pPr marL="0" indent="0">
              <a:spcAft>
                <a:spcPts val="500"/>
              </a:spcAft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Dolzarbligi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spcAft>
                <a:spcPts val="500"/>
              </a:spcAft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Hozirgi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ta’lim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tizimida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o‘quv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jarayonini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raqamlashtirish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avtomatlashtirishga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bo‘lgan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ehtiyoj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ortib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bormoqda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Imtihon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biletlarini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qo‘lda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tayyorlash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ko‘p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vaqt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resurs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talab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qiladi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xatolarga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yo‘l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qo‘yilish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ehtimoli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yuqori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bo‘ladi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ExamBuilder.uz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platformasi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orqali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bu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jarayonni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avtomatlashtirish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samarali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tez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sifatli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biletlar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tayyorlash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imkoniyati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yaratiladi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Ayniqsa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o‘qituvchilar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uchun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bu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vosita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oraliq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yakuniy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imtihonlarni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tashkil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etishda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qulaylik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yaratadi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>
              <a:spcAft>
                <a:spcPts val="500"/>
              </a:spcAft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Afzalliklari</a:t>
            </a: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Aft>
                <a:spcPts val="500"/>
              </a:spcAft>
              <a:buFont typeface="Wingdings" pitchFamily="2" charset="2"/>
              <a:buChar char="v"/>
            </a:pPr>
            <a:r>
              <a:rPr lang="en-UZ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Vaqtni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tejaydi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Savollarni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tezda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kiritish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avtomatik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biletlar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yaratish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orqali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o‘qituvchining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vaqtini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sezilarli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darajada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tejaydi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spcAft>
                <a:spcPts val="500"/>
              </a:spcAft>
              <a:buFont typeface="Wingdings" pitchFamily="2" charset="2"/>
              <a:buChar char="v"/>
            </a:pPr>
            <a:r>
              <a:rPr lang="en-UZ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PDF/Word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formatida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yuklab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olish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Tayyorlangan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biletlarni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PDF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yoki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Word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formatida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yuklab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olish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mumkin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bu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esa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chop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etish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ulashishda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yengillik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yaratadi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spcAft>
                <a:spcPts val="500"/>
              </a:spcAft>
              <a:buFont typeface="Wingdings" pitchFamily="2" charset="2"/>
              <a:buChar char="v"/>
            </a:pPr>
            <a:r>
              <a:rPr lang="en-UZ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Qulay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interfeys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Foydalanuvchilarga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qulay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tushunarli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dizayn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orqali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har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kim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osongina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foydalanishi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mumkin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spcAft>
                <a:spcPts val="500"/>
              </a:spcAft>
              <a:buFont typeface="Wingdings" pitchFamily="2" charset="2"/>
              <a:buChar char="v"/>
            </a:pPr>
            <a:r>
              <a:rPr lang="en-UZ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Moslashuvchanlik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Har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xil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fanlar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bosqichlarga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tarzda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savollar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yaratish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mumkin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spcAft>
                <a:spcPts val="500"/>
              </a:spcAft>
              <a:buFont typeface="Wingdings" pitchFamily="2" charset="2"/>
              <a:buChar char="v"/>
            </a:pPr>
            <a:r>
              <a:rPr lang="en-UZ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Xatolarni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kamaytirish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Avtomatlashtirilgan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tizim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orqali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takroriy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yoki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noto‘g‘ri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savollar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soni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kamayadi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>
              <a:spcAft>
                <a:spcPts val="500"/>
              </a:spcAft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124371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>
            <a:extLst>
              <a:ext uri="{FF2B5EF4-FFF2-40B4-BE49-F238E27FC236}">
                <a16:creationId xmlns:a16="http://schemas.microsoft.com/office/drawing/2014/main" id="{E4886C6B-100E-3AA9-ABB1-95C16F2EF4EE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6019" y="262136"/>
            <a:ext cx="10153345" cy="63337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691566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D0ADCB-6CC1-0FAD-7D53-13B38699C5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3786" y="193963"/>
            <a:ext cx="10354684" cy="1257765"/>
          </a:xfrm>
        </p:spPr>
        <p:txBody>
          <a:bodyPr>
            <a:normAutofit/>
          </a:bodyPr>
          <a:lstStyle/>
          <a:p>
            <a:r>
              <a:rPr lang="en-US" sz="320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Loyiha</a:t>
            </a:r>
            <a:r>
              <a:rPr lang="en-US" sz="32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ishining</a:t>
            </a:r>
            <a:r>
              <a:rPr lang="en-US" sz="32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rivojlanish</a:t>
            </a:r>
            <a:r>
              <a:rPr lang="en-US" sz="32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bosqichlari</a:t>
            </a:r>
            <a:endParaRPr lang="en-UZ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7E4391-D368-3E12-AA34-89D4719695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7591" y="1357460"/>
            <a:ext cx="10870623" cy="5064122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Har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qanday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dasturiy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ta’minot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yoki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web-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ilova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ishlab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chiqilishi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aniq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bosqichlarga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bo‘linadi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Bu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bosqichlar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loyiha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sifatini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oshirish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xatolarni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kamaytirish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yakuniy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mahsulotni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samarali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yaratishda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muhim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rol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o‘ynaydi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ExamBuilder.uz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loyihasi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ham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quyidagi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rivojlanish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bosqichlaridan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o‘tdi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0" indent="0"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Talablarni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aniqlash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Avvalo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ta’lim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tizimida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imtihon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biletlarini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tayyorlash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jarayonida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uchraydigan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muammolar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o‘rganildi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O‘qituvchilar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bilan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suhbatlar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mavjud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usullar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tahlil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qilindi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Natijada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loyiha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oldiga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qo‘yilgan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asosiy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maqsad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imtihon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savollarini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avtomatlashtirilgan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tarzda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yaratish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ularni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PDF/Word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formatida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chop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etish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imkoniyatini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berish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bo‘ldi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Texnologiyalarni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tanlash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Loyihani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amalga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oshirish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uchun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PHP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dasturlash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tili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Yii2 framework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tanlandi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Bu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tanlovning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asosiy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sabablari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yuqori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unumdorlik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xavfsizlik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kengaytiriluvchanlik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ishlab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chiqish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tezligidir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Shuningdek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ma’lumotlar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bazasi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sifatida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MySQL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tanlandi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3598830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F98789-3101-6BDF-2C15-E3251007B7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8538" y="381001"/>
            <a:ext cx="9902535" cy="457200"/>
          </a:xfrm>
        </p:spPr>
        <p:txBody>
          <a:bodyPr>
            <a:normAutofit fontScale="90000"/>
          </a:bodyPr>
          <a:lstStyle/>
          <a:p>
            <a:r>
              <a:rPr lang="en-US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Loyiha</a:t>
            </a:r>
            <a:r>
              <a:rPr lang="en-US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ishining</a:t>
            </a:r>
            <a:r>
              <a:rPr lang="en-US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rivojlanish</a:t>
            </a:r>
            <a:r>
              <a:rPr lang="en-US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bosqichlari</a:t>
            </a:r>
            <a:endParaRPr lang="en-UZ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ED0340-6AD4-BDBA-AC47-89E9DCC30F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828" y="1026241"/>
            <a:ext cx="11279129" cy="538398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Arxitektura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dizayn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bosqichi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Ilovaning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umumiy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arxitekturasi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MVC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modeli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asosida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rejalashtirildi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Foydalanuvchi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interfeysi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sodda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qulay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tushunarli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tarzda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ishlab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chiqilishi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belgilandi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Bunda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har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bir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modul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savollarni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qo‘shish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bilet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yaratish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yuklab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olish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h.k.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alohida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ko‘rib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chiqildi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Dasturlash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bosqichi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Loyihaning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asosiy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funksiyalari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kod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orqali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yozildi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Yii2 framework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imkoniyatlaridan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foydalanib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CRUD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operatsiyalari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avtomatlashtirildi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ActiveRecord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orqali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ma’lumotlar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bazasi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bilan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ishlash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soddalashtirildi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Biletlarni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yaratish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ularni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turli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formatlarda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saqlash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yuklab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olish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imkoniyati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dasturga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integratsiya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qilindi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Test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xatoliklarni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tuzatish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Yaratilgan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funksiyalar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turli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holatlarda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sinovdan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o‘tkazildi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Savollarning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to‘g‘ri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generatsiya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qilinishi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PDF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Word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formatida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hujjatlarning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to‘g‘ri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shakllanishi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foydalanuvchi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interfeysi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qulayligi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test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qilindi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Aniqlangan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kamchiliklar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bartaraf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etildi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6.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Yakuniy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natija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joriy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etish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Loyiha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muvaffaqiyatli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tarzda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ishga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tushirildi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Natijada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o‘qituvchilar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uchun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imtihon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savollarini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tez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sifatli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avtomatlashtirilgan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tarzda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yaratish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imkoniyatini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beruvchi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qulay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web-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platforma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ishlab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chiqildi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9946688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263680-9A77-D273-2CA9-5107D606BF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0643" y="223102"/>
            <a:ext cx="10131425" cy="465055"/>
          </a:xfrm>
        </p:spPr>
        <p:txBody>
          <a:bodyPr>
            <a:normAutofit fontScale="90000"/>
          </a:bodyPr>
          <a:lstStyle/>
          <a:p>
            <a:pPr algn="ctr"/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Nima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uchun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PHP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Yii2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tanlandi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endParaRPr lang="en-UZ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CD430D-88D4-D40E-BCEB-7C8FEA3D89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587605"/>
            <a:ext cx="10946875" cy="618712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Loyihani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ishlab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chiqishda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dasturlash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tili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framework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tanlovi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juda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muhim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ahamiyatga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ega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Tanlangan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texnologiya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loyiha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samaradorligi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tezkorligi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kengaytirilish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imkoniyatlariga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bevosita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ta’sir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ko‘rsatadi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Shu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sababli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ExamBuilder.uz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loyihasini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yaratishda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PHP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dasturlash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tili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Yii2 framework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tanlandi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 algn="ctr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PHP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ni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tanlash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sabablari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>
              <a:buFont typeface="+mj-lt"/>
              <a:buAutoNum type="arabicPeriod"/>
            </a:pPr>
            <a:r>
              <a:rPr lang="en-UZ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Ommabop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keng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qo‘llaniladi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PHP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dunyo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bo‘yicha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millionlab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saytlar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web-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ilovalarda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ishlatiladi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WordPress, Facebook (ilk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bosqichlarida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), Wikipedia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kabi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yirik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loyihalar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ham PHP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asosida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qurilgan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buFont typeface="+mj-lt"/>
              <a:buAutoNum type="arabicPeriod"/>
            </a:pPr>
            <a:r>
              <a:rPr lang="en-UZ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Server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tomonida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kuchli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imkoniyatlar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PHP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dinamik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veb-sahifalar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yaratishda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ma’lumotlar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bazasi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bilan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ishlashda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foydalanuvchi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bilan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o‘zaro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aloqada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samarali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ishlaydi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buFont typeface="+mj-lt"/>
              <a:buAutoNum type="arabicPeriod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Tezkor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rivojlanish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So‘nggi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versiyalarida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(PHP 7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PHP 8)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ishlash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tezligi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samaradorlik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sezilarli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darajada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oshirilgan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JIT(</a:t>
            </a:r>
            <a:r>
              <a:rPr lang="en-US" sz="200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just-in-time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kompilyatsiyasi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yangi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sintaktik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imkoniyatlar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qo‘shilgan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buFont typeface="+mj-lt"/>
              <a:buAutoNum type="arabicPeriod"/>
            </a:pPr>
            <a:r>
              <a:rPr lang="en-UZ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Keng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ekotizim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Kutubxonalar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paketlar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tayyor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yechimlar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juda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ko‘p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Bu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esa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loyiha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ishlab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chiqish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jarayonini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tezlashtiradi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buFont typeface="+mj-lt"/>
              <a:buAutoNum type="arabicPeriod"/>
            </a:pPr>
            <a:r>
              <a:rPr lang="en-UZ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Oson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o‘rganish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katta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hamjamiyat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PHP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dasturchilarining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global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hamjamiyati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katta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dokumentatsiya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qo‘llanmalar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keng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tarqalgan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9716906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263680-9A77-D273-2CA9-5107D606BF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0643" y="223102"/>
            <a:ext cx="10131425" cy="465055"/>
          </a:xfrm>
        </p:spPr>
        <p:txBody>
          <a:bodyPr>
            <a:normAutofit fontScale="90000"/>
          </a:bodyPr>
          <a:lstStyle/>
          <a:p>
            <a:pPr algn="ctr"/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Nima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uchun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PHP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Yii2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tanlandi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endParaRPr lang="en-UZ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CD430D-88D4-D40E-BCEB-7C8FEA3D89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587605"/>
            <a:ext cx="10946875" cy="6187125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Yii2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ni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tanlash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sabablari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>
              <a:buFont typeface="+mj-lt"/>
              <a:buAutoNum type="arabicPeriod"/>
            </a:pPr>
            <a:r>
              <a:rPr lang="en-UZ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MVC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arxitekturasi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Yii2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an’anaviy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Model-View-Controller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arxitekturasi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asosida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qurilgan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bo‘lib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kodni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tartibli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boshqarilishi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oson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qiladi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buFont typeface="+mj-lt"/>
              <a:buAutoNum type="arabicPeriod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CRUD generator (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Gii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moduli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yordamida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ma’lumotlar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bazasi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asosida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avtomatik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CRUD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operatsiyalarini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yaratish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mumkin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bu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esa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ishlab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chiqish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jarayonini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tezlashtiradi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buFont typeface="+mj-lt"/>
              <a:buAutoNum type="arabicPeriod"/>
            </a:pPr>
            <a:r>
              <a:rPr lang="en-UZ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Xavfsizlik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Yii2’da CSRF, XSS, SQL injection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kabi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hujumlardan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himoya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qilish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uchun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kuchli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xavfsizlik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mexanizmlari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mavjud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buFont typeface="+mj-lt"/>
              <a:buAutoNum type="arabicPeriod"/>
            </a:pPr>
            <a:r>
              <a:rPr lang="en-UZ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RESTful API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qo‘llab-quvvatlashi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Zamonaviy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web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mobil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ilovalar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uchun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API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yaratishda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tayyor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vositalar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taklif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qiladi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buFont typeface="+mj-lt"/>
              <a:buAutoNum type="arabicPeriod"/>
            </a:pPr>
            <a:r>
              <a:rPr lang="en-UZ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ActiveRecord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ORM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Ma’lumotlar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bazasi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bilan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ishlashni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soddalashtiradi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SQL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yozmasdan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obyektlar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orqali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boshqarish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imkonini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beradi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buFont typeface="+mj-lt"/>
              <a:buAutoNum type="arabicPeriod"/>
            </a:pPr>
            <a:r>
              <a:rPr lang="en-UZ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Unumdorlik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kengaytiriluvchanlik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Yii2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yuqori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tezlik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samaradorlikka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ega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bo‘lib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turli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o‘lchamdagi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loyihalar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uchun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keladi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buFont typeface="+mj-lt"/>
              <a:buAutoNum type="arabicPeriod"/>
            </a:pPr>
            <a:r>
              <a:rPr lang="en-UZ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Katta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hamjamiyat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hujjatlar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Yii2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ochiq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manba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(open-source)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bo‘lgani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uchun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keng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qo‘llaniladi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muntazam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ravishda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yangilanadi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995373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4EC2D8-89EF-E298-4A5C-21C80DEB9A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8069" y="482619"/>
            <a:ext cx="10972800" cy="582613"/>
          </a:xfrm>
        </p:spPr>
        <p:txBody>
          <a:bodyPr>
            <a:normAutofit fontScale="90000"/>
          </a:bodyPr>
          <a:lstStyle/>
          <a:p>
            <a:r>
              <a:rPr lang="en-US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Yii2 </a:t>
            </a:r>
            <a:r>
              <a:rPr lang="en-US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frameworki</a:t>
            </a:r>
            <a:r>
              <a:rPr lang="en-US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orqali</a:t>
            </a:r>
            <a:r>
              <a:rPr lang="en-US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yozilgan</a:t>
            </a:r>
            <a:r>
              <a:rPr lang="en-US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mashhur</a:t>
            </a:r>
            <a:r>
              <a:rPr lang="en-US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ilovalar</a:t>
            </a:r>
            <a:endParaRPr lang="en-UZ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C8EC7B-D50F-E8AD-FB06-02A4B6B649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8069" y="1441312"/>
            <a:ext cx="6926317" cy="105570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Daryo.uz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bu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O‘zbekistondagi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eng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mashhur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ommabop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onlayn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yangiliklar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sayti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hisoblanadi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Sayt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O‘zbekiston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dunyo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bo‘ylab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sodir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bo‘layotgan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dolzarb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voqealar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siyosiy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ijtimoiy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iqtisodiy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sport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madaniyatga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oid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yangiliklarni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tezkor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ishonchli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tarzda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yoritadi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AB74EDBE-6648-7D0A-0020-8630398F00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04692" y="1441312"/>
            <a:ext cx="2447126" cy="12235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C4564E8-F20F-33B1-2E21-1F8C3304B05E}"/>
              </a:ext>
            </a:extLst>
          </p:cNvPr>
          <p:cNvSpPr txBox="1"/>
          <p:nvPr/>
        </p:nvSpPr>
        <p:spPr>
          <a:xfrm>
            <a:off x="578069" y="2904382"/>
            <a:ext cx="6411309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Craft CMS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2013-yilda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AQShning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Pixel &amp; Tonic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kompaniyasi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tomonidan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ishlab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chiqilgan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PHP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dasturlash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tilida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Yii2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framework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asosida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yaratilgan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zamonaviy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moslashuvchan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kontent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boshqaruv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tizimi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(CMS)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bo‘lib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murakkab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maxsus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vebsaytlar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yaratish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uchun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ishlab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chiquvchilar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orasida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qo‘llaniladi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pic>
        <p:nvPicPr>
          <p:cNvPr id="1030" name="Picture 6" descr="How to Install Craft CMS in Few Simple Steps">
            <a:extLst>
              <a:ext uri="{FF2B5EF4-FFF2-40B4-BE49-F238E27FC236}">
                <a16:creationId xmlns:a16="http://schemas.microsoft.com/office/drawing/2014/main" id="{62DA8945-D43F-FD7A-3D14-DF439313C2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04692" y="3138766"/>
            <a:ext cx="2447126" cy="12855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D383986-CE28-5858-CD47-A11E018ED43C}"/>
              </a:ext>
            </a:extLst>
          </p:cNvPr>
          <p:cNvSpPr txBox="1"/>
          <p:nvPr/>
        </p:nvSpPr>
        <p:spPr>
          <a:xfrm>
            <a:off x="578069" y="4888835"/>
            <a:ext cx="6411308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LUYA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2016-yilda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Shveytsariyada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joylashgan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Zellbit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GmbH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kompaniyasi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tomonidan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ishlab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chiqilgan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PHP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dasturlash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tilida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yozilgan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Yii2 framework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asosida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qurilgan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ochiq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manbali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modulli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CMS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web framework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bo‘lib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tezkor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xavfsiz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moslashuvchan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veb-ilovalar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yaratish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uchun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mo‘ljallangan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Z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32" name="Picture 8" descr="LUYA - Company Profile - Tracxn">
            <a:extLst>
              <a:ext uri="{FF2B5EF4-FFF2-40B4-BE49-F238E27FC236}">
                <a16:creationId xmlns:a16="http://schemas.microsoft.com/office/drawing/2014/main" id="{4FAE98FA-3D8E-4BCC-96AA-471E0DB97A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04692" y="4888835"/>
            <a:ext cx="2448682" cy="12855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472977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F2EE7A-BE17-D926-F62C-A4F0278BE1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6760" y="307849"/>
            <a:ext cx="10698479" cy="1118616"/>
          </a:xfrm>
        </p:spPr>
        <p:txBody>
          <a:bodyPr>
            <a:noAutofit/>
          </a:bodyPr>
          <a:lstStyle/>
          <a:p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Nazorat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biletlarini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avtomatik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generatsiya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qilish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tizimini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ishlab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chiqish</a:t>
            </a:r>
            <a:endParaRPr lang="en-UZ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035235-887F-C1DE-6E6A-AA19760C16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1" y="1536193"/>
            <a:ext cx="10506455" cy="4837176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Nazorat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biletlarini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avtomatik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generatsiya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qilish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tizimi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asosan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o‘qituvchilar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uchun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ishlab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chiqilgan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bo‘lib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imtihon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savollarini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tez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samarali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ravishda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tayyorlash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imkonini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beradi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Bu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tizim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o‘qituvchiga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savollarni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belgilangan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mavzular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bo‘yicha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tasodifiy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tanlash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qiyinchilik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darajasini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sozlash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savollarni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turli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formatlarda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masalan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test,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yozma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yoki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mix)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yaratish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imkoniyatini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beradi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Tizim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o‘qituvchilarga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vaqtni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tejashda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yordam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beradi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chunki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biletlarni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qo‘lda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tayyorlashning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o‘rniga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ular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avtomatik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tarzda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ishlab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chiqiladi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Bundan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tashqari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biletlar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PDF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yoki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Word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formatlarida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eksport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qilinib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talabalar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uchun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qulay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shaklda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taqdim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etiladi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O‘qituvchi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tomonidan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belgilangan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parametrlar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asosida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tizim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yangi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savollar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qo‘shish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mavjud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savollarni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yangilash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imkonini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ta’minlaydi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shu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bilan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birga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har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bir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talabaga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turli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biletlar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taqdim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etilishi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mumkin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DevOps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CI/CD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jarayonlaridan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foydalanish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orqali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tizimning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avtomatik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yangilanishi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xatolarni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tezda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aniqlash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ham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amalga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oshiriladi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bu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esa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tizimni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yangilash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optimallashtirish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jarayonini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osonlashtiradi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Shunday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qilib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o‘qituvchilar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uchun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bu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tizim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nafaqat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vaqtni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tejaydi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balki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imtihonlar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sifatini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talabalar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tayyorligini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yaxshilashga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xizmat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qiladi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7813780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B20ED3-9F96-82B7-374F-9CECB10C6C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5" cy="762000"/>
          </a:xfrm>
        </p:spPr>
        <p:txBody>
          <a:bodyPr/>
          <a:lstStyle/>
          <a:p>
            <a:pPr algn="ctr"/>
            <a:r>
              <a:rPr lang="en-UZ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Login va Registratsiya oynasi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75563FA0-5900-2F5A-BDCD-599B56E6DD1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02338" y="1940513"/>
            <a:ext cx="2848749" cy="35276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909D88D-63C7-DF28-1F76-24EC81AC52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35096" y="1940513"/>
            <a:ext cx="2431507" cy="35276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E6B32C7-29CC-DD53-064A-B06D6D8A5B55}"/>
              </a:ext>
            </a:extLst>
          </p:cNvPr>
          <p:cNvSpPr txBox="1"/>
          <p:nvPr/>
        </p:nvSpPr>
        <p:spPr>
          <a:xfrm>
            <a:off x="1419684" y="5713214"/>
            <a:ext cx="8323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Z" dirty="0">
                <a:latin typeface="Times New Roman" panose="02020603050405020304" pitchFamily="18" charset="0"/>
                <a:cs typeface="Times New Roman" panose="02020603050405020304" pitchFamily="18" charset="0"/>
              </a:rPr>
              <a:t>1-rasm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59AF8BB-736E-9DDF-BDFF-C0205FF97DF3}"/>
              </a:ext>
            </a:extLst>
          </p:cNvPr>
          <p:cNvSpPr txBox="1"/>
          <p:nvPr/>
        </p:nvSpPr>
        <p:spPr>
          <a:xfrm>
            <a:off x="4234709" y="5684195"/>
            <a:ext cx="8322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Z" dirty="0">
                <a:latin typeface="Times New Roman" panose="02020603050405020304" pitchFamily="18" charset="0"/>
                <a:cs typeface="Times New Roman" panose="02020603050405020304" pitchFamily="18" charset="0"/>
              </a:rPr>
              <a:t>2-rasm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D415F97-6507-627F-070A-F8BEFC5E10C8}"/>
              </a:ext>
            </a:extLst>
          </p:cNvPr>
          <p:cNvSpPr txBox="1"/>
          <p:nvPr/>
        </p:nvSpPr>
        <p:spPr>
          <a:xfrm>
            <a:off x="6510528" y="1867361"/>
            <a:ext cx="447141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Z" dirty="0">
                <a:latin typeface="Times New Roman" panose="02020603050405020304" pitchFamily="18" charset="0"/>
                <a:cs typeface="Times New Roman" panose="02020603050405020304" pitchFamily="18" charset="0"/>
              </a:rPr>
              <a:t>1-rasm. Login va parol terilgandan so’ng, </a:t>
            </a:r>
          </a:p>
          <a:p>
            <a:r>
              <a:rPr lang="en-UZ" dirty="0">
                <a:latin typeface="Times New Roman" panose="02020603050405020304" pitchFamily="18" charset="0"/>
                <a:cs typeface="Times New Roman" panose="02020603050405020304" pitchFamily="18" charset="0"/>
              </a:rPr>
              <a:t>xatolik aniqlansa,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Z" dirty="0">
                <a:latin typeface="Times New Roman" panose="02020603050405020304" pitchFamily="18" charset="0"/>
                <a:cs typeface="Times New Roman" panose="02020603050405020304" pitchFamily="18" charset="0"/>
              </a:rPr>
              <a:t>otification chiqadi. Unda </a:t>
            </a:r>
          </a:p>
          <a:p>
            <a:r>
              <a:rPr lang="en-UZ" dirty="0">
                <a:latin typeface="Times New Roman" panose="02020603050405020304" pitchFamily="18" charset="0"/>
                <a:cs typeface="Times New Roman" panose="02020603050405020304" pitchFamily="18" charset="0"/>
              </a:rPr>
              <a:t>xatolikning sababi ko’rsatilib qo’yilgan bo’ladi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89F1E0D-BDCC-57E6-DB2B-E5283D64723C}"/>
              </a:ext>
            </a:extLst>
          </p:cNvPr>
          <p:cNvSpPr txBox="1"/>
          <p:nvPr/>
        </p:nvSpPr>
        <p:spPr>
          <a:xfrm>
            <a:off x="6510528" y="2967335"/>
            <a:ext cx="447141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Z" dirty="0">
                <a:latin typeface="Times New Roman" panose="02020603050405020304" pitchFamily="18" charset="0"/>
                <a:cs typeface="Times New Roman" panose="02020603050405020304" pitchFamily="18" charset="0"/>
              </a:rPr>
              <a:t>2-rasm. Berilgan fieldlar to’ldiriladi va ”Ro’yxatdan o’tish” tugmasi bosiladi. Kiritilgan malumotlarda xatolik aqnilansa bunda ham notification chiqadi.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1B2CD56-68DC-F81E-4B2F-614617F89955}"/>
              </a:ext>
            </a:extLst>
          </p:cNvPr>
          <p:cNvSpPr txBox="1"/>
          <p:nvPr/>
        </p:nvSpPr>
        <p:spPr>
          <a:xfrm>
            <a:off x="6510528" y="4344308"/>
            <a:ext cx="447141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Umumiy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xolatda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ikkisidan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ham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malumolar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to’g’ri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bo’lsa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user panel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yoki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admin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panelga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kirib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ketadi</a:t>
            </a:r>
            <a:endParaRPr lang="en-UZ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2413008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EBED35-8DBB-5DEE-56C9-7B855098F4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68717" y="609600"/>
            <a:ext cx="7548509" cy="1072055"/>
          </a:xfrm>
        </p:spPr>
        <p:txBody>
          <a:bodyPr/>
          <a:lstStyle/>
          <a:p>
            <a:r>
              <a:rPr lang="en-UZ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Dasturning asosiy menulari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3DF9D10-8A6A-2C1D-184B-6F4EF69416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38924" y="1681655"/>
            <a:ext cx="7317281" cy="3962400"/>
          </a:xfrm>
        </p:spPr>
        <p:txBody>
          <a:bodyPr>
            <a:normAutofit fontScale="62500" lnSpcReduction="20000"/>
          </a:bodyPr>
          <a:lstStyle/>
          <a:p>
            <a:r>
              <a:rPr lang="en-UZ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Users – Foydalanuvchilar bilan ishlash uchun mo’ljallangan</a:t>
            </a:r>
          </a:p>
          <a:p>
            <a:r>
              <a:rPr lang="en-UZ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Subjects – Bu fanlar</a:t>
            </a:r>
          </a:p>
          <a:p>
            <a:r>
              <a:rPr lang="en-UZ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types – Bu savollar turlari yoki mavzular</a:t>
            </a:r>
          </a:p>
          <a:p>
            <a:r>
              <a:rPr lang="en-UZ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– Bu bilet yaratish uchun mo’ljallangan malumotlar</a:t>
            </a:r>
          </a:p>
          <a:p>
            <a:r>
              <a:rPr lang="en-UZ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Universitities  - Bu bilet yaratishni ossonlashtirish uchun tayyor kitiligan universitetlar ro’yxati</a:t>
            </a:r>
          </a:p>
          <a:p>
            <a:r>
              <a:rPr lang="en-UZ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Cards – Bu bizga kerak bo’ladigan biletlar menusi</a:t>
            </a:r>
          </a:p>
          <a:p>
            <a:r>
              <a:rPr lang="en-UZ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File manager – Biletlar uchun yuklangan fayl va rasmlarni nazorat qilish oynasi.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Z" dirty="0">
                <a:latin typeface="Times New Roman" panose="02020603050405020304" pitchFamily="18" charset="0"/>
                <a:cs typeface="Times New Roman" panose="02020603050405020304" pitchFamily="18" charset="0"/>
              </a:rPr>
              <a:t>18 Messages – Bu saytni ko’p tillik qilish imkoniyatini beruvchi oyna</a:t>
            </a:r>
          </a:p>
          <a:p>
            <a:r>
              <a:rPr lang="en-UZ" dirty="0">
                <a:latin typeface="Times New Roman" panose="02020603050405020304" pitchFamily="18" charset="0"/>
                <a:cs typeface="Times New Roman" panose="02020603050405020304" pitchFamily="18" charset="0"/>
              </a:rPr>
              <a:t>Rbac configuration  - Rollar va ruxsatlar bilan ishlashga mo’ljallangan.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ED46B2A-C933-12F3-A1BD-0993B6C83C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9637" y="269027"/>
            <a:ext cx="2074033" cy="4892376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CFE86A8E-71E8-0743-1819-C8C84F8C94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3797" y="1462948"/>
            <a:ext cx="1957925" cy="469410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C4D385CE-41F9-F18C-F12C-2BD0C2C15B5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82412" y="2615620"/>
            <a:ext cx="2049737" cy="4892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677390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881B06-F6D9-859D-4D79-15EEA9E03A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31336" y="609600"/>
            <a:ext cx="5585889" cy="1135117"/>
          </a:xfrm>
        </p:spPr>
        <p:txBody>
          <a:bodyPr/>
          <a:lstStyle/>
          <a:p>
            <a:r>
              <a:rPr lang="en-UZ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Subjects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FC2E0650-FA3E-409C-5507-7DF97EC4AD4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85801" y="609600"/>
            <a:ext cx="4230743" cy="555997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27E48CB-54E3-CC90-E388-7AB2363EEB3B}"/>
              </a:ext>
            </a:extLst>
          </p:cNvPr>
          <p:cNvSpPr txBox="1"/>
          <p:nvPr/>
        </p:nvSpPr>
        <p:spPr>
          <a:xfrm>
            <a:off x="5360276" y="1902372"/>
            <a:ext cx="6442841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Z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Ko’rinib turgan oynadan fanlar ustida amallar bajarishimiz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mumkun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Fanlar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ro’yxatini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ko’rish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Fanlar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kitish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Taxrirlash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O’chirish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16754BB-4362-F1A6-14DE-7A8F58E7B9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29731" y="4368351"/>
            <a:ext cx="4625264" cy="18712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86042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881B06-F6D9-859D-4D79-15EEA9E03A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31336" y="609600"/>
            <a:ext cx="5585889" cy="1135117"/>
          </a:xfrm>
        </p:spPr>
        <p:txBody>
          <a:bodyPr/>
          <a:lstStyle/>
          <a:p>
            <a:r>
              <a:rPr lang="en-UZ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types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27E48CB-54E3-CC90-E388-7AB2363EEB3B}"/>
              </a:ext>
            </a:extLst>
          </p:cNvPr>
          <p:cNvSpPr txBox="1"/>
          <p:nvPr/>
        </p:nvSpPr>
        <p:spPr>
          <a:xfrm>
            <a:off x="5360276" y="1902372"/>
            <a:ext cx="5885793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Z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Ko’rinib turgan oynadan savol turlari ustida amallar bajarishimiz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mumkun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Savol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turlari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ro’yxatini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ko’rish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Savol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turlari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kitish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Taxrirlash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O’chirish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FE45E3D-3AB6-C509-3AFF-C746D0648C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1" y="572812"/>
            <a:ext cx="4199303" cy="5591504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51B15662-07E0-EC16-CDAB-04061440CD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60276" y="4210696"/>
            <a:ext cx="4589901" cy="2226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435942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881B06-F6D9-859D-4D79-15EEA9E03A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7422" y="609600"/>
            <a:ext cx="5309804" cy="1135117"/>
          </a:xfrm>
        </p:spPr>
        <p:txBody>
          <a:bodyPr/>
          <a:lstStyle/>
          <a:p>
            <a:r>
              <a:rPr lang="en-UZ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27E48CB-54E3-CC90-E388-7AB2363EEB3B}"/>
              </a:ext>
            </a:extLst>
          </p:cNvPr>
          <p:cNvSpPr txBox="1"/>
          <p:nvPr/>
        </p:nvSpPr>
        <p:spPr>
          <a:xfrm>
            <a:off x="5507422" y="1376855"/>
            <a:ext cx="6138041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Z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Ko’rinib turgan oynadan savollar ustida amallar bajarishimiz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mumkun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Savollar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ro’yxatini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ko’rish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Kiritish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Taxrirlash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O’chirish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Savollarni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excel dan import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qilish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imkoniyati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D2BB126-3417-BF4D-5B95-97EA32ED4B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4423" y="523084"/>
            <a:ext cx="4234762" cy="438519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321BA8D-B538-1C72-8F17-DCAD3EA7BE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4496" y="4262882"/>
            <a:ext cx="4835090" cy="1951766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71880164-985F-A956-0635-B83C0E85044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907" y="4262882"/>
            <a:ext cx="5529083" cy="19517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624858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EA79887-5E67-B7AD-0F7B-E3A63644A5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2" y="2175647"/>
            <a:ext cx="10419201" cy="392629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0B74849-D526-AA08-43FB-DDDFC4D333E5}"/>
              </a:ext>
            </a:extLst>
          </p:cNvPr>
          <p:cNvSpPr txBox="1"/>
          <p:nvPr/>
        </p:nvSpPr>
        <p:spPr>
          <a:xfrm>
            <a:off x="685802" y="870333"/>
            <a:ext cx="1033106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Z" dirty="0">
                <a:latin typeface="Times New Roman" panose="02020603050405020304" pitchFamily="18" charset="0"/>
                <a:cs typeface="Times New Roman" panose="02020603050405020304" pitchFamily="18" charset="0"/>
              </a:rPr>
              <a:t>	Card – orqali biz o’zimiz uchun kerak bo’lgan fandan biletlar yaratishimiz, o’zgartirishimiz, o’chirishimiz mumkun</a:t>
            </a:r>
          </a:p>
          <a:p>
            <a:r>
              <a:rPr lang="en-UZ" dirty="0">
                <a:latin typeface="Times New Roman" panose="02020603050405020304" pitchFamily="18" charset="0"/>
                <a:cs typeface="Times New Roman" panose="02020603050405020304" pitchFamily="18" charset="0"/>
              </a:rPr>
              <a:t>	Tayyor bo’lgan card malumotlarini wordga yuklab olishimiz mumkun bo’ladi</a:t>
            </a:r>
          </a:p>
        </p:txBody>
      </p:sp>
    </p:spTree>
    <p:extLst>
      <p:ext uri="{BB962C8B-B14F-4D97-AF65-F5344CB8AC3E}">
        <p14:creationId xmlns:p14="http://schemas.microsoft.com/office/powerpoint/2010/main" val="65765641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5DD6CD2F-A023-7CDF-F6EC-31B4E5BDF63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86217" y="90234"/>
            <a:ext cx="9026706" cy="66775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524090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4056F8BF-3700-7292-A06F-9D38D54A7FE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51796" y="643244"/>
            <a:ext cx="6764562" cy="549315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C139FC9-F559-BE85-27BD-440578936349}"/>
              </a:ext>
            </a:extLst>
          </p:cNvPr>
          <p:cNvSpPr txBox="1"/>
          <p:nvPr/>
        </p:nvSpPr>
        <p:spPr>
          <a:xfrm>
            <a:off x="7623672" y="654259"/>
            <a:ext cx="4153359" cy="17543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Z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Bitta card mavzusi uchun ko’rish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Z" dirty="0">
                <a:latin typeface="Times New Roman" panose="02020603050405020304" pitchFamily="18" charset="0"/>
                <a:cs typeface="Times New Roman" panose="02020603050405020304" pitchFamily="18" charset="0"/>
              </a:rPr>
              <a:t>ynasini ko’rishimiz mumkun!</a:t>
            </a:r>
          </a:p>
          <a:p>
            <a:r>
              <a:rPr lang="en-UZ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</a:p>
          <a:p>
            <a:r>
              <a:rPr lang="en-UZ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Download document – orqali barcha yaratilgan biletlarni yuklab olishimiz mumkun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0D37D5D-3F5E-DB7C-347F-E482A8176D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4258" y="2567837"/>
            <a:ext cx="3551082" cy="131443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22DA275-6747-C6BE-F75D-FB1C841BFE0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91186" y="4052535"/>
            <a:ext cx="4006255" cy="18525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41866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265D6B-A556-C96B-93C3-CFBEE79D9F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Z" dirty="0"/>
              <a:t>Test bo’limi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93905D9C-0DD6-13CC-E874-B70C6C0C488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85801" y="1630341"/>
            <a:ext cx="3111500" cy="21209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36F52F1-4CD8-291A-2BBE-C0DEF7B20AD3}"/>
              </a:ext>
            </a:extLst>
          </p:cNvPr>
          <p:cNvSpPr txBox="1"/>
          <p:nvPr/>
        </p:nvSpPr>
        <p:spPr>
          <a:xfrm>
            <a:off x="3888542" y="1554844"/>
            <a:ext cx="6642824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Z" sz="2400" dirty="0"/>
              <a:t>Bu bo’lim quyidagilardan iborat</a:t>
            </a:r>
          </a:p>
          <a:p>
            <a:pPr marL="342900" indent="-342900">
              <a:buAutoNum type="arabicPeriod"/>
            </a:pPr>
            <a:r>
              <a:rPr lang="en-UZ" sz="2400" dirty="0"/>
              <a:t>Qiyinchilik darajalari</a:t>
            </a:r>
          </a:p>
          <a:p>
            <a:pPr marL="342900" indent="-342900">
              <a:buAutoNum type="arabicPeriod"/>
            </a:pPr>
            <a:r>
              <a:rPr lang="en-UZ" sz="2400" dirty="0"/>
              <a:t>Fanlardan testlar</a:t>
            </a:r>
          </a:p>
          <a:p>
            <a:pPr marL="342900" indent="-342900">
              <a:buAutoNum type="arabicPeriod"/>
            </a:pPr>
            <a:r>
              <a:rPr lang="en-UZ" sz="2400" dirty="0"/>
              <a:t>Tarix – yechilgan testlar tarixi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07DFCD0-FF71-F6A8-A85C-598DB23E47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41551" y="3279150"/>
            <a:ext cx="9205974" cy="2969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510527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84C277-C331-1C65-909A-D6867EB641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5" cy="554182"/>
          </a:xfrm>
        </p:spPr>
        <p:txBody>
          <a:bodyPr>
            <a:normAutofit fontScale="90000"/>
          </a:bodyPr>
          <a:lstStyle/>
          <a:p>
            <a:r>
              <a:rPr lang="en-UZ" dirty="0"/>
              <a:t>Qiyinchilik darajalari va savollar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9A2CDFB-5C03-1AD1-20CA-B02CC9A522CE}"/>
              </a:ext>
            </a:extLst>
          </p:cNvPr>
          <p:cNvSpPr txBox="1"/>
          <p:nvPr/>
        </p:nvSpPr>
        <p:spPr>
          <a:xfrm>
            <a:off x="685801" y="1287086"/>
            <a:ext cx="13869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Z" dirty="0"/>
              <a:t>Kiritish qismi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4C5B575C-98B7-8ED3-72A5-8F5CF88C7D5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81877" y="1656418"/>
            <a:ext cx="3760100" cy="237093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7D13CF9-0D17-3CCF-7B8F-D2F78152D7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41672" y="1656418"/>
            <a:ext cx="7068451" cy="213281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44AB3F6B-CA32-9E0D-EFB5-0A011BBC3D66}"/>
              </a:ext>
            </a:extLst>
          </p:cNvPr>
          <p:cNvSpPr txBox="1"/>
          <p:nvPr/>
        </p:nvSpPr>
        <p:spPr>
          <a:xfrm>
            <a:off x="5309755" y="1287086"/>
            <a:ext cx="50894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Z" dirty="0"/>
              <a:t>Qiyinchilik darajasiga qarab kiritilgan savollar ro’yxati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0F666A9B-5645-0FBB-B800-EB1BE6D3B56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61192" y="3272517"/>
            <a:ext cx="6406263" cy="3256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181678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4F404F-4D10-9302-5A08-E3DF02BB18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5" cy="803564"/>
          </a:xfrm>
        </p:spPr>
        <p:txBody>
          <a:bodyPr/>
          <a:lstStyle/>
          <a:p>
            <a:r>
              <a:rPr lang="en-UZ" dirty="0"/>
              <a:t>Testlar bo’limi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1AC90B8-6F69-0ED8-E194-7302E31678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1" y="1619797"/>
            <a:ext cx="7910438" cy="229803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0746936-8DC2-0D40-EF48-A4A14C59AB74}"/>
              </a:ext>
            </a:extLst>
          </p:cNvPr>
          <p:cNvSpPr txBox="1"/>
          <p:nvPr/>
        </p:nvSpPr>
        <p:spPr>
          <a:xfrm>
            <a:off x="685801" y="1250465"/>
            <a:ext cx="14366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Z" dirty="0"/>
              <a:t>Testlar ro’xati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A2BD1DC-BADC-D5D3-AE01-895BF0A805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1" y="4084364"/>
            <a:ext cx="3545032" cy="229803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AB93219-6E5C-3FA1-856A-2892AB5665C0}"/>
              </a:ext>
            </a:extLst>
          </p:cNvPr>
          <p:cNvSpPr txBox="1"/>
          <p:nvPr/>
        </p:nvSpPr>
        <p:spPr>
          <a:xfrm>
            <a:off x="4572001" y="4084364"/>
            <a:ext cx="457199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Z" sz="2400" dirty="0"/>
              <a:t>Har bir test uchun qiyinchilik darajasi va savollar soni kiritilib chiqiladi.</a:t>
            </a:r>
          </a:p>
        </p:txBody>
      </p:sp>
    </p:spTree>
    <p:extLst>
      <p:ext uri="{BB962C8B-B14F-4D97-AF65-F5344CB8AC3E}">
        <p14:creationId xmlns:p14="http://schemas.microsoft.com/office/powerpoint/2010/main" val="27186326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83A2A3-3869-6290-0B0B-8DB4666735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616527"/>
          </a:xfrm>
        </p:spPr>
        <p:txBody>
          <a:bodyPr>
            <a:normAutofit fontScale="90000"/>
          </a:bodyPr>
          <a:lstStyle/>
          <a:p>
            <a:r>
              <a:rPr lang="en-UZ" dirty="0"/>
              <a:t>Test ishlash jarayoni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3F3064CA-2168-1A5A-16A3-D6FE80915BA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85801" y="1636342"/>
            <a:ext cx="6442364" cy="179265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983A0BD-CFD3-959D-D6BB-5807D0D162DA}"/>
              </a:ext>
            </a:extLst>
          </p:cNvPr>
          <p:cNvSpPr txBox="1"/>
          <p:nvPr/>
        </p:nvSpPr>
        <p:spPr>
          <a:xfrm>
            <a:off x="685801" y="1220310"/>
            <a:ext cx="42798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Z" dirty="0"/>
              <a:t>Savollar shu yerdnan boshlashimiz mumkun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C4B82B2-D301-DFAF-4F81-4F3B76174F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7369" y="3634332"/>
            <a:ext cx="6119994" cy="261406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CF30149-4D31-5916-A98F-FF7D9253AB69}"/>
              </a:ext>
            </a:extLst>
          </p:cNvPr>
          <p:cNvSpPr txBox="1"/>
          <p:nvPr/>
        </p:nvSpPr>
        <p:spPr>
          <a:xfrm>
            <a:off x="685801" y="3730336"/>
            <a:ext cx="339782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Z" dirty="0"/>
              <a:t>Har bir savolni o’tkazib ko’rishimiz  va shu yerdan javob berishimiz mumkun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03ACB5C-56B0-E99A-BBED-3347FC20362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65585" y="4413966"/>
            <a:ext cx="2120322" cy="202348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0589B6B-D8DA-0737-6244-228D05BD3E3B}"/>
              </a:ext>
            </a:extLst>
          </p:cNvPr>
          <p:cNvSpPr txBox="1"/>
          <p:nvPr/>
        </p:nvSpPr>
        <p:spPr>
          <a:xfrm>
            <a:off x="7471065" y="2067791"/>
            <a:ext cx="35433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Z" dirty="0"/>
              <a:t>Umumiy test uchun savollar sonidan kelib chiqib vaqt belgilanadi. Vaqt tugashi bilan test yakunlanadi</a:t>
            </a:r>
          </a:p>
        </p:txBody>
      </p:sp>
    </p:spTree>
    <p:extLst>
      <p:ext uri="{BB962C8B-B14F-4D97-AF65-F5344CB8AC3E}">
        <p14:creationId xmlns:p14="http://schemas.microsoft.com/office/powerpoint/2010/main" val="322775112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CD985A-28F7-EE63-A8B8-6AAF0E0145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5" cy="574964"/>
          </a:xfrm>
        </p:spPr>
        <p:txBody>
          <a:bodyPr>
            <a:normAutofit fontScale="90000"/>
          </a:bodyPr>
          <a:lstStyle/>
          <a:p>
            <a:r>
              <a:rPr lang="en-UZ" dirty="0"/>
              <a:t>Test natijasi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0DFF439-E11B-FD5B-5783-DA9CCE0663F9}"/>
              </a:ext>
            </a:extLst>
          </p:cNvPr>
          <p:cNvSpPr txBox="1"/>
          <p:nvPr/>
        </p:nvSpPr>
        <p:spPr>
          <a:xfrm>
            <a:off x="5122719" y="1289484"/>
            <a:ext cx="469669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Z" sz="2400" dirty="0"/>
              <a:t>Umumiy olingan bal</a:t>
            </a:r>
          </a:p>
          <a:p>
            <a:r>
              <a:rPr lang="en-UZ" sz="2400" dirty="0"/>
              <a:t>Qaysi savollarga to’g’ri, qaysilariga xato javob berganlarini ko’rishi va bilmagan savollariga qaytadan tayyorlanishi mumkun 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9A6FA004-7328-5227-CE2F-E3C576BD03C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85801" y="1289484"/>
            <a:ext cx="4073235" cy="366204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B875A6A-5F4F-9FC9-1598-C2044D5DD9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5153485"/>
            <a:ext cx="10252391" cy="1094914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83E116C1-B014-A8C6-0CF6-C17D113C4103}"/>
              </a:ext>
            </a:extLst>
          </p:cNvPr>
          <p:cNvSpPr txBox="1"/>
          <p:nvPr/>
        </p:nvSpPr>
        <p:spPr>
          <a:xfrm>
            <a:off x="5049982" y="4696691"/>
            <a:ext cx="47784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Z" dirty="0"/>
              <a:t>Hisory qismida, test ballarini ko’rishimiz mumkun</a:t>
            </a:r>
          </a:p>
        </p:txBody>
      </p:sp>
    </p:spTree>
    <p:extLst>
      <p:ext uri="{BB962C8B-B14F-4D97-AF65-F5344CB8AC3E}">
        <p14:creationId xmlns:p14="http://schemas.microsoft.com/office/powerpoint/2010/main" val="153214906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2B82C8CA-BC05-A72C-C728-CDAA974B92D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594" t="2524" r="5863" b="5140"/>
          <a:stretch/>
        </p:blipFill>
        <p:spPr bwMode="auto">
          <a:xfrm>
            <a:off x="3667027" y="104005"/>
            <a:ext cx="4537516" cy="6593427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265662155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3C136C-196F-1D1D-4068-115250DDFD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009881"/>
          </a:xfrm>
        </p:spPr>
        <p:txBody>
          <a:bodyPr/>
          <a:lstStyle/>
          <a:p>
            <a:r>
              <a:rPr lang="en-UZ" dirty="0">
                <a:latin typeface="Times New Roman" panose="02020603050405020304" pitchFamily="18" charset="0"/>
                <a:cs typeface="Times New Roman" panose="02020603050405020304" pitchFamily="18" charset="0"/>
              </a:rPr>
              <a:t>Xulosa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9FAF90-FC0C-B72A-D623-CD9424A74F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1" y="1619481"/>
            <a:ext cx="10364117" cy="4171720"/>
          </a:xfrm>
        </p:spPr>
        <p:txBody>
          <a:bodyPr>
            <a:normAutofit fontScale="70000" lnSpcReduction="20000"/>
          </a:bodyPr>
          <a:lstStyle/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ExamBuilder.uz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o‘qituvchilar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ta’lim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muassasalari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uchun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yaratilgan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zamonaviy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web-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ilova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bo‘lib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u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nazorat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ishlari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imtihon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biletlarini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avtomatik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tarzda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generatsiya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qilish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imkonini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beradi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Dastur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foydalanuvchilarga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savollarni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kiritish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ularni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guruhlarga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ajratish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bilet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uchun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muvozanatli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savollar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to‘plamini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shakllantirish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imkonini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beradi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Ushbu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tizim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orqali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foydalanuvchilar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tayyorlangan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biletlarni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Word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formatida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yuklab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olishlari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ularni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bosma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shaklda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talabalarga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tarqatishlari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mumkin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ExamBuilder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o‘zining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qulay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interfeysi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avtomatlashtirilgan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savol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tanlash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algoritmlari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eksport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funksiyalari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orqali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o‘qituvchilarning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jarayonini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soddalashtiradi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vaqt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tejalishini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ta’minlaydi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hamda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ta’lim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jarayonining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sifatini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oshirishga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xizmat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qiladi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Dastur PHP Yii2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frameworki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asosida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ishlab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chiqilgan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bo‘lib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barqaror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xavfsiz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ishlashni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kafolatlaydi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Ushbu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platforma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kelajakda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yanada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kengaytirilishi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statistika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analitika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mobil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versiyalar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bilan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boyitilishi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mumkin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ExamBuilder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raqamli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ta’limda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samaradorlik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sari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qadam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Z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176884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5C20A4-7F75-8C56-4039-46922E75C8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68761"/>
            <a:ext cx="10972800" cy="582613"/>
          </a:xfrm>
        </p:spPr>
        <p:txBody>
          <a:bodyPr/>
          <a:lstStyle/>
          <a:p>
            <a:r>
              <a:rPr lang="en-UZ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Foydalangan adabiyotlar va saytlar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C15EAA-2597-859D-79B2-887C8EE180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hlinkClick r:id="" action="ppaction://noaction"/>
              </a:rPr>
              <a:t>https://uz.wikipedia.org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hlinkClick r:id="" action="ppaction://noaction"/>
              </a:rPr>
              <a:t>https://www.php.net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https://www.w3schools.com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https://exambuilder.uz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PHP Programming Cookbook</a:t>
            </a:r>
          </a:p>
        </p:txBody>
      </p:sp>
    </p:spTree>
    <p:extLst>
      <p:ext uri="{BB962C8B-B14F-4D97-AF65-F5344CB8AC3E}">
        <p14:creationId xmlns:p14="http://schemas.microsoft.com/office/powerpoint/2010/main" val="206987965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323850" y="2845405"/>
            <a:ext cx="753981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E’TIBORINGIZ UCHUN RAHMAT!</a:t>
            </a:r>
            <a:endParaRPr lang="en-US" altLang="ms-MY" sz="3200" b="1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02222165"/>
      </p:ext>
    </p:extLst>
  </p:cSld>
  <p:clrMapOvr>
    <a:masterClrMapping/>
  </p:clrMapOvr>
</p:sld>
</file>

<file path=ppt/theme/theme1.xml><?xml version="1.0" encoding="utf-8"?>
<a:theme xmlns:a="http://schemas.openxmlformats.org/drawingml/2006/main" name="Blue Waves">
  <a:themeElements>
    <a:clrScheme name="Blue Waves 13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66CC"/>
      </a:accent1>
      <a:accent2>
        <a:srgbClr val="3399FF"/>
      </a:accent2>
      <a:accent3>
        <a:srgbClr val="FFFFFF"/>
      </a:accent3>
      <a:accent4>
        <a:srgbClr val="000000"/>
      </a:accent4>
      <a:accent5>
        <a:srgbClr val="AAB8E2"/>
      </a:accent5>
      <a:accent6>
        <a:srgbClr val="2D8AE7"/>
      </a:accent6>
      <a:hlink>
        <a:srgbClr val="CC3300"/>
      </a:hlink>
      <a:folHlink>
        <a:srgbClr val="996600"/>
      </a:folHlink>
    </a:clrScheme>
    <a:fontScheme name="Blue Waves">
      <a:majorFont>
        <a:latin typeface="Arial"/>
        <a:ea typeface="SimSun"/>
        <a:cs typeface=""/>
      </a:majorFont>
      <a:minorFont>
        <a:latin typeface="Arial"/>
        <a:ea typeface="SimSun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lnDef>
  </a:objectDefaults>
  <a:extraClrSchemeLst>
    <a:extraClrScheme>
      <a:clrScheme name="Blue Waves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 Waves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 Waves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 Waves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 Waves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 Waves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 Waves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 Waves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 Waves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 Waves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 Waves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 Waves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 Waves 13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66CC"/>
        </a:accent1>
        <a:accent2>
          <a:srgbClr val="3399FF"/>
        </a:accent2>
        <a:accent3>
          <a:srgbClr val="FFFFFF"/>
        </a:accent3>
        <a:accent4>
          <a:srgbClr val="000000"/>
        </a:accent4>
        <a:accent5>
          <a:srgbClr val="AAB8E2"/>
        </a:accent5>
        <a:accent6>
          <a:srgbClr val="2D8AE7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TM04033919[[fn=Контур]]</Template>
  <TotalTime>33</TotalTime>
  <Words>2023</Words>
  <Application>Microsoft Macintosh PowerPoint</Application>
  <PresentationFormat>Widescreen</PresentationFormat>
  <Paragraphs>134</Paragraphs>
  <Slides>27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2" baseType="lpstr">
      <vt:lpstr>Arial</vt:lpstr>
      <vt:lpstr>Montserrat</vt:lpstr>
      <vt:lpstr>Times New Roman</vt:lpstr>
      <vt:lpstr>Wingdings</vt:lpstr>
      <vt:lpstr>Blue Waves</vt:lpstr>
      <vt:lpstr>O‘ZBEKISTON RESPUBLIKASI RAQAMLI  TEXNALOGIYALRI VAZIRLIGI MUHAMMAD AL-XORAZIMIY NOMIDAGI TOSHKENT AXBOROT TEXNOLOGIYALARI UNIVERSITETI “ATDT” KAFEDRASI</vt:lpstr>
      <vt:lpstr>PowerPoint Presentation</vt:lpstr>
      <vt:lpstr>PowerPoint Presentation</vt:lpstr>
      <vt:lpstr>PowerPoint Presentation</vt:lpstr>
      <vt:lpstr>Loyiha ishining rivojlanish bosqichlari</vt:lpstr>
      <vt:lpstr>Loyiha ishining rivojlanish bosqichlari</vt:lpstr>
      <vt:lpstr>Nima uchun PHP va Yii2 tanlandi?</vt:lpstr>
      <vt:lpstr>Nima uchun PHP va Yii2 tanlandi?</vt:lpstr>
      <vt:lpstr>Yii2 frameworki orqali yozilgan mashhur ilovalar</vt:lpstr>
      <vt:lpstr>Nazorat biletlarini avtomatik generatsiya qilish tizimini  ishlab chiqish</vt:lpstr>
      <vt:lpstr>Login va Registratsiya oynasi</vt:lpstr>
      <vt:lpstr>Dasturning asosiy menulari</vt:lpstr>
      <vt:lpstr>Subjects</vt:lpstr>
      <vt:lpstr>Data types</vt:lpstr>
      <vt:lpstr>Data</vt:lpstr>
      <vt:lpstr>PowerPoint Presentation</vt:lpstr>
      <vt:lpstr>PowerPoint Presentation</vt:lpstr>
      <vt:lpstr>PowerPoint Presentation</vt:lpstr>
      <vt:lpstr>Test bo’limi</vt:lpstr>
      <vt:lpstr>Qiyinchilik darajalari va savollar</vt:lpstr>
      <vt:lpstr>Testlar bo’limi</vt:lpstr>
      <vt:lpstr>Test ishlash jarayoni</vt:lpstr>
      <vt:lpstr>Test natijasi</vt:lpstr>
      <vt:lpstr>PowerPoint Presentation</vt:lpstr>
      <vt:lpstr>Xulosa</vt:lpstr>
      <vt:lpstr>Foydalangan adabiyotlar va saytlar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O‘ZBEKISTON RESPUBLIKASI RAQAMLI  TEXNALOGIYALRI VAZIRLIGI MUHAMMAD AL-XORAZIMIY NOMIDAGI TOSHKENT AXBOROT TEXNOLOGIYALARI UNIVERSITETI “ATDT” KAFEDRASI</dc:title>
  <dc:creator>Zafarjon Toshtemirov</dc:creator>
  <cp:lastModifiedBy>MacBook Pro</cp:lastModifiedBy>
  <cp:revision>9</cp:revision>
  <dcterms:created xsi:type="dcterms:W3CDTF">2023-06-01T07:29:00Z</dcterms:created>
  <dcterms:modified xsi:type="dcterms:W3CDTF">2025-10-08T05:19:30Z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F54855F14F7F481E902D815ECA343B3E_13</vt:lpwstr>
  </property>
  <property fmtid="{D5CDD505-2E9C-101B-9397-08002B2CF9AE}" pid="3" name="KSOProductBuildVer">
    <vt:lpwstr>1033-12.2.0.13472</vt:lpwstr>
  </property>
</Properties>
</file>